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Lst>
  <p:notesMasterIdLst>
    <p:notesMasterId r:id="rId8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notesMaster" Target="notesMasters/notesMaster1.xml"/><Relationship Id="rId82" Type="http://schemas.openxmlformats.org/officeDocument/2006/relationships/presProps" Target="presProps.xml"/><Relationship Id="rId83" Type="http://schemas.openxmlformats.org/officeDocument/2006/relationships/viewProps" Target="viewProps.xml"/><Relationship Id="rId84" Type="http://schemas.openxmlformats.org/officeDocument/2006/relationships/theme" Target="theme/theme1.xml"/><Relationship Id="rId8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Day-one deck. Runs alongside The Mo's Book in the app. Placeholder slides are the shot list — we fill them as the material comes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9201C"/>
        </a:solidFill>
      </p:bgPr>
    </p:bg>
    <p:spTree>
      <p:nvGrpSpPr>
        <p:cNvPr id="1" name=""/>
        <p:cNvGrpSpPr/>
        <p:nvPr/>
      </p:nvGrpSpPr>
      <p:grpSpPr>
        <a:xfrm>
          <a:off x="0" y="0"/>
          <a:ext cx="0" cy="0"/>
          <a:chOff x="0" y="0"/>
          <a:chExt cx="0" cy="0"/>
        </a:xfrm>
      </p:grpSpPr>
      <p:sp>
        <p:nvSpPr>
          <p:cNvPr id="2" name="Text 0"/>
          <p:cNvSpPr/>
          <p:nvPr/>
        </p:nvSpPr>
        <p:spPr>
          <a:xfrm>
            <a:off x="566928" y="1572768"/>
            <a:ext cx="11057839" cy="822960"/>
          </a:xfrm>
          <a:prstGeom prst="rect">
            <a:avLst/>
          </a:prstGeom>
          <a:noFill/>
          <a:ln/>
        </p:spPr>
        <p:txBody>
          <a:bodyPr wrap="square" lIns="0" tIns="0" rIns="0" bIns="0" rtlCol="0" anchor="ctr"/>
          <a:lstStyle/>
          <a:p>
            <a:pPr indent="0" marL="0">
              <a:buNone/>
            </a:pPr>
            <a:r>
              <a:rPr lang="en-US" sz="4600" dirty="0">
                <a:solidFill>
                  <a:srgbClr val="E8D6C8"/>
                </a:solidFill>
                <a:latin typeface="Cambria" pitchFamily="34" charset="0"/>
                <a:ea typeface="Cambria" pitchFamily="34" charset="-122"/>
                <a:cs typeface="Cambria" pitchFamily="34" charset="-120"/>
              </a:rPr>
              <a:t>The Mo's</a:t>
            </a:r>
            <a:endParaRPr lang="en-US" sz="4600" dirty="0"/>
          </a:p>
        </p:txBody>
      </p:sp>
      <p:sp>
        <p:nvSpPr>
          <p:cNvPr id="3" name="Text 1"/>
          <p:cNvSpPr/>
          <p:nvPr/>
        </p:nvSpPr>
        <p:spPr>
          <a:xfrm>
            <a:off x="566928" y="2286000"/>
            <a:ext cx="11057839" cy="1005840"/>
          </a:xfrm>
          <a:prstGeom prst="rect">
            <a:avLst/>
          </a:prstGeom>
          <a:noFill/>
          <a:ln/>
        </p:spPr>
        <p:txBody>
          <a:bodyPr wrap="square" lIns="0" tIns="0" rIns="0" bIns="0" rtlCol="0" anchor="ctr"/>
          <a:lstStyle/>
          <a:p>
            <a:pPr indent="0" marL="0">
              <a:buNone/>
            </a:pPr>
            <a:r>
              <a:rPr lang="en-US" sz="6200" b="1" dirty="0">
                <a:solidFill>
                  <a:srgbClr val="F7EFE4"/>
                </a:solidFill>
                <a:latin typeface="Cambria" pitchFamily="34" charset="0"/>
                <a:ea typeface="Cambria" pitchFamily="34" charset="-122"/>
                <a:cs typeface="Cambria" pitchFamily="34" charset="-120"/>
              </a:rPr>
              <a:t>Training Regiment</a:t>
            </a:r>
            <a:endParaRPr lang="en-US" sz="6200" dirty="0"/>
          </a:p>
        </p:txBody>
      </p:sp>
      <p:sp>
        <p:nvSpPr>
          <p:cNvPr id="4" name="Text 2"/>
          <p:cNvSpPr/>
          <p:nvPr/>
        </p:nvSpPr>
        <p:spPr>
          <a:xfrm>
            <a:off x="566928" y="3346704"/>
            <a:ext cx="11057839" cy="384048"/>
          </a:xfrm>
          <a:prstGeom prst="rect">
            <a:avLst/>
          </a:prstGeom>
          <a:noFill/>
          <a:ln/>
        </p:spPr>
        <p:txBody>
          <a:bodyPr wrap="square" lIns="0" tIns="0" rIns="0" bIns="0" rtlCol="0" anchor="ctr"/>
          <a:lstStyle/>
          <a:p>
            <a:pPr indent="0" marL="0">
              <a:buNone/>
            </a:pPr>
            <a:r>
              <a:rPr lang="en-US" sz="1800" dirty="0">
                <a:solidFill>
                  <a:srgbClr val="E8D6C8"/>
                </a:solidFill>
                <a:latin typeface="Calibri" pitchFamily="34" charset="0"/>
                <a:ea typeface="Calibri" pitchFamily="34" charset="-122"/>
                <a:cs typeface="Calibri" pitchFamily="34" charset="-120"/>
              </a:rPr>
              <a:t>Ten days, in the order we teach them.</a:t>
            </a:r>
            <a:endParaRPr lang="en-US" sz="1800" dirty="0"/>
          </a:p>
        </p:txBody>
      </p:sp>
      <p:sp>
        <p:nvSpPr>
          <p:cNvPr id="5" name="Shape 3"/>
          <p:cNvSpPr/>
          <p:nvPr/>
        </p:nvSpPr>
        <p:spPr>
          <a:xfrm>
            <a:off x="566928" y="3950208"/>
            <a:ext cx="1920240" cy="32004"/>
          </a:xfrm>
          <a:prstGeom prst="rect">
            <a:avLst/>
          </a:prstGeom>
          <a:solidFill>
            <a:srgbClr val="B0812F"/>
          </a:solidFill>
          <a:ln w="12700">
            <a:solidFill>
              <a:srgbClr val="333333"/>
            </a:solidFill>
            <a:prstDash val="solid"/>
          </a:ln>
        </p:spPr>
      </p:sp>
      <p:sp>
        <p:nvSpPr>
          <p:cNvPr id="6" name="Text 4"/>
          <p:cNvSpPr/>
          <p:nvPr/>
        </p:nvSpPr>
        <p:spPr>
          <a:xfrm>
            <a:off x="566928" y="4224528"/>
            <a:ext cx="11057839" cy="310896"/>
          </a:xfrm>
          <a:prstGeom prst="rect">
            <a:avLst/>
          </a:prstGeom>
          <a:noFill/>
          <a:ln/>
        </p:spPr>
        <p:txBody>
          <a:bodyPr wrap="square" lIns="0" tIns="0" rIns="0" bIns="0" rtlCol="0" anchor="ctr"/>
          <a:lstStyle/>
          <a:p>
            <a:pPr indent="0" marL="0">
              <a:buNone/>
            </a:pPr>
            <a:r>
              <a:rPr lang="en-US" sz="1250" dirty="0">
                <a:solidFill>
                  <a:srgbClr val="C9A99A"/>
                </a:solidFill>
                <a:latin typeface="Calibri" pitchFamily="34" charset="0"/>
                <a:ea typeface="Calibri" pitchFamily="34" charset="-122"/>
                <a:cs typeface="Calibri" pitchFamily="34" charset="-120"/>
              </a:rPr>
              <a:t>Mo's A Place For Steaks  ·  Greenwood, Indiana  ·  Est. 1999</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How to use this</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Read it in order. The order is the lesson.</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Mo's A Place For Steaks</a:t>
            </a:r>
            <a:endParaRPr lang="en-US" sz="950" dirty="0"/>
          </a:p>
        </p:txBody>
      </p:sp>
      <p:sp>
        <p:nvSpPr>
          <p:cNvPr id="5" name="Shape 3"/>
          <p:cNvSpPr/>
          <p:nvPr/>
        </p:nvSpPr>
        <p:spPr>
          <a:xfrm>
            <a:off x="566928" y="1572768"/>
            <a:ext cx="3551834" cy="2286000"/>
          </a:xfrm>
          <a:prstGeom prst="roundRect">
            <a:avLst>
              <a:gd name="adj" fmla="val 2400"/>
            </a:avLst>
          </a:prstGeom>
          <a:solidFill>
            <a:srgbClr val="F2E9D8"/>
          </a:solidFill>
          <a:ln w="12700">
            <a:solidFill>
              <a:srgbClr val="E4D8C0"/>
            </a:solidFill>
            <a:prstDash val="solid"/>
          </a:ln>
        </p:spPr>
      </p:sp>
      <p:sp>
        <p:nvSpPr>
          <p:cNvPr id="6" name="Text 4"/>
          <p:cNvSpPr/>
          <p:nvPr/>
        </p:nvSpPr>
        <p:spPr>
          <a:xfrm>
            <a:off x="749808" y="1719072"/>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Ten days</a:t>
            </a:r>
            <a:endParaRPr lang="en-US" sz="1450" dirty="0"/>
          </a:p>
        </p:txBody>
      </p:sp>
      <p:sp>
        <p:nvSpPr>
          <p:cNvPr id="7" name="Text 5"/>
          <p:cNvSpPr/>
          <p:nvPr/>
        </p:nvSpPr>
        <p:spPr>
          <a:xfrm>
            <a:off x="749808"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the original plan</a:t>
            </a:r>
            <a:endParaRPr lang="en-US" sz="1100" dirty="0"/>
          </a:p>
        </p:txBody>
      </p:sp>
      <p:sp>
        <p:nvSpPr>
          <p:cNvPr id="8" name="Text 6"/>
          <p:cNvSpPr/>
          <p:nvPr/>
        </p:nvSpPr>
        <p:spPr>
          <a:xfrm>
            <a:off x="749808" y="2286000"/>
            <a:ext cx="3186074" cy="142646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This follows the Mo's Training Itinerary that opened the restaurant — same days, same order, because that order was right. About eighteen hours of material when it ran live.</a:t>
            </a:r>
            <a:endParaRPr lang="en-US" sz="1100" dirty="0"/>
          </a:p>
        </p:txBody>
      </p:sp>
      <p:sp>
        <p:nvSpPr>
          <p:cNvPr id="9" name="Shape 7"/>
          <p:cNvSpPr/>
          <p:nvPr/>
        </p:nvSpPr>
        <p:spPr>
          <a:xfrm>
            <a:off x="4319930" y="1572768"/>
            <a:ext cx="3551834" cy="2286000"/>
          </a:xfrm>
          <a:prstGeom prst="roundRect">
            <a:avLst>
              <a:gd name="adj" fmla="val 2400"/>
            </a:avLst>
          </a:prstGeom>
          <a:solidFill>
            <a:srgbClr val="F2E9D8"/>
          </a:solidFill>
          <a:ln w="12700">
            <a:solidFill>
              <a:srgbClr val="E4D8C0"/>
            </a:solidFill>
            <a:prstDash val="solid"/>
          </a:ln>
        </p:spPr>
      </p:sp>
      <p:sp>
        <p:nvSpPr>
          <p:cNvPr id="10" name="Text 8"/>
          <p:cNvSpPr/>
          <p:nvPr/>
        </p:nvSpPr>
        <p:spPr>
          <a:xfrm>
            <a:off x="4502810" y="1719072"/>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The book is the long version</a:t>
            </a:r>
            <a:endParaRPr lang="en-US" sz="1450" dirty="0"/>
          </a:p>
        </p:txBody>
      </p:sp>
      <p:sp>
        <p:nvSpPr>
          <p:cNvPr id="11" name="Text 9"/>
          <p:cNvSpPr/>
          <p:nvPr/>
        </p:nvSpPr>
        <p:spPr>
          <a:xfrm>
            <a:off x="4502810"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the app is the live one</a:t>
            </a:r>
            <a:endParaRPr lang="en-US" sz="1100" dirty="0"/>
          </a:p>
        </p:txBody>
      </p:sp>
      <p:sp>
        <p:nvSpPr>
          <p:cNvPr id="12" name="Text 10"/>
          <p:cNvSpPr/>
          <p:nvPr/>
        </p:nvSpPr>
        <p:spPr>
          <a:xfrm>
            <a:off x="4502810" y="2286000"/>
            <a:ext cx="3186074" cy="142646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Every day here has a full chapter in The Mo's Book. Prices, specials and schedules move — the app keeps up. The deck teaches you how to think.</a:t>
            </a:r>
            <a:endParaRPr lang="en-US" sz="1100" dirty="0"/>
          </a:p>
        </p:txBody>
      </p:sp>
      <p:sp>
        <p:nvSpPr>
          <p:cNvPr id="13" name="Shape 11"/>
          <p:cNvSpPr/>
          <p:nvPr/>
        </p:nvSpPr>
        <p:spPr>
          <a:xfrm>
            <a:off x="8072933" y="1572768"/>
            <a:ext cx="3551834" cy="2286000"/>
          </a:xfrm>
          <a:prstGeom prst="roundRect">
            <a:avLst>
              <a:gd name="adj" fmla="val 2400"/>
            </a:avLst>
          </a:prstGeom>
          <a:solidFill>
            <a:srgbClr val="F2E9D8"/>
          </a:solidFill>
          <a:ln w="12700">
            <a:solidFill>
              <a:srgbClr val="E4D8C0"/>
            </a:solidFill>
            <a:prstDash val="solid"/>
          </a:ln>
        </p:spPr>
      </p:sp>
      <p:sp>
        <p:nvSpPr>
          <p:cNvPr id="14" name="Text 12"/>
          <p:cNvSpPr/>
          <p:nvPr/>
        </p:nvSpPr>
        <p:spPr>
          <a:xfrm>
            <a:off x="8255813" y="1719072"/>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Blank slides are the plan</a:t>
            </a:r>
            <a:endParaRPr lang="en-US" sz="1450" dirty="0"/>
          </a:p>
        </p:txBody>
      </p:sp>
      <p:sp>
        <p:nvSpPr>
          <p:cNvPr id="15" name="Text 13"/>
          <p:cNvSpPr/>
          <p:nvPr/>
        </p:nvSpPr>
        <p:spPr>
          <a:xfrm>
            <a:off x="8255813"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not a gap</a:t>
            </a:r>
            <a:endParaRPr lang="en-US" sz="1100" dirty="0"/>
          </a:p>
        </p:txBody>
      </p:sp>
      <p:sp>
        <p:nvSpPr>
          <p:cNvPr id="16" name="Text 14"/>
          <p:cNvSpPr/>
          <p:nvPr/>
        </p:nvSpPr>
        <p:spPr>
          <a:xfrm>
            <a:off x="8255813" y="2286000"/>
            <a:ext cx="3186074" cy="142646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Where a photo or a handout is missing you will find a slide asking for it by name. Those get filled in. Nothing here pretends to be finished when it is not.</a:t>
            </a:r>
            <a:endParaRPr lang="en-US" sz="1100" dirty="0"/>
          </a:p>
        </p:txBody>
      </p:sp>
      <p:sp>
        <p:nvSpPr>
          <p:cNvPr id="17" name="Shape 15"/>
          <p:cNvSpPr/>
          <p:nvPr/>
        </p:nvSpPr>
        <p:spPr>
          <a:xfrm>
            <a:off x="566928" y="4133088"/>
            <a:ext cx="11057839" cy="749808"/>
          </a:xfrm>
          <a:prstGeom prst="roundRect">
            <a:avLst>
              <a:gd name="adj" fmla="val 7317"/>
            </a:avLst>
          </a:prstGeom>
          <a:solidFill>
            <a:srgbClr val="F3E7E4"/>
          </a:solidFill>
          <a:ln w="12700">
            <a:solidFill>
              <a:srgbClr val="E2CCC7"/>
            </a:solidFill>
            <a:prstDash val="solid"/>
          </a:ln>
        </p:spPr>
      </p:sp>
      <p:sp>
        <p:nvSpPr>
          <p:cNvPr id="18" name="Text 16"/>
          <p:cNvSpPr/>
          <p:nvPr/>
        </p:nvSpPr>
        <p:spPr>
          <a:xfrm>
            <a:off x="768096" y="4206240"/>
            <a:ext cx="10655503" cy="603504"/>
          </a:xfrm>
          <a:prstGeom prst="rect">
            <a:avLst/>
          </a:prstGeom>
          <a:noFill/>
          <a:ln/>
        </p:spPr>
        <p:txBody>
          <a:bodyPr wrap="square" lIns="0" tIns="0" rIns="0" bIns="0" rtlCol="0" anchor="ctr"/>
          <a:lstStyle/>
          <a:p>
            <a:pPr indent="0" marL="0">
              <a:lnSpc>
                <a:spcPts val="1600"/>
              </a:lnSpc>
              <a:buNone/>
            </a:pPr>
            <a:r>
              <a:rPr lang="en-US" sz="1250" b="1" dirty="0">
                <a:solidFill>
                  <a:srgbClr val="59201C"/>
                </a:solidFill>
                <a:latin typeface="Calibri" pitchFamily="34" charset="0"/>
                <a:ea typeface="Calibri" pitchFamily="34" charset="-122"/>
                <a:cs typeface="Calibri" pitchFamily="34" charset="-120"/>
              </a:rPr>
              <a:t>One idea runs the building:  </a:t>
            </a:r>
            <a:pPr indent="0" marL="0">
              <a:lnSpc>
                <a:spcPts val="1600"/>
              </a:lnSpc>
              <a:buNone/>
            </a:pPr>
            <a:r>
              <a:rPr lang="en-US" sz="1250" dirty="0">
                <a:solidFill>
                  <a:srgbClr val="2B2118"/>
                </a:solidFill>
                <a:latin typeface="Calibri" pitchFamily="34" charset="0"/>
                <a:ea typeface="Calibri" pitchFamily="34" charset="-122"/>
                <a:cs typeface="Calibri" pitchFamily="34" charset="-120"/>
              </a:rPr>
              <a:t>leave people better than you found them. Every rule in this deck is that idea wearing work clothes.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Contents</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The original itinerary, front to back</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Mo's A Place For Steaks</a:t>
            </a:r>
            <a:endParaRPr lang="en-US" sz="950" dirty="0"/>
          </a:p>
        </p:txBody>
      </p:sp>
      <p:sp>
        <p:nvSpPr>
          <p:cNvPr id="5" name="Shape 3"/>
          <p:cNvSpPr/>
          <p:nvPr/>
        </p:nvSpPr>
        <p:spPr>
          <a:xfrm>
            <a:off x="566928" y="1627632"/>
            <a:ext cx="402336" cy="402336"/>
          </a:xfrm>
          <a:prstGeom prst="ellipse">
            <a:avLst/>
          </a:prstGeom>
          <a:solidFill>
            <a:srgbClr val="59201C"/>
          </a:solidFill>
          <a:ln w="12700">
            <a:solidFill>
              <a:srgbClr val="59201C"/>
            </a:solidFill>
            <a:prstDash val="solid"/>
          </a:ln>
        </p:spPr>
      </p:sp>
      <p:sp>
        <p:nvSpPr>
          <p:cNvPr id="6" name="Text 4"/>
          <p:cNvSpPr/>
          <p:nvPr/>
        </p:nvSpPr>
        <p:spPr>
          <a:xfrm>
            <a:off x="566928" y="1627632"/>
            <a:ext cx="402336" cy="402336"/>
          </a:xfrm>
          <a:prstGeom prst="rect">
            <a:avLst/>
          </a:prstGeom>
          <a:noFill/>
          <a:ln/>
        </p:spPr>
        <p:txBody>
          <a:bodyPr wrap="square" lIns="0" tIns="0" rIns="0" bIns="0" rtlCol="0" anchor="ctr"/>
          <a:lstStyle/>
          <a:p>
            <a:pPr algn="ctr" indent="0" marL="0">
              <a:buNone/>
            </a:pPr>
            <a:r>
              <a:rPr lang="en-US" sz="1400" b="1" dirty="0">
                <a:solidFill>
                  <a:srgbClr val="F7EFE4"/>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115568" y="1627632"/>
            <a:ext cx="4751680" cy="402336"/>
          </a:xfrm>
          <a:prstGeom prst="rect">
            <a:avLst/>
          </a:prstGeom>
          <a:noFill/>
          <a:ln/>
        </p:spPr>
        <p:txBody>
          <a:bodyPr wrap="square" lIns="0" tIns="0" rIns="0" bIns="0" rtlCol="0" anchor="ctr"/>
          <a:lstStyle/>
          <a:p>
            <a:pPr indent="0" marL="0">
              <a:buNone/>
            </a:pPr>
            <a:r>
              <a:rPr lang="en-US" sz="1400" dirty="0">
                <a:solidFill>
                  <a:srgbClr val="2B2118"/>
                </a:solidFill>
                <a:latin typeface="Calibri" pitchFamily="34" charset="0"/>
                <a:ea typeface="Calibri" pitchFamily="34" charset="-122"/>
                <a:cs typeface="Calibri" pitchFamily="34" charset="-120"/>
              </a:rPr>
              <a:t>Day 1 — Orientation</a:t>
            </a:r>
            <a:endParaRPr lang="en-US" sz="1400" dirty="0"/>
          </a:p>
        </p:txBody>
      </p:sp>
      <p:sp>
        <p:nvSpPr>
          <p:cNvPr id="8" name="Shape 6"/>
          <p:cNvSpPr/>
          <p:nvPr/>
        </p:nvSpPr>
        <p:spPr>
          <a:xfrm>
            <a:off x="566928" y="2194560"/>
            <a:ext cx="402336" cy="402336"/>
          </a:xfrm>
          <a:prstGeom prst="ellipse">
            <a:avLst/>
          </a:prstGeom>
          <a:solidFill>
            <a:srgbClr val="59201C"/>
          </a:solidFill>
          <a:ln w="12700">
            <a:solidFill>
              <a:srgbClr val="59201C"/>
            </a:solidFill>
            <a:prstDash val="solid"/>
          </a:ln>
        </p:spPr>
      </p:sp>
      <p:sp>
        <p:nvSpPr>
          <p:cNvPr id="9" name="Text 7"/>
          <p:cNvSpPr/>
          <p:nvPr/>
        </p:nvSpPr>
        <p:spPr>
          <a:xfrm>
            <a:off x="566928" y="2194560"/>
            <a:ext cx="402336" cy="402336"/>
          </a:xfrm>
          <a:prstGeom prst="rect">
            <a:avLst/>
          </a:prstGeom>
          <a:noFill/>
          <a:ln/>
        </p:spPr>
        <p:txBody>
          <a:bodyPr wrap="square" lIns="0" tIns="0" rIns="0" bIns="0" rtlCol="0" anchor="ctr"/>
          <a:lstStyle/>
          <a:p>
            <a:pPr algn="ctr" indent="0" marL="0">
              <a:buNone/>
            </a:pPr>
            <a:r>
              <a:rPr lang="en-US" sz="1400" b="1" dirty="0">
                <a:solidFill>
                  <a:srgbClr val="F7EFE4"/>
                </a:solidFill>
                <a:latin typeface="Cambria" pitchFamily="34" charset="0"/>
                <a:ea typeface="Cambria" pitchFamily="34" charset="-122"/>
                <a:cs typeface="Cambria" pitchFamily="34" charset="-120"/>
              </a:rPr>
              <a:t>2</a:t>
            </a:r>
            <a:endParaRPr lang="en-US" sz="1400" dirty="0"/>
          </a:p>
        </p:txBody>
      </p:sp>
      <p:sp>
        <p:nvSpPr>
          <p:cNvPr id="10" name="Text 8"/>
          <p:cNvSpPr/>
          <p:nvPr/>
        </p:nvSpPr>
        <p:spPr>
          <a:xfrm>
            <a:off x="1115568" y="2194560"/>
            <a:ext cx="4751680" cy="402336"/>
          </a:xfrm>
          <a:prstGeom prst="rect">
            <a:avLst/>
          </a:prstGeom>
          <a:noFill/>
          <a:ln/>
        </p:spPr>
        <p:txBody>
          <a:bodyPr wrap="square" lIns="0" tIns="0" rIns="0" bIns="0" rtlCol="0" anchor="ctr"/>
          <a:lstStyle/>
          <a:p>
            <a:pPr indent="0" marL="0">
              <a:buNone/>
            </a:pPr>
            <a:r>
              <a:rPr lang="en-US" sz="1400" dirty="0">
                <a:solidFill>
                  <a:srgbClr val="2B2118"/>
                </a:solidFill>
                <a:latin typeface="Calibri" pitchFamily="34" charset="0"/>
                <a:ea typeface="Calibri" pitchFamily="34" charset="-122"/>
                <a:cs typeface="Calibri" pitchFamily="34" charset="-120"/>
              </a:rPr>
              <a:t>Day 2 — Appetizers, Salads and Soups</a:t>
            </a:r>
            <a:endParaRPr lang="en-US" sz="1400" dirty="0"/>
          </a:p>
        </p:txBody>
      </p:sp>
      <p:sp>
        <p:nvSpPr>
          <p:cNvPr id="11" name="Shape 9"/>
          <p:cNvSpPr/>
          <p:nvPr/>
        </p:nvSpPr>
        <p:spPr>
          <a:xfrm>
            <a:off x="566928" y="2761488"/>
            <a:ext cx="402336" cy="402336"/>
          </a:xfrm>
          <a:prstGeom prst="ellipse">
            <a:avLst/>
          </a:prstGeom>
          <a:solidFill>
            <a:srgbClr val="59201C"/>
          </a:solidFill>
          <a:ln w="12700">
            <a:solidFill>
              <a:srgbClr val="59201C"/>
            </a:solidFill>
            <a:prstDash val="solid"/>
          </a:ln>
        </p:spPr>
      </p:sp>
      <p:sp>
        <p:nvSpPr>
          <p:cNvPr id="12" name="Text 10"/>
          <p:cNvSpPr/>
          <p:nvPr/>
        </p:nvSpPr>
        <p:spPr>
          <a:xfrm>
            <a:off x="566928" y="2761488"/>
            <a:ext cx="402336" cy="402336"/>
          </a:xfrm>
          <a:prstGeom prst="rect">
            <a:avLst/>
          </a:prstGeom>
          <a:noFill/>
          <a:ln/>
        </p:spPr>
        <p:txBody>
          <a:bodyPr wrap="square" lIns="0" tIns="0" rIns="0" bIns="0" rtlCol="0" anchor="ctr"/>
          <a:lstStyle/>
          <a:p>
            <a:pPr algn="ctr" indent="0" marL="0">
              <a:buNone/>
            </a:pPr>
            <a:r>
              <a:rPr lang="en-US" sz="1400" b="1" dirty="0">
                <a:solidFill>
                  <a:srgbClr val="F7EFE4"/>
                </a:solidFill>
                <a:latin typeface="Cambria" pitchFamily="34" charset="0"/>
                <a:ea typeface="Cambria" pitchFamily="34" charset="-122"/>
                <a:cs typeface="Cambria" pitchFamily="34" charset="-120"/>
              </a:rPr>
              <a:t>3</a:t>
            </a:r>
            <a:endParaRPr lang="en-US" sz="1400" dirty="0"/>
          </a:p>
        </p:txBody>
      </p:sp>
      <p:sp>
        <p:nvSpPr>
          <p:cNvPr id="13" name="Text 11"/>
          <p:cNvSpPr/>
          <p:nvPr/>
        </p:nvSpPr>
        <p:spPr>
          <a:xfrm>
            <a:off x="1115568" y="2761488"/>
            <a:ext cx="4751680" cy="402336"/>
          </a:xfrm>
          <a:prstGeom prst="rect">
            <a:avLst/>
          </a:prstGeom>
          <a:noFill/>
          <a:ln/>
        </p:spPr>
        <p:txBody>
          <a:bodyPr wrap="square" lIns="0" tIns="0" rIns="0" bIns="0" rtlCol="0" anchor="ctr"/>
          <a:lstStyle/>
          <a:p>
            <a:pPr indent="0" marL="0">
              <a:buNone/>
            </a:pPr>
            <a:r>
              <a:rPr lang="en-US" sz="1400" dirty="0">
                <a:solidFill>
                  <a:srgbClr val="2B2118"/>
                </a:solidFill>
                <a:latin typeface="Calibri" pitchFamily="34" charset="0"/>
                <a:ea typeface="Calibri" pitchFamily="34" charset="-122"/>
                <a:cs typeface="Calibri" pitchFamily="34" charset="-120"/>
              </a:rPr>
              <a:t>Day 3 — Surf and Turf and the Prime Cuts</a:t>
            </a:r>
            <a:endParaRPr lang="en-US" sz="1400" dirty="0"/>
          </a:p>
        </p:txBody>
      </p:sp>
      <p:sp>
        <p:nvSpPr>
          <p:cNvPr id="14" name="Shape 12"/>
          <p:cNvSpPr/>
          <p:nvPr/>
        </p:nvSpPr>
        <p:spPr>
          <a:xfrm>
            <a:off x="566928" y="3328416"/>
            <a:ext cx="402336" cy="402336"/>
          </a:xfrm>
          <a:prstGeom prst="ellipse">
            <a:avLst/>
          </a:prstGeom>
          <a:solidFill>
            <a:srgbClr val="59201C"/>
          </a:solidFill>
          <a:ln w="12700">
            <a:solidFill>
              <a:srgbClr val="59201C"/>
            </a:solidFill>
            <a:prstDash val="solid"/>
          </a:ln>
        </p:spPr>
      </p:sp>
      <p:sp>
        <p:nvSpPr>
          <p:cNvPr id="15" name="Text 13"/>
          <p:cNvSpPr/>
          <p:nvPr/>
        </p:nvSpPr>
        <p:spPr>
          <a:xfrm>
            <a:off x="566928" y="3328416"/>
            <a:ext cx="402336" cy="402336"/>
          </a:xfrm>
          <a:prstGeom prst="rect">
            <a:avLst/>
          </a:prstGeom>
          <a:noFill/>
          <a:ln/>
        </p:spPr>
        <p:txBody>
          <a:bodyPr wrap="square" lIns="0" tIns="0" rIns="0" bIns="0" rtlCol="0" anchor="ctr"/>
          <a:lstStyle/>
          <a:p>
            <a:pPr algn="ctr" indent="0" marL="0">
              <a:buNone/>
            </a:pPr>
            <a:r>
              <a:rPr lang="en-US" sz="1400" b="1" dirty="0">
                <a:solidFill>
                  <a:srgbClr val="F7EFE4"/>
                </a:solidFill>
                <a:latin typeface="Cambria" pitchFamily="34" charset="0"/>
                <a:ea typeface="Cambria" pitchFamily="34" charset="-122"/>
                <a:cs typeface="Cambria" pitchFamily="34" charset="-120"/>
              </a:rPr>
              <a:t>4</a:t>
            </a:r>
            <a:endParaRPr lang="en-US" sz="1400" dirty="0"/>
          </a:p>
        </p:txBody>
      </p:sp>
      <p:sp>
        <p:nvSpPr>
          <p:cNvPr id="16" name="Text 14"/>
          <p:cNvSpPr/>
          <p:nvPr/>
        </p:nvSpPr>
        <p:spPr>
          <a:xfrm>
            <a:off x="1115568" y="3328416"/>
            <a:ext cx="4751680" cy="402336"/>
          </a:xfrm>
          <a:prstGeom prst="rect">
            <a:avLst/>
          </a:prstGeom>
          <a:noFill/>
          <a:ln/>
        </p:spPr>
        <p:txBody>
          <a:bodyPr wrap="square" lIns="0" tIns="0" rIns="0" bIns="0" rtlCol="0" anchor="ctr"/>
          <a:lstStyle/>
          <a:p>
            <a:pPr indent="0" marL="0">
              <a:buNone/>
            </a:pPr>
            <a:r>
              <a:rPr lang="en-US" sz="1400" dirty="0">
                <a:solidFill>
                  <a:srgbClr val="2B2118"/>
                </a:solidFill>
                <a:latin typeface="Calibri" pitchFamily="34" charset="0"/>
                <a:ea typeface="Calibri" pitchFamily="34" charset="-122"/>
                <a:cs typeface="Calibri" pitchFamily="34" charset="-120"/>
              </a:rPr>
              <a:t>Day 4 — Alternatives, Accessories and Desserts</a:t>
            </a:r>
            <a:endParaRPr lang="en-US" sz="1400" dirty="0"/>
          </a:p>
        </p:txBody>
      </p:sp>
      <p:sp>
        <p:nvSpPr>
          <p:cNvPr id="17" name="Shape 15"/>
          <p:cNvSpPr/>
          <p:nvPr/>
        </p:nvSpPr>
        <p:spPr>
          <a:xfrm>
            <a:off x="566928" y="3895344"/>
            <a:ext cx="402336" cy="402336"/>
          </a:xfrm>
          <a:prstGeom prst="ellipse">
            <a:avLst/>
          </a:prstGeom>
          <a:solidFill>
            <a:srgbClr val="59201C"/>
          </a:solidFill>
          <a:ln w="12700">
            <a:solidFill>
              <a:srgbClr val="59201C"/>
            </a:solidFill>
            <a:prstDash val="solid"/>
          </a:ln>
        </p:spPr>
      </p:sp>
      <p:sp>
        <p:nvSpPr>
          <p:cNvPr id="18" name="Text 16"/>
          <p:cNvSpPr/>
          <p:nvPr/>
        </p:nvSpPr>
        <p:spPr>
          <a:xfrm>
            <a:off x="566928" y="3895344"/>
            <a:ext cx="402336" cy="402336"/>
          </a:xfrm>
          <a:prstGeom prst="rect">
            <a:avLst/>
          </a:prstGeom>
          <a:noFill/>
          <a:ln/>
        </p:spPr>
        <p:txBody>
          <a:bodyPr wrap="square" lIns="0" tIns="0" rIns="0" bIns="0" rtlCol="0" anchor="ctr"/>
          <a:lstStyle/>
          <a:p>
            <a:pPr algn="ctr" indent="0" marL="0">
              <a:buNone/>
            </a:pPr>
            <a:r>
              <a:rPr lang="en-US" sz="1400" b="1" dirty="0">
                <a:solidFill>
                  <a:srgbClr val="F7EFE4"/>
                </a:solidFill>
                <a:latin typeface="Cambria" pitchFamily="34" charset="0"/>
                <a:ea typeface="Cambria" pitchFamily="34" charset="-122"/>
                <a:cs typeface="Cambria" pitchFamily="34" charset="-120"/>
              </a:rPr>
              <a:t>5</a:t>
            </a:r>
            <a:endParaRPr lang="en-US" sz="1400" dirty="0"/>
          </a:p>
        </p:txBody>
      </p:sp>
      <p:sp>
        <p:nvSpPr>
          <p:cNvPr id="19" name="Text 17"/>
          <p:cNvSpPr/>
          <p:nvPr/>
        </p:nvSpPr>
        <p:spPr>
          <a:xfrm>
            <a:off x="1115568" y="3895344"/>
            <a:ext cx="4751680" cy="402336"/>
          </a:xfrm>
          <a:prstGeom prst="rect">
            <a:avLst/>
          </a:prstGeom>
          <a:noFill/>
          <a:ln/>
        </p:spPr>
        <p:txBody>
          <a:bodyPr wrap="square" lIns="0" tIns="0" rIns="0" bIns="0" rtlCol="0" anchor="ctr"/>
          <a:lstStyle/>
          <a:p>
            <a:pPr indent="0" marL="0">
              <a:buNone/>
            </a:pPr>
            <a:r>
              <a:rPr lang="en-US" sz="1400" dirty="0">
                <a:solidFill>
                  <a:srgbClr val="2B2118"/>
                </a:solidFill>
                <a:latin typeface="Calibri" pitchFamily="34" charset="0"/>
                <a:ea typeface="Calibri" pitchFamily="34" charset="-122"/>
                <a:cs typeface="Calibri" pitchFamily="34" charset="-120"/>
              </a:rPr>
              <a:t>Day 5 — The Menu Test and the Points of Passion Test</a:t>
            </a:r>
            <a:endParaRPr lang="en-US" sz="1400" dirty="0"/>
          </a:p>
        </p:txBody>
      </p:sp>
      <p:sp>
        <p:nvSpPr>
          <p:cNvPr id="20" name="Shape 18"/>
          <p:cNvSpPr/>
          <p:nvPr/>
        </p:nvSpPr>
        <p:spPr>
          <a:xfrm>
            <a:off x="6324448" y="1627632"/>
            <a:ext cx="402336" cy="402336"/>
          </a:xfrm>
          <a:prstGeom prst="ellipse">
            <a:avLst/>
          </a:prstGeom>
          <a:solidFill>
            <a:srgbClr val="59201C"/>
          </a:solidFill>
          <a:ln w="12700">
            <a:solidFill>
              <a:srgbClr val="59201C"/>
            </a:solidFill>
            <a:prstDash val="solid"/>
          </a:ln>
        </p:spPr>
      </p:sp>
      <p:sp>
        <p:nvSpPr>
          <p:cNvPr id="21" name="Text 19"/>
          <p:cNvSpPr/>
          <p:nvPr/>
        </p:nvSpPr>
        <p:spPr>
          <a:xfrm>
            <a:off x="6324448" y="1627632"/>
            <a:ext cx="402336" cy="402336"/>
          </a:xfrm>
          <a:prstGeom prst="rect">
            <a:avLst/>
          </a:prstGeom>
          <a:noFill/>
          <a:ln/>
        </p:spPr>
        <p:txBody>
          <a:bodyPr wrap="square" lIns="0" tIns="0" rIns="0" bIns="0" rtlCol="0" anchor="ctr"/>
          <a:lstStyle/>
          <a:p>
            <a:pPr algn="ctr" indent="0" marL="0">
              <a:buNone/>
            </a:pPr>
            <a:r>
              <a:rPr lang="en-US" sz="1400" b="1" dirty="0">
                <a:solidFill>
                  <a:srgbClr val="F7EFE4"/>
                </a:solidFill>
                <a:latin typeface="Cambria" pitchFamily="34" charset="0"/>
                <a:ea typeface="Cambria" pitchFamily="34" charset="-122"/>
                <a:cs typeface="Cambria" pitchFamily="34" charset="-120"/>
              </a:rPr>
              <a:t>6</a:t>
            </a:r>
            <a:endParaRPr lang="en-US" sz="1400" dirty="0"/>
          </a:p>
        </p:txBody>
      </p:sp>
      <p:sp>
        <p:nvSpPr>
          <p:cNvPr id="22" name="Text 20"/>
          <p:cNvSpPr/>
          <p:nvPr/>
        </p:nvSpPr>
        <p:spPr>
          <a:xfrm>
            <a:off x="6873088" y="1627632"/>
            <a:ext cx="4751680" cy="402336"/>
          </a:xfrm>
          <a:prstGeom prst="rect">
            <a:avLst/>
          </a:prstGeom>
          <a:noFill/>
          <a:ln/>
        </p:spPr>
        <p:txBody>
          <a:bodyPr wrap="square" lIns="0" tIns="0" rIns="0" bIns="0" rtlCol="0" anchor="ctr"/>
          <a:lstStyle/>
          <a:p>
            <a:pPr indent="0" marL="0">
              <a:buNone/>
            </a:pPr>
            <a:r>
              <a:rPr lang="en-US" sz="1400" dirty="0">
                <a:solidFill>
                  <a:srgbClr val="2B2118"/>
                </a:solidFill>
                <a:latin typeface="Calibri" pitchFamily="34" charset="0"/>
                <a:ea typeface="Calibri" pitchFamily="34" charset="-122"/>
                <a:cs typeface="Calibri" pitchFamily="34" charset="-120"/>
              </a:rPr>
              <a:t>Day 6 — Steps of Service</a:t>
            </a:r>
            <a:endParaRPr lang="en-US" sz="1400" dirty="0"/>
          </a:p>
        </p:txBody>
      </p:sp>
      <p:sp>
        <p:nvSpPr>
          <p:cNvPr id="23" name="Shape 21"/>
          <p:cNvSpPr/>
          <p:nvPr/>
        </p:nvSpPr>
        <p:spPr>
          <a:xfrm>
            <a:off x="6324448" y="2194560"/>
            <a:ext cx="402336" cy="402336"/>
          </a:xfrm>
          <a:prstGeom prst="ellipse">
            <a:avLst/>
          </a:prstGeom>
          <a:solidFill>
            <a:srgbClr val="59201C"/>
          </a:solidFill>
          <a:ln w="12700">
            <a:solidFill>
              <a:srgbClr val="59201C"/>
            </a:solidFill>
            <a:prstDash val="solid"/>
          </a:ln>
        </p:spPr>
      </p:sp>
      <p:sp>
        <p:nvSpPr>
          <p:cNvPr id="24" name="Text 22"/>
          <p:cNvSpPr/>
          <p:nvPr/>
        </p:nvSpPr>
        <p:spPr>
          <a:xfrm>
            <a:off x="6324448" y="2194560"/>
            <a:ext cx="402336" cy="402336"/>
          </a:xfrm>
          <a:prstGeom prst="rect">
            <a:avLst/>
          </a:prstGeom>
          <a:noFill/>
          <a:ln/>
        </p:spPr>
        <p:txBody>
          <a:bodyPr wrap="square" lIns="0" tIns="0" rIns="0" bIns="0" rtlCol="0" anchor="ctr"/>
          <a:lstStyle/>
          <a:p>
            <a:pPr algn="ctr" indent="0" marL="0">
              <a:buNone/>
            </a:pPr>
            <a:r>
              <a:rPr lang="en-US" sz="1400" b="1" dirty="0">
                <a:solidFill>
                  <a:srgbClr val="F7EFE4"/>
                </a:solidFill>
                <a:latin typeface="Cambria" pitchFamily="34" charset="0"/>
                <a:ea typeface="Cambria" pitchFamily="34" charset="-122"/>
                <a:cs typeface="Cambria" pitchFamily="34" charset="-120"/>
              </a:rPr>
              <a:t>7</a:t>
            </a:r>
            <a:endParaRPr lang="en-US" sz="1400" dirty="0"/>
          </a:p>
        </p:txBody>
      </p:sp>
      <p:sp>
        <p:nvSpPr>
          <p:cNvPr id="25" name="Text 23"/>
          <p:cNvSpPr/>
          <p:nvPr/>
        </p:nvSpPr>
        <p:spPr>
          <a:xfrm>
            <a:off x="6873088" y="2194560"/>
            <a:ext cx="4751680" cy="402336"/>
          </a:xfrm>
          <a:prstGeom prst="rect">
            <a:avLst/>
          </a:prstGeom>
          <a:noFill/>
          <a:ln/>
        </p:spPr>
        <p:txBody>
          <a:bodyPr wrap="square" lIns="0" tIns="0" rIns="0" bIns="0" rtlCol="0" anchor="ctr"/>
          <a:lstStyle/>
          <a:p>
            <a:pPr indent="0" marL="0">
              <a:buNone/>
            </a:pPr>
            <a:r>
              <a:rPr lang="en-US" sz="1400" dirty="0">
                <a:solidFill>
                  <a:srgbClr val="2B2118"/>
                </a:solidFill>
                <a:latin typeface="Calibri" pitchFamily="34" charset="0"/>
                <a:ea typeface="Calibri" pitchFamily="34" charset="-122"/>
                <a:cs typeface="Calibri" pitchFamily="34" charset="-120"/>
              </a:rPr>
              <a:t>Day 7 — Opening, Closing, and Toast</a:t>
            </a:r>
            <a:endParaRPr lang="en-US" sz="1400" dirty="0"/>
          </a:p>
        </p:txBody>
      </p:sp>
      <p:sp>
        <p:nvSpPr>
          <p:cNvPr id="26" name="Shape 24"/>
          <p:cNvSpPr/>
          <p:nvPr/>
        </p:nvSpPr>
        <p:spPr>
          <a:xfrm>
            <a:off x="6324448" y="2761488"/>
            <a:ext cx="402336" cy="402336"/>
          </a:xfrm>
          <a:prstGeom prst="ellipse">
            <a:avLst/>
          </a:prstGeom>
          <a:solidFill>
            <a:srgbClr val="59201C"/>
          </a:solidFill>
          <a:ln w="12700">
            <a:solidFill>
              <a:srgbClr val="59201C"/>
            </a:solidFill>
            <a:prstDash val="solid"/>
          </a:ln>
        </p:spPr>
      </p:sp>
      <p:sp>
        <p:nvSpPr>
          <p:cNvPr id="27" name="Text 25"/>
          <p:cNvSpPr/>
          <p:nvPr/>
        </p:nvSpPr>
        <p:spPr>
          <a:xfrm>
            <a:off x="6324448" y="2761488"/>
            <a:ext cx="402336" cy="402336"/>
          </a:xfrm>
          <a:prstGeom prst="rect">
            <a:avLst/>
          </a:prstGeom>
          <a:noFill/>
          <a:ln/>
        </p:spPr>
        <p:txBody>
          <a:bodyPr wrap="square" lIns="0" tIns="0" rIns="0" bIns="0" rtlCol="0" anchor="ctr"/>
          <a:lstStyle/>
          <a:p>
            <a:pPr algn="ctr" indent="0" marL="0">
              <a:buNone/>
            </a:pPr>
            <a:r>
              <a:rPr lang="en-US" sz="1400" b="1" dirty="0">
                <a:solidFill>
                  <a:srgbClr val="F7EFE4"/>
                </a:solidFill>
                <a:latin typeface="Cambria" pitchFamily="34" charset="0"/>
                <a:ea typeface="Cambria" pitchFamily="34" charset="-122"/>
                <a:cs typeface="Cambria" pitchFamily="34" charset="-120"/>
              </a:rPr>
              <a:t>8</a:t>
            </a:r>
            <a:endParaRPr lang="en-US" sz="1400" dirty="0"/>
          </a:p>
        </p:txBody>
      </p:sp>
      <p:sp>
        <p:nvSpPr>
          <p:cNvPr id="28" name="Text 26"/>
          <p:cNvSpPr/>
          <p:nvPr/>
        </p:nvSpPr>
        <p:spPr>
          <a:xfrm>
            <a:off x="6873088" y="2761488"/>
            <a:ext cx="4751680" cy="402336"/>
          </a:xfrm>
          <a:prstGeom prst="rect">
            <a:avLst/>
          </a:prstGeom>
          <a:noFill/>
          <a:ln/>
        </p:spPr>
        <p:txBody>
          <a:bodyPr wrap="square" lIns="0" tIns="0" rIns="0" bIns="0" rtlCol="0" anchor="ctr"/>
          <a:lstStyle/>
          <a:p>
            <a:pPr indent="0" marL="0">
              <a:buNone/>
            </a:pPr>
            <a:r>
              <a:rPr lang="en-US" sz="1400" dirty="0">
                <a:solidFill>
                  <a:srgbClr val="2B2118"/>
                </a:solidFill>
                <a:latin typeface="Calibri" pitchFamily="34" charset="0"/>
                <a:ea typeface="Calibri" pitchFamily="34" charset="-122"/>
                <a:cs typeface="Calibri" pitchFamily="34" charset="-120"/>
              </a:rPr>
              <a:t>Day 8 — Mock Serves</a:t>
            </a:r>
            <a:endParaRPr lang="en-US" sz="1400" dirty="0"/>
          </a:p>
        </p:txBody>
      </p:sp>
      <p:sp>
        <p:nvSpPr>
          <p:cNvPr id="29" name="Shape 27"/>
          <p:cNvSpPr/>
          <p:nvPr/>
        </p:nvSpPr>
        <p:spPr>
          <a:xfrm>
            <a:off x="6324448" y="3328416"/>
            <a:ext cx="402336" cy="402336"/>
          </a:xfrm>
          <a:prstGeom prst="ellipse">
            <a:avLst/>
          </a:prstGeom>
          <a:solidFill>
            <a:srgbClr val="59201C"/>
          </a:solidFill>
          <a:ln w="12700">
            <a:solidFill>
              <a:srgbClr val="59201C"/>
            </a:solidFill>
            <a:prstDash val="solid"/>
          </a:ln>
        </p:spPr>
      </p:sp>
      <p:sp>
        <p:nvSpPr>
          <p:cNvPr id="30" name="Text 28"/>
          <p:cNvSpPr/>
          <p:nvPr/>
        </p:nvSpPr>
        <p:spPr>
          <a:xfrm>
            <a:off x="6324448" y="3328416"/>
            <a:ext cx="402336" cy="402336"/>
          </a:xfrm>
          <a:prstGeom prst="rect">
            <a:avLst/>
          </a:prstGeom>
          <a:noFill/>
          <a:ln/>
        </p:spPr>
        <p:txBody>
          <a:bodyPr wrap="square" lIns="0" tIns="0" rIns="0" bIns="0" rtlCol="0" anchor="ctr"/>
          <a:lstStyle/>
          <a:p>
            <a:pPr algn="ctr" indent="0" marL="0">
              <a:buNone/>
            </a:pPr>
            <a:r>
              <a:rPr lang="en-US" sz="1400" b="1" dirty="0">
                <a:solidFill>
                  <a:srgbClr val="F7EFE4"/>
                </a:solidFill>
                <a:latin typeface="Cambria" pitchFamily="34" charset="0"/>
                <a:ea typeface="Cambria" pitchFamily="34" charset="-122"/>
                <a:cs typeface="Cambria" pitchFamily="34" charset="-120"/>
              </a:rPr>
              <a:t>9</a:t>
            </a:r>
            <a:endParaRPr lang="en-US" sz="1400" dirty="0"/>
          </a:p>
        </p:txBody>
      </p:sp>
      <p:sp>
        <p:nvSpPr>
          <p:cNvPr id="31" name="Text 29"/>
          <p:cNvSpPr/>
          <p:nvPr/>
        </p:nvSpPr>
        <p:spPr>
          <a:xfrm>
            <a:off x="6873088" y="3328416"/>
            <a:ext cx="4751680" cy="402336"/>
          </a:xfrm>
          <a:prstGeom prst="rect">
            <a:avLst/>
          </a:prstGeom>
          <a:noFill/>
          <a:ln/>
        </p:spPr>
        <p:txBody>
          <a:bodyPr wrap="square" lIns="0" tIns="0" rIns="0" bIns="0" rtlCol="0" anchor="ctr"/>
          <a:lstStyle/>
          <a:p>
            <a:pPr indent="0" marL="0">
              <a:buNone/>
            </a:pPr>
            <a:r>
              <a:rPr lang="en-US" sz="1400" dirty="0">
                <a:solidFill>
                  <a:srgbClr val="2B2118"/>
                </a:solidFill>
                <a:latin typeface="Calibri" pitchFamily="34" charset="0"/>
                <a:ea typeface="Calibri" pitchFamily="34" charset="-122"/>
                <a:cs typeface="Calibri" pitchFamily="34" charset="-120"/>
              </a:rPr>
              <a:t>Day 9 — Wine and Spirits</a:t>
            </a:r>
            <a:endParaRPr lang="en-US" sz="1400" dirty="0"/>
          </a:p>
        </p:txBody>
      </p:sp>
      <p:sp>
        <p:nvSpPr>
          <p:cNvPr id="32" name="Shape 30"/>
          <p:cNvSpPr/>
          <p:nvPr/>
        </p:nvSpPr>
        <p:spPr>
          <a:xfrm>
            <a:off x="6324448" y="3895344"/>
            <a:ext cx="402336" cy="402336"/>
          </a:xfrm>
          <a:prstGeom prst="ellipse">
            <a:avLst/>
          </a:prstGeom>
          <a:solidFill>
            <a:srgbClr val="59201C"/>
          </a:solidFill>
          <a:ln w="12700">
            <a:solidFill>
              <a:srgbClr val="59201C"/>
            </a:solidFill>
            <a:prstDash val="solid"/>
          </a:ln>
        </p:spPr>
      </p:sp>
      <p:sp>
        <p:nvSpPr>
          <p:cNvPr id="33" name="Text 31"/>
          <p:cNvSpPr/>
          <p:nvPr/>
        </p:nvSpPr>
        <p:spPr>
          <a:xfrm>
            <a:off x="6324448" y="3895344"/>
            <a:ext cx="402336" cy="402336"/>
          </a:xfrm>
          <a:prstGeom prst="rect">
            <a:avLst/>
          </a:prstGeom>
          <a:noFill/>
          <a:ln/>
        </p:spPr>
        <p:txBody>
          <a:bodyPr wrap="square" lIns="0" tIns="0" rIns="0" bIns="0" rtlCol="0" anchor="ctr"/>
          <a:lstStyle/>
          <a:p>
            <a:pPr algn="ctr" indent="0" marL="0">
              <a:buNone/>
            </a:pPr>
            <a:r>
              <a:rPr lang="en-US" sz="1400" b="1" dirty="0">
                <a:solidFill>
                  <a:srgbClr val="F7EFE4"/>
                </a:solidFill>
                <a:latin typeface="Cambria" pitchFamily="34" charset="0"/>
                <a:ea typeface="Cambria" pitchFamily="34" charset="-122"/>
                <a:cs typeface="Cambria" pitchFamily="34" charset="-120"/>
              </a:rPr>
              <a:t>10</a:t>
            </a:r>
            <a:endParaRPr lang="en-US" sz="1400" dirty="0"/>
          </a:p>
        </p:txBody>
      </p:sp>
      <p:sp>
        <p:nvSpPr>
          <p:cNvPr id="34" name="Text 32"/>
          <p:cNvSpPr/>
          <p:nvPr/>
        </p:nvSpPr>
        <p:spPr>
          <a:xfrm>
            <a:off x="6873088" y="3895344"/>
            <a:ext cx="4751680" cy="402336"/>
          </a:xfrm>
          <a:prstGeom prst="rect">
            <a:avLst/>
          </a:prstGeom>
          <a:noFill/>
          <a:ln/>
        </p:spPr>
        <p:txBody>
          <a:bodyPr wrap="square" lIns="0" tIns="0" rIns="0" bIns="0" rtlCol="0" anchor="ctr"/>
          <a:lstStyle/>
          <a:p>
            <a:pPr indent="0" marL="0">
              <a:buNone/>
            </a:pPr>
            <a:r>
              <a:rPr lang="en-US" sz="1400" dirty="0">
                <a:solidFill>
                  <a:srgbClr val="2B2118"/>
                </a:solidFill>
                <a:latin typeface="Calibri" pitchFamily="34" charset="0"/>
                <a:ea typeface="Calibri" pitchFamily="34" charset="-122"/>
                <a:cs typeface="Calibri" pitchFamily="34" charset="-120"/>
              </a:rPr>
              <a:t>Day 10 — Friends and Family Night</a:t>
            </a:r>
            <a:endParaRPr lang="en-US" sz="1400" dirty="0"/>
          </a:p>
        </p:txBody>
      </p:sp>
      <p:sp>
        <p:nvSpPr>
          <p:cNvPr id="35" name="Shape 33"/>
          <p:cNvSpPr/>
          <p:nvPr/>
        </p:nvSpPr>
        <p:spPr>
          <a:xfrm>
            <a:off x="566928" y="4617720"/>
            <a:ext cx="11057839" cy="749808"/>
          </a:xfrm>
          <a:prstGeom prst="roundRect">
            <a:avLst>
              <a:gd name="adj" fmla="val 7317"/>
            </a:avLst>
          </a:prstGeom>
          <a:solidFill>
            <a:srgbClr val="F3E7E4"/>
          </a:solidFill>
          <a:ln w="12700">
            <a:solidFill>
              <a:srgbClr val="E2CCC7"/>
            </a:solidFill>
            <a:prstDash val="solid"/>
          </a:ln>
        </p:spPr>
      </p:sp>
      <p:sp>
        <p:nvSpPr>
          <p:cNvPr id="36" name="Text 34"/>
          <p:cNvSpPr/>
          <p:nvPr/>
        </p:nvSpPr>
        <p:spPr>
          <a:xfrm>
            <a:off x="768096" y="4690872"/>
            <a:ext cx="10655503" cy="603504"/>
          </a:xfrm>
          <a:prstGeom prst="rect">
            <a:avLst/>
          </a:prstGeom>
          <a:noFill/>
          <a:ln/>
        </p:spPr>
        <p:txBody>
          <a:bodyPr wrap="square" lIns="0" tIns="0" rIns="0" bIns="0" rtlCol="0" anchor="ctr"/>
          <a:lstStyle/>
          <a:p>
            <a:pPr indent="0" marL="0">
              <a:lnSpc>
                <a:spcPts val="1600"/>
              </a:lnSpc>
              <a:buNone/>
            </a:pPr>
            <a:r>
              <a:rPr lang="en-US" sz="1250" b="1" dirty="0">
                <a:solidFill>
                  <a:srgbClr val="59201C"/>
                </a:solidFill>
                <a:latin typeface="Calibri" pitchFamily="34" charset="0"/>
                <a:ea typeface="Calibri" pitchFamily="34" charset="-122"/>
                <a:cs typeface="Calibri" pitchFamily="34" charset="-120"/>
              </a:rPr>
              <a:t>Before Day 1:  </a:t>
            </a:r>
            <a:pPr indent="0" marL="0">
              <a:lnSpc>
                <a:spcPts val="1600"/>
              </a:lnSpc>
              <a:buNone/>
            </a:pPr>
            <a:r>
              <a:rPr lang="en-US" sz="1250" dirty="0">
                <a:solidFill>
                  <a:srgbClr val="2B2118"/>
                </a:solidFill>
                <a:latin typeface="Calibri" pitchFamily="34" charset="0"/>
                <a:ea typeface="Calibri" pitchFamily="34" charset="-122"/>
                <a:cs typeface="Calibri" pitchFamily="34" charset="-120"/>
              </a:rPr>
              <a:t>how we speak. The words are the uniform of the sentence — learn them before you learn a single dish.</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How we speak</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The verbiage that makes it fine dining. Never lie — reframe.</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Mo's A Place For Steaks</a:t>
            </a:r>
            <a:endParaRPr lang="en-US" sz="950" dirty="0"/>
          </a:p>
        </p:txBody>
      </p:sp>
      <p:sp>
        <p:nvSpPr>
          <p:cNvPr id="5" name="Text 3"/>
          <p:cNvSpPr/>
          <p:nvPr/>
        </p:nvSpPr>
        <p:spPr>
          <a:xfrm>
            <a:off x="566928" y="1517904"/>
            <a:ext cx="3566160" cy="438912"/>
          </a:xfrm>
          <a:prstGeom prst="rect">
            <a:avLst/>
          </a:prstGeom>
          <a:noFill/>
          <a:ln/>
        </p:spPr>
        <p:txBody>
          <a:bodyPr wrap="square" lIns="0" tIns="0" rIns="0" bIns="0" rtlCol="0" anchor="ctr"/>
          <a:lstStyle/>
          <a:p>
            <a:pPr indent="0" marL="0">
              <a:buNone/>
            </a:pPr>
            <a:r>
              <a:rPr lang="en-US" sz="1250" strike="sngStrike" dirty="0">
                <a:solidFill>
                  <a:srgbClr val="6B5B4B"/>
                </a:solidFill>
                <a:latin typeface="Calibri" pitchFamily="34" charset="0"/>
                <a:ea typeface="Calibri" pitchFamily="34" charset="-122"/>
                <a:cs typeface="Calibri" pitchFamily="34" charset="-120"/>
              </a:rPr>
              <a:t>“tough”</a:t>
            </a:r>
            <a:endParaRPr lang="en-US" sz="1250" dirty="0"/>
          </a:p>
        </p:txBody>
      </p:sp>
      <p:sp>
        <p:nvSpPr>
          <p:cNvPr id="6" name="Text 4"/>
          <p:cNvSpPr/>
          <p:nvPr/>
        </p:nvSpPr>
        <p:spPr>
          <a:xfrm>
            <a:off x="4178808" y="1517904"/>
            <a:ext cx="320040" cy="438912"/>
          </a:xfrm>
          <a:prstGeom prst="rect">
            <a:avLst/>
          </a:prstGeom>
          <a:noFill/>
          <a:ln/>
        </p:spPr>
        <p:txBody>
          <a:bodyPr wrap="square" lIns="0" tIns="0" rIns="0" bIns="0" rtlCol="0" anchor="ctr"/>
          <a:lstStyle/>
          <a:p>
            <a:pPr algn="ctr" indent="0" marL="0">
              <a:buNone/>
            </a:pPr>
            <a:r>
              <a:rPr lang="en-US" sz="1300" b="1" dirty="0">
                <a:solidFill>
                  <a:srgbClr val="B0812F"/>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4544568" y="1517904"/>
            <a:ext cx="7080199" cy="438912"/>
          </a:xfrm>
          <a:prstGeom prst="rect">
            <a:avLst/>
          </a:prstGeom>
          <a:noFill/>
          <a:ln/>
        </p:spPr>
        <p:txBody>
          <a:bodyPr wrap="square" lIns="0" tIns="0" rIns="0" bIns="0" rtlCol="0" anchor="ctr"/>
          <a:lstStyle/>
          <a:p>
            <a:pPr indent="0" marL="0">
              <a:buNone/>
            </a:pPr>
            <a:r>
              <a:rPr lang="en-US" sz="1250" b="1" dirty="0">
                <a:solidFill>
                  <a:srgbClr val="59201C"/>
                </a:solidFill>
                <a:latin typeface="Calibri" pitchFamily="34" charset="0"/>
                <a:ea typeface="Calibri" pitchFamily="34" charset="-122"/>
                <a:cs typeface="Calibri" pitchFamily="34" charset="-120"/>
              </a:rPr>
              <a:t>“less tender” — a firmer bite, more chew, more flavor</a:t>
            </a:r>
            <a:endParaRPr lang="en-US" sz="1250" dirty="0"/>
          </a:p>
        </p:txBody>
      </p:sp>
      <p:sp>
        <p:nvSpPr>
          <p:cNvPr id="8" name="Text 6"/>
          <p:cNvSpPr/>
          <p:nvPr/>
        </p:nvSpPr>
        <p:spPr>
          <a:xfrm>
            <a:off x="566928" y="2011680"/>
            <a:ext cx="3566160" cy="438912"/>
          </a:xfrm>
          <a:prstGeom prst="rect">
            <a:avLst/>
          </a:prstGeom>
          <a:noFill/>
          <a:ln/>
        </p:spPr>
        <p:txBody>
          <a:bodyPr wrap="square" lIns="0" tIns="0" rIns="0" bIns="0" rtlCol="0" anchor="ctr"/>
          <a:lstStyle/>
          <a:p>
            <a:pPr indent="0" marL="0">
              <a:buNone/>
            </a:pPr>
            <a:r>
              <a:rPr lang="en-US" sz="1250" strike="sngStrike" dirty="0">
                <a:solidFill>
                  <a:srgbClr val="6B5B4B"/>
                </a:solidFill>
                <a:latin typeface="Calibri" pitchFamily="34" charset="0"/>
                <a:ea typeface="Calibri" pitchFamily="34" charset="-122"/>
                <a:cs typeface="Calibri" pitchFamily="34" charset="-120"/>
              </a:rPr>
              <a:t>“fatty”</a:t>
            </a:r>
            <a:endParaRPr lang="en-US" sz="1250" dirty="0"/>
          </a:p>
        </p:txBody>
      </p:sp>
      <p:sp>
        <p:nvSpPr>
          <p:cNvPr id="9" name="Text 7"/>
          <p:cNvSpPr/>
          <p:nvPr/>
        </p:nvSpPr>
        <p:spPr>
          <a:xfrm>
            <a:off x="4178808" y="2011680"/>
            <a:ext cx="320040" cy="438912"/>
          </a:xfrm>
          <a:prstGeom prst="rect">
            <a:avLst/>
          </a:prstGeom>
          <a:noFill/>
          <a:ln/>
        </p:spPr>
        <p:txBody>
          <a:bodyPr wrap="square" lIns="0" tIns="0" rIns="0" bIns="0" rtlCol="0" anchor="ctr"/>
          <a:lstStyle/>
          <a:p>
            <a:pPr algn="ctr" indent="0" marL="0">
              <a:buNone/>
            </a:pPr>
            <a:r>
              <a:rPr lang="en-US" sz="1300" b="1" dirty="0">
                <a:solidFill>
                  <a:srgbClr val="B0812F"/>
                </a:solidFill>
                <a:latin typeface="Calibri" pitchFamily="34" charset="0"/>
                <a:ea typeface="Calibri" pitchFamily="34" charset="-122"/>
                <a:cs typeface="Calibri" pitchFamily="34" charset="-120"/>
              </a:rPr>
              <a:t>→</a:t>
            </a:r>
            <a:endParaRPr lang="en-US" sz="1300" dirty="0"/>
          </a:p>
        </p:txBody>
      </p:sp>
      <p:sp>
        <p:nvSpPr>
          <p:cNvPr id="10" name="Text 8"/>
          <p:cNvSpPr/>
          <p:nvPr/>
        </p:nvSpPr>
        <p:spPr>
          <a:xfrm>
            <a:off x="4544568" y="2011680"/>
            <a:ext cx="7080199" cy="438912"/>
          </a:xfrm>
          <a:prstGeom prst="rect">
            <a:avLst/>
          </a:prstGeom>
          <a:noFill/>
          <a:ln/>
        </p:spPr>
        <p:txBody>
          <a:bodyPr wrap="square" lIns="0" tIns="0" rIns="0" bIns="0" rtlCol="0" anchor="ctr"/>
          <a:lstStyle/>
          <a:p>
            <a:pPr indent="0" marL="0">
              <a:buNone/>
            </a:pPr>
            <a:r>
              <a:rPr lang="en-US" sz="1250" b="1" dirty="0">
                <a:solidFill>
                  <a:srgbClr val="59201C"/>
                </a:solidFill>
                <a:latin typeface="Calibri" pitchFamily="34" charset="0"/>
                <a:ea typeface="Calibri" pitchFamily="34" charset="-122"/>
                <a:cs typeface="Calibri" pitchFamily="34" charset="-120"/>
              </a:rPr>
              <a:t>“richly marbled,” “buttery,” “decadent” — fat is treasure here</a:t>
            </a:r>
            <a:endParaRPr lang="en-US" sz="1250" dirty="0"/>
          </a:p>
        </p:txBody>
      </p:sp>
      <p:sp>
        <p:nvSpPr>
          <p:cNvPr id="11" name="Text 9"/>
          <p:cNvSpPr/>
          <p:nvPr/>
        </p:nvSpPr>
        <p:spPr>
          <a:xfrm>
            <a:off x="566928" y="2505456"/>
            <a:ext cx="3566160" cy="438912"/>
          </a:xfrm>
          <a:prstGeom prst="rect">
            <a:avLst/>
          </a:prstGeom>
          <a:noFill/>
          <a:ln/>
        </p:spPr>
        <p:txBody>
          <a:bodyPr wrap="square" lIns="0" tIns="0" rIns="0" bIns="0" rtlCol="0" anchor="ctr"/>
          <a:lstStyle/>
          <a:p>
            <a:pPr indent="0" marL="0">
              <a:buNone/>
            </a:pPr>
            <a:r>
              <a:rPr lang="en-US" sz="1250" strike="sngStrike" dirty="0">
                <a:solidFill>
                  <a:srgbClr val="6B5B4B"/>
                </a:solidFill>
                <a:latin typeface="Calibri" pitchFamily="34" charset="0"/>
                <a:ea typeface="Calibri" pitchFamily="34" charset="-122"/>
                <a:cs typeface="Calibri" pitchFamily="34" charset="-120"/>
              </a:rPr>
              <a:t>“cheap” or “expensive”</a:t>
            </a:r>
            <a:endParaRPr lang="en-US" sz="1250" dirty="0"/>
          </a:p>
        </p:txBody>
      </p:sp>
      <p:sp>
        <p:nvSpPr>
          <p:cNvPr id="12" name="Text 10"/>
          <p:cNvSpPr/>
          <p:nvPr/>
        </p:nvSpPr>
        <p:spPr>
          <a:xfrm>
            <a:off x="4178808" y="2505456"/>
            <a:ext cx="320040" cy="438912"/>
          </a:xfrm>
          <a:prstGeom prst="rect">
            <a:avLst/>
          </a:prstGeom>
          <a:noFill/>
          <a:ln/>
        </p:spPr>
        <p:txBody>
          <a:bodyPr wrap="square" lIns="0" tIns="0" rIns="0" bIns="0" rtlCol="0" anchor="ctr"/>
          <a:lstStyle/>
          <a:p>
            <a:pPr algn="ctr" indent="0" marL="0">
              <a:buNone/>
            </a:pPr>
            <a:r>
              <a:rPr lang="en-US" sz="1300" b="1" dirty="0">
                <a:solidFill>
                  <a:srgbClr val="B0812F"/>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4544568" y="2505456"/>
            <a:ext cx="7080199" cy="438912"/>
          </a:xfrm>
          <a:prstGeom prst="rect">
            <a:avLst/>
          </a:prstGeom>
          <a:noFill/>
          <a:ln/>
        </p:spPr>
        <p:txBody>
          <a:bodyPr wrap="square" lIns="0" tIns="0" rIns="0" bIns="0" rtlCol="0" anchor="ctr"/>
          <a:lstStyle/>
          <a:p>
            <a:pPr indent="0" marL="0">
              <a:buNone/>
            </a:pPr>
            <a:r>
              <a:rPr lang="en-US" sz="1250" b="1" dirty="0">
                <a:solidFill>
                  <a:srgbClr val="59201C"/>
                </a:solidFill>
                <a:latin typeface="Calibri" pitchFamily="34" charset="0"/>
                <a:ea typeface="Calibri" pitchFamily="34" charset="-122"/>
                <a:cs typeface="Calibri" pitchFamily="34" charset="-120"/>
              </a:rPr>
              <a:t>“approachable,” “a great value” / “premium,” “our top shelf”</a:t>
            </a:r>
            <a:endParaRPr lang="en-US" sz="1250" dirty="0"/>
          </a:p>
        </p:txBody>
      </p:sp>
      <p:sp>
        <p:nvSpPr>
          <p:cNvPr id="14" name="Text 12"/>
          <p:cNvSpPr/>
          <p:nvPr/>
        </p:nvSpPr>
        <p:spPr>
          <a:xfrm>
            <a:off x="566928" y="2999232"/>
            <a:ext cx="3566160" cy="438912"/>
          </a:xfrm>
          <a:prstGeom prst="rect">
            <a:avLst/>
          </a:prstGeom>
          <a:noFill/>
          <a:ln/>
        </p:spPr>
        <p:txBody>
          <a:bodyPr wrap="square" lIns="0" tIns="0" rIns="0" bIns="0" rtlCol="0" anchor="ctr"/>
          <a:lstStyle/>
          <a:p>
            <a:pPr indent="0" marL="0">
              <a:buNone/>
            </a:pPr>
            <a:r>
              <a:rPr lang="en-US" sz="1250" strike="sngStrike" dirty="0">
                <a:solidFill>
                  <a:srgbClr val="6B5B4B"/>
                </a:solidFill>
                <a:latin typeface="Calibri" pitchFamily="34" charset="0"/>
                <a:ea typeface="Calibri" pitchFamily="34" charset="-122"/>
                <a:cs typeface="Calibri" pitchFamily="34" charset="-120"/>
              </a:rPr>
              <a:t>“I don't know”</a:t>
            </a:r>
            <a:endParaRPr lang="en-US" sz="1250" dirty="0"/>
          </a:p>
        </p:txBody>
      </p:sp>
      <p:sp>
        <p:nvSpPr>
          <p:cNvPr id="15" name="Text 13"/>
          <p:cNvSpPr/>
          <p:nvPr/>
        </p:nvSpPr>
        <p:spPr>
          <a:xfrm>
            <a:off x="4178808" y="2999232"/>
            <a:ext cx="320040" cy="438912"/>
          </a:xfrm>
          <a:prstGeom prst="rect">
            <a:avLst/>
          </a:prstGeom>
          <a:noFill/>
          <a:ln/>
        </p:spPr>
        <p:txBody>
          <a:bodyPr wrap="square" lIns="0" tIns="0" rIns="0" bIns="0" rtlCol="0" anchor="ctr"/>
          <a:lstStyle/>
          <a:p>
            <a:pPr algn="ctr" indent="0" marL="0">
              <a:buNone/>
            </a:pPr>
            <a:r>
              <a:rPr lang="en-US" sz="1300" b="1" dirty="0">
                <a:solidFill>
                  <a:srgbClr val="B0812F"/>
                </a:solidFill>
                <a:latin typeface="Calibri" pitchFamily="34" charset="0"/>
                <a:ea typeface="Calibri" pitchFamily="34" charset="-122"/>
                <a:cs typeface="Calibri" pitchFamily="34" charset="-120"/>
              </a:rPr>
              <a:t>→</a:t>
            </a:r>
            <a:endParaRPr lang="en-US" sz="1300" dirty="0"/>
          </a:p>
        </p:txBody>
      </p:sp>
      <p:sp>
        <p:nvSpPr>
          <p:cNvPr id="16" name="Text 14"/>
          <p:cNvSpPr/>
          <p:nvPr/>
        </p:nvSpPr>
        <p:spPr>
          <a:xfrm>
            <a:off x="4544568" y="2999232"/>
            <a:ext cx="7080199" cy="438912"/>
          </a:xfrm>
          <a:prstGeom prst="rect">
            <a:avLst/>
          </a:prstGeom>
          <a:noFill/>
          <a:ln/>
        </p:spPr>
        <p:txBody>
          <a:bodyPr wrap="square" lIns="0" tIns="0" rIns="0" bIns="0" rtlCol="0" anchor="ctr"/>
          <a:lstStyle/>
          <a:p>
            <a:pPr indent="0" marL="0">
              <a:buNone/>
            </a:pPr>
            <a:r>
              <a:rPr lang="en-US" sz="1250" b="1" dirty="0">
                <a:solidFill>
                  <a:srgbClr val="59201C"/>
                </a:solidFill>
                <a:latin typeface="Calibri" pitchFamily="34" charset="0"/>
                <a:ea typeface="Calibri" pitchFamily="34" charset="-122"/>
                <a:cs typeface="Calibri" pitchFamily="34" charset="-120"/>
              </a:rPr>
              <a:t>“Great question — let me find out for you,” then actually find out</a:t>
            </a:r>
            <a:endParaRPr lang="en-US" sz="1250" dirty="0"/>
          </a:p>
        </p:txBody>
      </p:sp>
      <p:sp>
        <p:nvSpPr>
          <p:cNvPr id="17" name="Text 15"/>
          <p:cNvSpPr/>
          <p:nvPr/>
        </p:nvSpPr>
        <p:spPr>
          <a:xfrm>
            <a:off x="566928" y="3493008"/>
            <a:ext cx="3566160" cy="438912"/>
          </a:xfrm>
          <a:prstGeom prst="rect">
            <a:avLst/>
          </a:prstGeom>
          <a:noFill/>
          <a:ln/>
        </p:spPr>
        <p:txBody>
          <a:bodyPr wrap="square" lIns="0" tIns="0" rIns="0" bIns="0" rtlCol="0" anchor="ctr"/>
          <a:lstStyle/>
          <a:p>
            <a:pPr indent="0" marL="0">
              <a:buNone/>
            </a:pPr>
            <a:r>
              <a:rPr lang="en-US" sz="1250" strike="sngStrike" dirty="0">
                <a:solidFill>
                  <a:srgbClr val="6B5B4B"/>
                </a:solidFill>
                <a:latin typeface="Calibri" pitchFamily="34" charset="0"/>
                <a:ea typeface="Calibri" pitchFamily="34" charset="-122"/>
                <a:cs typeface="Calibri" pitchFamily="34" charset="-120"/>
              </a:rPr>
              <a:t>“no problem”</a:t>
            </a:r>
            <a:endParaRPr lang="en-US" sz="1250" dirty="0"/>
          </a:p>
        </p:txBody>
      </p:sp>
      <p:sp>
        <p:nvSpPr>
          <p:cNvPr id="18" name="Text 16"/>
          <p:cNvSpPr/>
          <p:nvPr/>
        </p:nvSpPr>
        <p:spPr>
          <a:xfrm>
            <a:off x="4178808" y="3493008"/>
            <a:ext cx="320040" cy="438912"/>
          </a:xfrm>
          <a:prstGeom prst="rect">
            <a:avLst/>
          </a:prstGeom>
          <a:noFill/>
          <a:ln/>
        </p:spPr>
        <p:txBody>
          <a:bodyPr wrap="square" lIns="0" tIns="0" rIns="0" bIns="0" rtlCol="0" anchor="ctr"/>
          <a:lstStyle/>
          <a:p>
            <a:pPr algn="ctr" indent="0" marL="0">
              <a:buNone/>
            </a:pPr>
            <a:r>
              <a:rPr lang="en-US" sz="1300" b="1" dirty="0">
                <a:solidFill>
                  <a:srgbClr val="B0812F"/>
                </a:solidFill>
                <a:latin typeface="Calibri" pitchFamily="34" charset="0"/>
                <a:ea typeface="Calibri" pitchFamily="34" charset="-122"/>
                <a:cs typeface="Calibri" pitchFamily="34" charset="-120"/>
              </a:rPr>
              <a:t>→</a:t>
            </a:r>
            <a:endParaRPr lang="en-US" sz="1300" dirty="0"/>
          </a:p>
        </p:txBody>
      </p:sp>
      <p:sp>
        <p:nvSpPr>
          <p:cNvPr id="19" name="Text 17"/>
          <p:cNvSpPr/>
          <p:nvPr/>
        </p:nvSpPr>
        <p:spPr>
          <a:xfrm>
            <a:off x="4544568" y="3493008"/>
            <a:ext cx="7080199" cy="438912"/>
          </a:xfrm>
          <a:prstGeom prst="rect">
            <a:avLst/>
          </a:prstGeom>
          <a:noFill/>
          <a:ln/>
        </p:spPr>
        <p:txBody>
          <a:bodyPr wrap="square" lIns="0" tIns="0" rIns="0" bIns="0" rtlCol="0" anchor="ctr"/>
          <a:lstStyle/>
          <a:p>
            <a:pPr indent="0" marL="0">
              <a:buNone/>
            </a:pPr>
            <a:r>
              <a:rPr lang="en-US" sz="1250" b="1" dirty="0">
                <a:solidFill>
                  <a:srgbClr val="59201C"/>
                </a:solidFill>
                <a:latin typeface="Calibri" pitchFamily="34" charset="0"/>
                <a:ea typeface="Calibri" pitchFamily="34" charset="-122"/>
                <a:cs typeface="Calibri" pitchFamily="34" charset="-120"/>
              </a:rPr>
              <a:t>“my pleasure” or “absolutely”</a:t>
            </a:r>
            <a:endParaRPr lang="en-US" sz="1250" dirty="0"/>
          </a:p>
        </p:txBody>
      </p:sp>
      <p:sp>
        <p:nvSpPr>
          <p:cNvPr id="20" name="Text 18"/>
          <p:cNvSpPr/>
          <p:nvPr/>
        </p:nvSpPr>
        <p:spPr>
          <a:xfrm>
            <a:off x="566928" y="3986784"/>
            <a:ext cx="3566160" cy="438912"/>
          </a:xfrm>
          <a:prstGeom prst="rect">
            <a:avLst/>
          </a:prstGeom>
          <a:noFill/>
          <a:ln/>
        </p:spPr>
        <p:txBody>
          <a:bodyPr wrap="square" lIns="0" tIns="0" rIns="0" bIns="0" rtlCol="0" anchor="ctr"/>
          <a:lstStyle/>
          <a:p>
            <a:pPr indent="0" marL="0">
              <a:buNone/>
            </a:pPr>
            <a:r>
              <a:rPr lang="en-US" sz="1250" strike="sngStrike" dirty="0">
                <a:solidFill>
                  <a:srgbClr val="6B5B4B"/>
                </a:solidFill>
                <a:latin typeface="Calibri" pitchFamily="34" charset="0"/>
                <a:ea typeface="Calibri" pitchFamily="34" charset="-122"/>
                <a:cs typeface="Calibri" pitchFamily="34" charset="-120"/>
              </a:rPr>
              <a:t>“sold out”</a:t>
            </a:r>
            <a:endParaRPr lang="en-US" sz="1250" dirty="0"/>
          </a:p>
        </p:txBody>
      </p:sp>
      <p:sp>
        <p:nvSpPr>
          <p:cNvPr id="21" name="Text 19"/>
          <p:cNvSpPr/>
          <p:nvPr/>
        </p:nvSpPr>
        <p:spPr>
          <a:xfrm>
            <a:off x="4178808" y="3986784"/>
            <a:ext cx="320040" cy="438912"/>
          </a:xfrm>
          <a:prstGeom prst="rect">
            <a:avLst/>
          </a:prstGeom>
          <a:noFill/>
          <a:ln/>
        </p:spPr>
        <p:txBody>
          <a:bodyPr wrap="square" lIns="0" tIns="0" rIns="0" bIns="0" rtlCol="0" anchor="ctr"/>
          <a:lstStyle/>
          <a:p>
            <a:pPr algn="ctr" indent="0" marL="0">
              <a:buNone/>
            </a:pPr>
            <a:r>
              <a:rPr lang="en-US" sz="1300" b="1" dirty="0">
                <a:solidFill>
                  <a:srgbClr val="B0812F"/>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4544568" y="3986784"/>
            <a:ext cx="7080199" cy="438912"/>
          </a:xfrm>
          <a:prstGeom prst="rect">
            <a:avLst/>
          </a:prstGeom>
          <a:noFill/>
          <a:ln/>
        </p:spPr>
        <p:txBody>
          <a:bodyPr wrap="square" lIns="0" tIns="0" rIns="0" bIns="0" rtlCol="0" anchor="ctr"/>
          <a:lstStyle/>
          <a:p>
            <a:pPr indent="0" marL="0">
              <a:buNone/>
            </a:pPr>
            <a:r>
              <a:rPr lang="en-US" sz="1250" b="1" dirty="0">
                <a:solidFill>
                  <a:srgbClr val="59201C"/>
                </a:solidFill>
                <a:latin typeface="Calibri" pitchFamily="34" charset="0"/>
                <a:ea typeface="Calibri" pitchFamily="34" charset="-122"/>
                <a:cs typeface="Calibri" pitchFamily="34" charset="-120"/>
              </a:rPr>
              <a:t>“we've sold through it tonight” — 86'd stays inside</a:t>
            </a:r>
            <a:endParaRPr lang="en-US" sz="1250" dirty="0"/>
          </a:p>
        </p:txBody>
      </p:sp>
      <p:sp>
        <p:nvSpPr>
          <p:cNvPr id="23" name="Text 21"/>
          <p:cNvSpPr/>
          <p:nvPr/>
        </p:nvSpPr>
        <p:spPr>
          <a:xfrm>
            <a:off x="566928" y="4480560"/>
            <a:ext cx="3566160" cy="438912"/>
          </a:xfrm>
          <a:prstGeom prst="rect">
            <a:avLst/>
          </a:prstGeom>
          <a:noFill/>
          <a:ln/>
        </p:spPr>
        <p:txBody>
          <a:bodyPr wrap="square" lIns="0" tIns="0" rIns="0" bIns="0" rtlCol="0" anchor="ctr"/>
          <a:lstStyle/>
          <a:p>
            <a:pPr indent="0" marL="0">
              <a:buNone/>
            </a:pPr>
            <a:r>
              <a:rPr lang="en-US" sz="1250" strike="sngStrike" dirty="0">
                <a:solidFill>
                  <a:srgbClr val="6B5B4B"/>
                </a:solidFill>
                <a:latin typeface="Calibri" pitchFamily="34" charset="0"/>
                <a:ea typeface="Calibri" pitchFamily="34" charset="-122"/>
                <a:cs typeface="Calibri" pitchFamily="34" charset="-120"/>
              </a:rPr>
              <a:t>“just checking in”</a:t>
            </a:r>
            <a:endParaRPr lang="en-US" sz="1250" dirty="0"/>
          </a:p>
        </p:txBody>
      </p:sp>
      <p:sp>
        <p:nvSpPr>
          <p:cNvPr id="24" name="Text 22"/>
          <p:cNvSpPr/>
          <p:nvPr/>
        </p:nvSpPr>
        <p:spPr>
          <a:xfrm>
            <a:off x="4178808" y="4480560"/>
            <a:ext cx="320040" cy="438912"/>
          </a:xfrm>
          <a:prstGeom prst="rect">
            <a:avLst/>
          </a:prstGeom>
          <a:noFill/>
          <a:ln/>
        </p:spPr>
        <p:txBody>
          <a:bodyPr wrap="square" lIns="0" tIns="0" rIns="0" bIns="0" rtlCol="0" anchor="ctr"/>
          <a:lstStyle/>
          <a:p>
            <a:pPr algn="ctr" indent="0" marL="0">
              <a:buNone/>
            </a:pPr>
            <a:r>
              <a:rPr lang="en-US" sz="1300" b="1" dirty="0">
                <a:solidFill>
                  <a:srgbClr val="B0812F"/>
                </a:solidFill>
                <a:latin typeface="Calibri" pitchFamily="34" charset="0"/>
                <a:ea typeface="Calibri" pitchFamily="34" charset="-122"/>
                <a:cs typeface="Calibri" pitchFamily="34" charset="-120"/>
              </a:rPr>
              <a:t>→</a:t>
            </a:r>
            <a:endParaRPr lang="en-US" sz="1300" dirty="0"/>
          </a:p>
        </p:txBody>
      </p:sp>
      <p:sp>
        <p:nvSpPr>
          <p:cNvPr id="25" name="Text 23"/>
          <p:cNvSpPr/>
          <p:nvPr/>
        </p:nvSpPr>
        <p:spPr>
          <a:xfrm>
            <a:off x="4544568" y="4480560"/>
            <a:ext cx="7080199" cy="438912"/>
          </a:xfrm>
          <a:prstGeom prst="rect">
            <a:avLst/>
          </a:prstGeom>
          <a:noFill/>
          <a:ln/>
        </p:spPr>
        <p:txBody>
          <a:bodyPr wrap="square" lIns="0" tIns="0" rIns="0" bIns="0" rtlCol="0" anchor="ctr"/>
          <a:lstStyle/>
          <a:p>
            <a:pPr indent="0" marL="0">
              <a:buNone/>
            </a:pPr>
            <a:r>
              <a:rPr lang="en-US" sz="1250" b="1" dirty="0">
                <a:solidFill>
                  <a:srgbClr val="59201C"/>
                </a:solidFill>
                <a:latin typeface="Calibri" pitchFamily="34" charset="0"/>
                <a:ea typeface="Calibri" pitchFamily="34" charset="-122"/>
                <a:cs typeface="Calibri" pitchFamily="34" charset="-120"/>
              </a:rPr>
              <a:t>“How is everything tasting for us?”</a:t>
            </a:r>
            <a:endParaRPr lang="en-US" sz="1250" dirty="0"/>
          </a:p>
        </p:txBody>
      </p:sp>
      <p:sp>
        <p:nvSpPr>
          <p:cNvPr id="26" name="Text 24"/>
          <p:cNvSpPr/>
          <p:nvPr/>
        </p:nvSpPr>
        <p:spPr>
          <a:xfrm>
            <a:off x="566928" y="4974336"/>
            <a:ext cx="3566160" cy="438912"/>
          </a:xfrm>
          <a:prstGeom prst="rect">
            <a:avLst/>
          </a:prstGeom>
          <a:noFill/>
          <a:ln/>
        </p:spPr>
        <p:txBody>
          <a:bodyPr wrap="square" lIns="0" tIns="0" rIns="0" bIns="0" rtlCol="0" anchor="ctr"/>
          <a:lstStyle/>
          <a:p>
            <a:pPr indent="0" marL="0">
              <a:buNone/>
            </a:pPr>
            <a:r>
              <a:rPr lang="en-US" sz="1250" strike="sngStrike" dirty="0">
                <a:solidFill>
                  <a:srgbClr val="6B5B4B"/>
                </a:solidFill>
                <a:latin typeface="Calibri" pitchFamily="34" charset="0"/>
                <a:ea typeface="Calibri" pitchFamily="34" charset="-122"/>
                <a:cs typeface="Calibri" pitchFamily="34" charset="-120"/>
              </a:rPr>
              <a:t>the guest is wrong</a:t>
            </a:r>
            <a:endParaRPr lang="en-US" sz="1250" dirty="0"/>
          </a:p>
        </p:txBody>
      </p:sp>
      <p:sp>
        <p:nvSpPr>
          <p:cNvPr id="27" name="Text 25"/>
          <p:cNvSpPr/>
          <p:nvPr/>
        </p:nvSpPr>
        <p:spPr>
          <a:xfrm>
            <a:off x="4178808" y="4974336"/>
            <a:ext cx="320040" cy="438912"/>
          </a:xfrm>
          <a:prstGeom prst="rect">
            <a:avLst/>
          </a:prstGeom>
          <a:noFill/>
          <a:ln/>
        </p:spPr>
        <p:txBody>
          <a:bodyPr wrap="square" lIns="0" tIns="0" rIns="0" bIns="0" rtlCol="0" anchor="ctr"/>
          <a:lstStyle/>
          <a:p>
            <a:pPr algn="ctr" indent="0" marL="0">
              <a:buNone/>
            </a:pPr>
            <a:r>
              <a:rPr lang="en-US" sz="1300" b="1" dirty="0">
                <a:solidFill>
                  <a:srgbClr val="B0812F"/>
                </a:solidFill>
                <a:latin typeface="Calibri" pitchFamily="34" charset="0"/>
                <a:ea typeface="Calibri" pitchFamily="34" charset="-122"/>
                <a:cs typeface="Calibri" pitchFamily="34" charset="-120"/>
              </a:rPr>
              <a:t>→</a:t>
            </a:r>
            <a:endParaRPr lang="en-US" sz="1300" dirty="0"/>
          </a:p>
        </p:txBody>
      </p:sp>
      <p:sp>
        <p:nvSpPr>
          <p:cNvPr id="28" name="Text 26"/>
          <p:cNvSpPr/>
          <p:nvPr/>
        </p:nvSpPr>
        <p:spPr>
          <a:xfrm>
            <a:off x="4544568" y="4974336"/>
            <a:ext cx="7080199" cy="438912"/>
          </a:xfrm>
          <a:prstGeom prst="rect">
            <a:avLst/>
          </a:prstGeom>
          <a:noFill/>
          <a:ln/>
        </p:spPr>
        <p:txBody>
          <a:bodyPr wrap="square" lIns="0" tIns="0" rIns="0" bIns="0" rtlCol="0" anchor="ctr"/>
          <a:lstStyle/>
          <a:p>
            <a:pPr indent="0" marL="0">
              <a:buNone/>
            </a:pPr>
            <a:r>
              <a:rPr lang="en-US" sz="1250" b="1" dirty="0">
                <a:solidFill>
                  <a:srgbClr val="59201C"/>
                </a:solidFill>
                <a:latin typeface="Calibri" pitchFamily="34" charset="0"/>
                <a:ea typeface="Calibri" pitchFamily="34" charset="-122"/>
                <a:cs typeface="Calibri" pitchFamily="34" charset="-120"/>
              </a:rPr>
              <a:t>“Let me get that closer to perfect for you”</a:t>
            </a:r>
            <a:endParaRPr lang="en-US" sz="1250" dirty="0"/>
          </a:p>
        </p:txBody>
      </p:sp>
      <p:sp>
        <p:nvSpPr>
          <p:cNvPr id="29" name="Shape 27"/>
          <p:cNvSpPr/>
          <p:nvPr/>
        </p:nvSpPr>
        <p:spPr>
          <a:xfrm>
            <a:off x="566928" y="5468112"/>
            <a:ext cx="11057839" cy="749808"/>
          </a:xfrm>
          <a:prstGeom prst="roundRect">
            <a:avLst>
              <a:gd name="adj" fmla="val 7317"/>
            </a:avLst>
          </a:prstGeom>
          <a:solidFill>
            <a:srgbClr val="F3E7E4"/>
          </a:solidFill>
          <a:ln w="12700">
            <a:solidFill>
              <a:srgbClr val="E2CCC7"/>
            </a:solidFill>
            <a:prstDash val="solid"/>
          </a:ln>
        </p:spPr>
      </p:sp>
      <p:sp>
        <p:nvSpPr>
          <p:cNvPr id="30" name="Text 28"/>
          <p:cNvSpPr/>
          <p:nvPr/>
        </p:nvSpPr>
        <p:spPr>
          <a:xfrm>
            <a:off x="768096" y="5541264"/>
            <a:ext cx="10655503" cy="603504"/>
          </a:xfrm>
          <a:prstGeom prst="rect">
            <a:avLst/>
          </a:prstGeom>
          <a:noFill/>
          <a:ln/>
        </p:spPr>
        <p:txBody>
          <a:bodyPr wrap="square" lIns="0" tIns="0" rIns="0" bIns="0" rtlCol="0" anchor="ctr"/>
          <a:lstStyle/>
          <a:p>
            <a:pPr indent="0" marL="0">
              <a:lnSpc>
                <a:spcPts val="1600"/>
              </a:lnSpc>
              <a:buNone/>
            </a:pPr>
            <a:r>
              <a:rPr lang="en-US" sz="1250" b="1" dirty="0">
                <a:solidFill>
                  <a:srgbClr val="59201C"/>
                </a:solidFill>
                <a:latin typeface="Calibri" pitchFamily="34" charset="0"/>
                <a:ea typeface="Calibri" pitchFamily="34" charset="-122"/>
                <a:cs typeface="Calibri" pitchFamily="34" charset="-120"/>
              </a:rPr>
              <a:t>And always:  </a:t>
            </a:r>
            <a:pPr indent="0" marL="0">
              <a:lnSpc>
                <a:spcPts val="1600"/>
              </a:lnSpc>
              <a:buNone/>
            </a:pPr>
            <a:r>
              <a:rPr lang="en-US" sz="1250" dirty="0">
                <a:solidFill>
                  <a:srgbClr val="2B2118"/>
                </a:solidFill>
                <a:latin typeface="Calibri" pitchFamily="34" charset="0"/>
                <a:ea typeface="Calibri" pitchFamily="34" charset="-122"/>
                <a:cs typeface="Calibri" pitchFamily="34" charset="-120"/>
              </a:rPr>
              <a:t>they are guests, never customers. We prepare food, we do not make it. A dish is plated. Describe texture and feeling — “it melts,” “it crackles,” “the sauce clings.”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59201C"/>
        </a:solidFill>
      </p:bgPr>
    </p:bg>
    <p:spTree>
      <p:nvGrpSpPr>
        <p:cNvPr id="1" name=""/>
        <p:cNvGrpSpPr/>
        <p:nvPr/>
      </p:nvGrpSpPr>
      <p:grpSpPr>
        <a:xfrm>
          <a:off x="0" y="0"/>
          <a:ext cx="0" cy="0"/>
          <a:chOff x="0" y="0"/>
          <a:chExt cx="0" cy="0"/>
        </a:xfrm>
      </p:grpSpPr>
      <p:sp>
        <p:nvSpPr>
          <p:cNvPr id="2" name="Shape 0"/>
          <p:cNvSpPr/>
          <p:nvPr/>
        </p:nvSpPr>
        <p:spPr>
          <a:xfrm>
            <a:off x="566928" y="1737360"/>
            <a:ext cx="1051560" cy="1051560"/>
          </a:xfrm>
          <a:prstGeom prst="ellipse">
            <a:avLst/>
          </a:prstGeom>
          <a:solidFill>
            <a:srgbClr val="F7EFE4"/>
          </a:solidFill>
          <a:ln w="12700">
            <a:solidFill>
              <a:srgbClr val="F7EFE4"/>
            </a:solidFill>
            <a:prstDash val="solid"/>
          </a:ln>
        </p:spPr>
      </p:sp>
      <p:sp>
        <p:nvSpPr>
          <p:cNvPr id="3" name="Text 1"/>
          <p:cNvSpPr/>
          <p:nvPr/>
        </p:nvSpPr>
        <p:spPr>
          <a:xfrm>
            <a:off x="566928" y="1737360"/>
            <a:ext cx="1051560" cy="1051560"/>
          </a:xfrm>
          <a:prstGeom prst="rect">
            <a:avLst/>
          </a:prstGeom>
          <a:noFill/>
          <a:ln/>
        </p:spPr>
        <p:txBody>
          <a:bodyPr wrap="square" lIns="0" tIns="0" rIns="0" bIns="0" rtlCol="0" anchor="ctr"/>
          <a:lstStyle/>
          <a:p>
            <a:pPr algn="ctr" indent="0" marL="0">
              <a:buNone/>
            </a:pPr>
            <a:r>
              <a:rPr lang="en-US" sz="4000" b="1" dirty="0">
                <a:solidFill>
                  <a:srgbClr val="59201C"/>
                </a:solidFill>
                <a:latin typeface="Cambria" pitchFamily="34" charset="0"/>
                <a:ea typeface="Cambria" pitchFamily="34" charset="-122"/>
                <a:cs typeface="Cambria" pitchFamily="34" charset="-120"/>
              </a:rPr>
              <a:t>1</a:t>
            </a:r>
            <a:endParaRPr lang="en-US" sz="4000" dirty="0"/>
          </a:p>
        </p:txBody>
      </p:sp>
      <p:sp>
        <p:nvSpPr>
          <p:cNvPr id="4" name="Text 2"/>
          <p:cNvSpPr/>
          <p:nvPr/>
        </p:nvSpPr>
        <p:spPr>
          <a:xfrm>
            <a:off x="1938528" y="1700784"/>
            <a:ext cx="9686239" cy="786384"/>
          </a:xfrm>
          <a:prstGeom prst="rect">
            <a:avLst/>
          </a:prstGeom>
          <a:noFill/>
          <a:ln/>
        </p:spPr>
        <p:txBody>
          <a:bodyPr wrap="square" lIns="0" tIns="0" rIns="0" bIns="0" rtlCol="0" anchor="ctr"/>
          <a:lstStyle/>
          <a:p>
            <a:pPr indent="0" marL="0">
              <a:buNone/>
            </a:pPr>
            <a:r>
              <a:rPr lang="en-US" sz="4000" b="1" dirty="0">
                <a:solidFill>
                  <a:srgbClr val="F7EFE4"/>
                </a:solidFill>
                <a:latin typeface="Cambria" pitchFamily="34" charset="0"/>
                <a:ea typeface="Cambria" pitchFamily="34" charset="-122"/>
                <a:cs typeface="Cambria" pitchFamily="34" charset="-120"/>
              </a:rPr>
              <a:t>Orientation</a:t>
            </a:r>
            <a:endParaRPr lang="en-US" sz="4000" dirty="0"/>
          </a:p>
        </p:txBody>
      </p:sp>
      <p:sp>
        <p:nvSpPr>
          <p:cNvPr id="5" name="Text 3"/>
          <p:cNvSpPr/>
          <p:nvPr/>
        </p:nvSpPr>
        <p:spPr>
          <a:xfrm>
            <a:off x="1938528" y="2542032"/>
            <a:ext cx="9686239" cy="1371600"/>
          </a:xfrm>
          <a:prstGeom prst="rect">
            <a:avLst/>
          </a:prstGeom>
          <a:noFill/>
          <a:ln/>
        </p:spPr>
        <p:txBody>
          <a:bodyPr wrap="square" lIns="0" tIns="0" rIns="0" bIns="0" rtlCol="0" anchor="ctr"/>
          <a:lstStyle/>
          <a:p>
            <a:pPr indent="0" marL="0">
              <a:lnSpc>
                <a:spcPts val="2100"/>
              </a:lnSpc>
              <a:buNone/>
            </a:pPr>
            <a:r>
              <a:rPr lang="en-US" sz="1400" i="1" dirty="0">
                <a:solidFill>
                  <a:srgbClr val="E8D6C8"/>
                </a:solidFill>
                <a:latin typeface="Calibri" pitchFamily="34" charset="0"/>
                <a:ea typeface="Calibri" pitchFamily="34" charset="-122"/>
                <a:cs typeface="Calibri" pitchFamily="34" charset="-120"/>
              </a:rPr>
              <a:t>Introductions, the Points of Passion, why we do things our specific way, onboarding paperwork, and the vocabulary. About three hours.</a:t>
            </a:r>
            <a:endParaRPr lang="en-US" sz="1400" dirty="0"/>
          </a:p>
        </p:txBody>
      </p:sp>
      <p:sp>
        <p:nvSpPr>
          <p:cNvPr id="6" name="Text 4"/>
          <p:cNvSpPr/>
          <p:nvPr/>
        </p:nvSpPr>
        <p:spPr>
          <a:xfrm>
            <a:off x="566928" y="6199632"/>
            <a:ext cx="11057839" cy="274320"/>
          </a:xfrm>
          <a:prstGeom prst="rect">
            <a:avLst/>
          </a:prstGeom>
          <a:noFill/>
          <a:ln/>
        </p:spPr>
        <p:txBody>
          <a:bodyPr wrap="square" lIns="0" tIns="0" rIns="0" bIns="0" rtlCol="0" anchor="ctr"/>
          <a:lstStyle/>
          <a:p>
            <a:pPr indent="0" marL="0">
              <a:buNone/>
            </a:pPr>
            <a:r>
              <a:rPr lang="en-US" sz="1050" dirty="0">
                <a:solidFill>
                  <a:srgbClr val="C9A99A"/>
                </a:solidFill>
                <a:latin typeface="Calibri" pitchFamily="34" charset="0"/>
                <a:ea typeface="Calibri" pitchFamily="34" charset="-122"/>
                <a:cs typeface="Calibri" pitchFamily="34" charset="-120"/>
              </a:rPr>
              <a:t>From the original Mo's Training Itinerary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Welcome to Mo's</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The house philosophy, straight from the handbook</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1 — Orientation</a:t>
            </a:r>
            <a:endParaRPr lang="en-US" sz="950" dirty="0"/>
          </a:p>
        </p:txBody>
      </p:sp>
      <p:sp>
        <p:nvSpPr>
          <p:cNvPr id="5" name="Text 3"/>
          <p:cNvSpPr/>
          <p:nvPr/>
        </p:nvSpPr>
        <p:spPr>
          <a:xfrm>
            <a:off x="566928" y="1481328"/>
            <a:ext cx="11057839" cy="786384"/>
          </a:xfrm>
          <a:prstGeom prst="rect">
            <a:avLst/>
          </a:prstGeom>
          <a:noFill/>
          <a:ln/>
        </p:spPr>
        <p:txBody>
          <a:bodyPr wrap="square" lIns="0" tIns="0" rIns="0" bIns="0" rtlCol="0" anchor="ctr"/>
          <a:lstStyle/>
          <a:p>
            <a:pPr indent="0" marL="0">
              <a:lnSpc>
                <a:spcPts val="2500"/>
              </a:lnSpc>
              <a:buNone/>
            </a:pPr>
            <a:r>
              <a:rPr lang="en-US" sz="1700" i="1" dirty="0">
                <a:solidFill>
                  <a:srgbClr val="59201C"/>
                </a:solidFill>
                <a:latin typeface="Cambria" pitchFamily="34" charset="0"/>
                <a:ea typeface="Cambria" pitchFamily="34" charset="-122"/>
                <a:cs typeface="Cambria" pitchFamily="34" charset="-120"/>
              </a:rPr>
              <a:t>Service and products above and beyond the guest's expectations — every employee, chef to coat check, taking pride in every action, so each guest leaves with a positive memory of the Mo's Experience.</a:t>
            </a:r>
            <a:endParaRPr lang="en-US" sz="1700" dirty="0"/>
          </a:p>
        </p:txBody>
      </p:sp>
      <p:sp>
        <p:nvSpPr>
          <p:cNvPr id="6" name="Text 4"/>
          <p:cNvSpPr/>
          <p:nvPr/>
        </p:nvSpPr>
        <p:spPr>
          <a:xfrm>
            <a:off x="566928" y="2286000"/>
            <a:ext cx="11057839" cy="457200"/>
          </a:xfrm>
          <a:prstGeom prst="rect">
            <a:avLst/>
          </a:prstGeom>
          <a:noFill/>
          <a:ln/>
        </p:spPr>
        <p:txBody>
          <a:bodyPr wrap="square" lIns="0" tIns="0" rIns="0" bIns="0" rtlCol="0" anchor="ctr"/>
          <a:lstStyle/>
          <a:p>
            <a:pPr indent="0" marL="0">
              <a:lnSpc>
                <a:spcPts val="1700"/>
              </a:lnSpc>
              <a:buNone/>
            </a:pPr>
            <a:r>
              <a:rPr lang="en-US" sz="1250" dirty="0">
                <a:solidFill>
                  <a:srgbClr val="6B5B4B"/>
                </a:solidFill>
                <a:latin typeface="Calibri" pitchFamily="34" charset="0"/>
                <a:ea typeface="Calibri" pitchFamily="34" charset="-122"/>
                <a:cs typeface="Calibri" pitchFamily="34" charset="-120"/>
              </a:rPr>
              <a:t>Restaurants that project the million-dollar image make better profits and stand up to the finest competition. We are that restaurant on the south side.</a:t>
            </a:r>
            <a:endParaRPr lang="en-US" sz="1250" dirty="0"/>
          </a:p>
        </p:txBody>
      </p:sp>
      <p:sp>
        <p:nvSpPr>
          <p:cNvPr id="7" name="Shape 5"/>
          <p:cNvSpPr/>
          <p:nvPr/>
        </p:nvSpPr>
        <p:spPr>
          <a:xfrm>
            <a:off x="566928" y="2907792"/>
            <a:ext cx="2613584" cy="1417320"/>
          </a:xfrm>
          <a:prstGeom prst="roundRect">
            <a:avLst>
              <a:gd name="adj" fmla="val 3871"/>
            </a:avLst>
          </a:prstGeom>
          <a:solidFill>
            <a:srgbClr val="F2E9D8"/>
          </a:solidFill>
          <a:ln w="12700">
            <a:solidFill>
              <a:srgbClr val="E4D8C0"/>
            </a:solidFill>
            <a:prstDash val="solid"/>
          </a:ln>
        </p:spPr>
      </p:sp>
      <p:sp>
        <p:nvSpPr>
          <p:cNvPr id="8" name="Text 6"/>
          <p:cNvSpPr/>
          <p:nvPr/>
        </p:nvSpPr>
        <p:spPr>
          <a:xfrm>
            <a:off x="749808" y="3054096"/>
            <a:ext cx="224782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Chef Miguel Garatachea</a:t>
            </a:r>
            <a:endParaRPr lang="en-US" sz="1450" dirty="0"/>
          </a:p>
        </p:txBody>
      </p:sp>
      <p:sp>
        <p:nvSpPr>
          <p:cNvPr id="9" name="Text 7"/>
          <p:cNvSpPr/>
          <p:nvPr/>
        </p:nvSpPr>
        <p:spPr>
          <a:xfrm>
            <a:off x="749808" y="3364992"/>
            <a:ext cx="224782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Executive Chef</a:t>
            </a:r>
            <a:endParaRPr lang="en-US" sz="1100" dirty="0"/>
          </a:p>
        </p:txBody>
      </p:sp>
      <p:sp>
        <p:nvSpPr>
          <p:cNvPr id="10" name="Text 8"/>
          <p:cNvSpPr/>
          <p:nvPr/>
        </p:nvSpPr>
        <p:spPr>
          <a:xfrm>
            <a:off x="749808" y="3621024"/>
            <a:ext cx="2247824" cy="557784"/>
          </a:xfrm>
          <a:prstGeom prst="rect">
            <a:avLst/>
          </a:prstGeom>
          <a:noFill/>
          <a:ln/>
        </p:spPr>
        <p:txBody>
          <a:bodyPr wrap="square" lIns="0" tIns="0" rIns="0" bIns="0" rtlCol="0" anchor="t"/>
          <a:lstStyle/>
          <a:p>
            <a:pPr indent="0" marL="0">
              <a:lnSpc>
                <a:spcPts val="1400"/>
              </a:lnSpc>
              <a:buNone/>
            </a:pPr>
            <a:r>
              <a:rPr lang="en-US" sz="1050" dirty="0">
                <a:solidFill>
                  <a:srgbClr val="2B2118"/>
                </a:solidFill>
                <a:latin typeface="Calibri" pitchFamily="34" charset="0"/>
                <a:ea typeface="Calibri" pitchFamily="34" charset="-122"/>
                <a:cs typeface="Calibri" pitchFamily="34" charset="-120"/>
              </a:rPr>
              <a:t>Leads the kitchen. Use his name when you pitch the food — it adds weight.</a:t>
            </a:r>
            <a:endParaRPr lang="en-US" sz="1050" dirty="0"/>
          </a:p>
        </p:txBody>
      </p:sp>
      <p:sp>
        <p:nvSpPr>
          <p:cNvPr id="11" name="Shape 9"/>
          <p:cNvSpPr/>
          <p:nvPr/>
        </p:nvSpPr>
        <p:spPr>
          <a:xfrm>
            <a:off x="3381680" y="2907792"/>
            <a:ext cx="2613584" cy="1417320"/>
          </a:xfrm>
          <a:prstGeom prst="roundRect">
            <a:avLst>
              <a:gd name="adj" fmla="val 3871"/>
            </a:avLst>
          </a:prstGeom>
          <a:solidFill>
            <a:srgbClr val="F2E9D8"/>
          </a:solidFill>
          <a:ln w="12700">
            <a:solidFill>
              <a:srgbClr val="E4D8C0"/>
            </a:solidFill>
            <a:prstDash val="solid"/>
          </a:ln>
        </p:spPr>
      </p:sp>
      <p:sp>
        <p:nvSpPr>
          <p:cNvPr id="12" name="Text 10"/>
          <p:cNvSpPr/>
          <p:nvPr/>
        </p:nvSpPr>
        <p:spPr>
          <a:xfrm>
            <a:off x="3564560" y="3054096"/>
            <a:ext cx="224782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Mike Pavey</a:t>
            </a:r>
            <a:endParaRPr lang="en-US" sz="1450" dirty="0"/>
          </a:p>
        </p:txBody>
      </p:sp>
      <p:sp>
        <p:nvSpPr>
          <p:cNvPr id="13" name="Text 11"/>
          <p:cNvSpPr/>
          <p:nvPr/>
        </p:nvSpPr>
        <p:spPr>
          <a:xfrm>
            <a:off x="3564560" y="3364992"/>
            <a:ext cx="224782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General Manager</a:t>
            </a:r>
            <a:endParaRPr lang="en-US" sz="1100" dirty="0"/>
          </a:p>
        </p:txBody>
      </p:sp>
      <p:sp>
        <p:nvSpPr>
          <p:cNvPr id="14" name="Text 12"/>
          <p:cNvSpPr/>
          <p:nvPr/>
        </p:nvSpPr>
        <p:spPr>
          <a:xfrm>
            <a:off x="3564560" y="3621024"/>
            <a:ext cx="2247824" cy="557784"/>
          </a:xfrm>
          <a:prstGeom prst="rect">
            <a:avLst/>
          </a:prstGeom>
          <a:noFill/>
          <a:ln/>
        </p:spPr>
        <p:txBody>
          <a:bodyPr wrap="square" lIns="0" tIns="0" rIns="0" bIns="0" rtlCol="0" anchor="t"/>
          <a:lstStyle/>
          <a:p>
            <a:pPr indent="0" marL="0">
              <a:lnSpc>
                <a:spcPts val="1400"/>
              </a:lnSpc>
              <a:buNone/>
            </a:pPr>
            <a:r>
              <a:rPr lang="en-US" sz="1050" dirty="0">
                <a:solidFill>
                  <a:srgbClr val="2B2118"/>
                </a:solidFill>
                <a:latin typeface="Calibri" pitchFamily="34" charset="0"/>
                <a:ea typeface="Calibri" pitchFamily="34" charset="-122"/>
                <a:cs typeface="Calibri" pitchFamily="34" charset="-120"/>
              </a:rPr>
              <a:t>Shift switches go through the GM only.</a:t>
            </a:r>
            <a:endParaRPr lang="en-US" sz="1050" dirty="0"/>
          </a:p>
        </p:txBody>
      </p:sp>
      <p:sp>
        <p:nvSpPr>
          <p:cNvPr id="15" name="Shape 13"/>
          <p:cNvSpPr/>
          <p:nvPr/>
        </p:nvSpPr>
        <p:spPr>
          <a:xfrm>
            <a:off x="6196432" y="2907792"/>
            <a:ext cx="2613584" cy="1417320"/>
          </a:xfrm>
          <a:prstGeom prst="roundRect">
            <a:avLst>
              <a:gd name="adj" fmla="val 3871"/>
            </a:avLst>
          </a:prstGeom>
          <a:solidFill>
            <a:srgbClr val="F2E9D8"/>
          </a:solidFill>
          <a:ln w="12700">
            <a:solidFill>
              <a:srgbClr val="E4D8C0"/>
            </a:solidFill>
            <a:prstDash val="solid"/>
          </a:ln>
        </p:spPr>
      </p:sp>
      <p:sp>
        <p:nvSpPr>
          <p:cNvPr id="16" name="Text 14"/>
          <p:cNvSpPr/>
          <p:nvPr/>
        </p:nvSpPr>
        <p:spPr>
          <a:xfrm>
            <a:off x="6379312" y="3054096"/>
            <a:ext cx="224782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Craig DeVaney</a:t>
            </a:r>
            <a:endParaRPr lang="en-US" sz="1450" dirty="0"/>
          </a:p>
        </p:txBody>
      </p:sp>
      <p:sp>
        <p:nvSpPr>
          <p:cNvPr id="17" name="Text 15"/>
          <p:cNvSpPr/>
          <p:nvPr/>
        </p:nvSpPr>
        <p:spPr>
          <a:xfrm>
            <a:off x="6379312" y="3364992"/>
            <a:ext cx="224782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Assistant GM</a:t>
            </a:r>
            <a:endParaRPr lang="en-US" sz="1100" dirty="0"/>
          </a:p>
        </p:txBody>
      </p:sp>
      <p:sp>
        <p:nvSpPr>
          <p:cNvPr id="18" name="Text 16"/>
          <p:cNvSpPr/>
          <p:nvPr/>
        </p:nvSpPr>
        <p:spPr>
          <a:xfrm>
            <a:off x="6379312" y="3621024"/>
            <a:ext cx="2247824" cy="557784"/>
          </a:xfrm>
          <a:prstGeom prst="rect">
            <a:avLst/>
          </a:prstGeom>
          <a:noFill/>
          <a:ln/>
        </p:spPr>
        <p:txBody>
          <a:bodyPr wrap="square" lIns="0" tIns="0" rIns="0" bIns="0" rtlCol="0" anchor="t"/>
          <a:lstStyle/>
          <a:p>
            <a:pPr indent="0" marL="0">
              <a:lnSpc>
                <a:spcPts val="1400"/>
              </a:lnSpc>
              <a:buNone/>
            </a:pPr>
            <a:r>
              <a:rPr lang="en-US" sz="1050" dirty="0">
                <a:solidFill>
                  <a:srgbClr val="2B2118"/>
                </a:solidFill>
                <a:latin typeface="Calibri" pitchFamily="34" charset="0"/>
                <a:ea typeface="Calibri" pitchFamily="34" charset="-122"/>
                <a:cs typeface="Calibri" pitchFamily="34" charset="-120"/>
              </a:rPr>
              <a:t>Second in the building.</a:t>
            </a:r>
            <a:endParaRPr lang="en-US" sz="1050" dirty="0"/>
          </a:p>
        </p:txBody>
      </p:sp>
      <p:sp>
        <p:nvSpPr>
          <p:cNvPr id="19" name="Shape 17"/>
          <p:cNvSpPr/>
          <p:nvPr/>
        </p:nvSpPr>
        <p:spPr>
          <a:xfrm>
            <a:off x="9011183" y="2907792"/>
            <a:ext cx="2613584" cy="1417320"/>
          </a:xfrm>
          <a:prstGeom prst="roundRect">
            <a:avLst>
              <a:gd name="adj" fmla="val 3871"/>
            </a:avLst>
          </a:prstGeom>
          <a:solidFill>
            <a:srgbClr val="F2E9D8"/>
          </a:solidFill>
          <a:ln w="12700">
            <a:solidFill>
              <a:srgbClr val="E4D8C0"/>
            </a:solidFill>
            <a:prstDash val="solid"/>
          </a:ln>
        </p:spPr>
      </p:sp>
      <p:sp>
        <p:nvSpPr>
          <p:cNvPr id="20" name="Text 18"/>
          <p:cNvSpPr/>
          <p:nvPr/>
        </p:nvSpPr>
        <p:spPr>
          <a:xfrm>
            <a:off x="9194063" y="3054096"/>
            <a:ext cx="224782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Lillian Speedy</a:t>
            </a:r>
            <a:endParaRPr lang="en-US" sz="1450" dirty="0"/>
          </a:p>
        </p:txBody>
      </p:sp>
      <p:sp>
        <p:nvSpPr>
          <p:cNvPr id="21" name="Text 19"/>
          <p:cNvSpPr/>
          <p:nvPr/>
        </p:nvSpPr>
        <p:spPr>
          <a:xfrm>
            <a:off x="9194063" y="3364992"/>
            <a:ext cx="224782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Director of HR</a:t>
            </a:r>
            <a:endParaRPr lang="en-US" sz="1100" dirty="0"/>
          </a:p>
        </p:txBody>
      </p:sp>
      <p:sp>
        <p:nvSpPr>
          <p:cNvPr id="22" name="Text 20"/>
          <p:cNvSpPr/>
          <p:nvPr/>
        </p:nvSpPr>
        <p:spPr>
          <a:xfrm>
            <a:off x="9194063" y="3621024"/>
            <a:ext cx="2247824" cy="557784"/>
          </a:xfrm>
          <a:prstGeom prst="rect">
            <a:avLst/>
          </a:prstGeom>
          <a:noFill/>
          <a:ln/>
        </p:spPr>
        <p:txBody>
          <a:bodyPr wrap="square" lIns="0" tIns="0" rIns="0" bIns="0" rtlCol="0" anchor="t"/>
          <a:lstStyle/>
          <a:p>
            <a:pPr indent="0" marL="0">
              <a:lnSpc>
                <a:spcPts val="1400"/>
              </a:lnSpc>
              <a:buNone/>
            </a:pPr>
            <a:r>
              <a:rPr lang="en-US" sz="1050" dirty="0">
                <a:solidFill>
                  <a:srgbClr val="2B2118"/>
                </a:solidFill>
                <a:latin typeface="Calibri" pitchFamily="34" charset="0"/>
                <a:ea typeface="Calibri" pitchFamily="34" charset="-122"/>
                <a:cs typeface="Calibri" pitchFamily="34" charset="-120"/>
              </a:rPr>
              <a:t>Books every banquet in the building.</a:t>
            </a:r>
            <a:endParaRPr lang="en-US" sz="1050" dirty="0"/>
          </a:p>
        </p:txBody>
      </p:sp>
      <p:sp>
        <p:nvSpPr>
          <p:cNvPr id="23" name="Shape 21"/>
          <p:cNvSpPr/>
          <p:nvPr/>
        </p:nvSpPr>
        <p:spPr>
          <a:xfrm>
            <a:off x="566928" y="4526280"/>
            <a:ext cx="11057839" cy="749808"/>
          </a:xfrm>
          <a:prstGeom prst="roundRect">
            <a:avLst>
              <a:gd name="adj" fmla="val 7317"/>
            </a:avLst>
          </a:prstGeom>
          <a:solidFill>
            <a:srgbClr val="F3E7E4"/>
          </a:solidFill>
          <a:ln w="12700">
            <a:solidFill>
              <a:srgbClr val="E2CCC7"/>
            </a:solidFill>
            <a:prstDash val="solid"/>
          </a:ln>
        </p:spPr>
      </p:sp>
      <p:sp>
        <p:nvSpPr>
          <p:cNvPr id="24" name="Text 22"/>
          <p:cNvSpPr/>
          <p:nvPr/>
        </p:nvSpPr>
        <p:spPr>
          <a:xfrm>
            <a:off x="768096" y="4599432"/>
            <a:ext cx="10655503" cy="603504"/>
          </a:xfrm>
          <a:prstGeom prst="rect">
            <a:avLst/>
          </a:prstGeom>
          <a:noFill/>
          <a:ln/>
        </p:spPr>
        <p:txBody>
          <a:bodyPr wrap="square" lIns="0" tIns="0" rIns="0" bIns="0" rtlCol="0" anchor="ctr"/>
          <a:lstStyle/>
          <a:p>
            <a:pPr indent="0" marL="0">
              <a:lnSpc>
                <a:spcPts val="1600"/>
              </a:lnSpc>
              <a:buNone/>
            </a:pPr>
            <a:r>
              <a:rPr lang="en-US" sz="1250" b="1" dirty="0">
                <a:solidFill>
                  <a:srgbClr val="59201C"/>
                </a:solidFill>
                <a:latin typeface="Calibri" pitchFamily="34" charset="0"/>
                <a:ea typeface="Calibri" pitchFamily="34" charset="-122"/>
                <a:cs typeface="Calibri" pitchFamily="34" charset="-120"/>
              </a:rPr>
              <a:t>Lineup is 4:15 every day.  </a:t>
            </a:r>
            <a:pPr indent="0" marL="0">
              <a:lnSpc>
                <a:spcPts val="1600"/>
              </a:lnSpc>
              <a:buNone/>
            </a:pPr>
            <a:r>
              <a:rPr lang="en-US" sz="1250" dirty="0">
                <a:solidFill>
                  <a:srgbClr val="2B2118"/>
                </a:solidFill>
                <a:latin typeface="Calibri" pitchFamily="34" charset="0"/>
                <a:ea typeface="Calibri" pitchFamily="34" charset="-122"/>
                <a:cs typeface="Calibri" pitchFamily="34" charset="-120"/>
              </a:rPr>
              <a:t>Manager on duty covers teams, floor plan, need-to-knows, soup of the day, specials, and recent reviews. Be there, in uniform, ready.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The Points of Passion</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The culture, one through eight. Learn them as ideas, not flash cards.</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1 — Orientation</a:t>
            </a:r>
            <a:endParaRPr lang="en-US" sz="950" dirty="0"/>
          </a:p>
        </p:txBody>
      </p:sp>
      <p:sp>
        <p:nvSpPr>
          <p:cNvPr id="5" name="Shape 3"/>
          <p:cNvSpPr/>
          <p:nvPr/>
        </p:nvSpPr>
        <p:spPr>
          <a:xfrm>
            <a:off x="566928" y="1508760"/>
            <a:ext cx="365760" cy="365760"/>
          </a:xfrm>
          <a:prstGeom prst="ellipse">
            <a:avLst/>
          </a:prstGeom>
          <a:solidFill>
            <a:srgbClr val="59201C"/>
          </a:solidFill>
          <a:ln w="12700">
            <a:solidFill>
              <a:srgbClr val="59201C"/>
            </a:solidFill>
            <a:prstDash val="solid"/>
          </a:ln>
        </p:spPr>
      </p:sp>
      <p:sp>
        <p:nvSpPr>
          <p:cNvPr id="6" name="Text 4"/>
          <p:cNvSpPr/>
          <p:nvPr/>
        </p:nvSpPr>
        <p:spPr>
          <a:xfrm>
            <a:off x="566928" y="150876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1</a:t>
            </a:r>
            <a:endParaRPr lang="en-US" sz="1250" dirty="0"/>
          </a:p>
        </p:txBody>
      </p:sp>
      <p:sp>
        <p:nvSpPr>
          <p:cNvPr id="7" name="Text 5"/>
          <p:cNvSpPr/>
          <p:nvPr/>
        </p:nvSpPr>
        <p:spPr>
          <a:xfrm>
            <a:off x="1069848" y="1481328"/>
            <a:ext cx="10554919" cy="531495"/>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1% Less Is The New Standard.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Settle for 1% less each week for a year and you run a restaurant at 48% of expectations.</a:t>
            </a:r>
            <a:endParaRPr lang="en-US" sz="1300" dirty="0"/>
          </a:p>
        </p:txBody>
      </p:sp>
      <p:sp>
        <p:nvSpPr>
          <p:cNvPr id="8" name="Shape 6"/>
          <p:cNvSpPr/>
          <p:nvPr/>
        </p:nvSpPr>
        <p:spPr>
          <a:xfrm>
            <a:off x="566928" y="2095119"/>
            <a:ext cx="365760" cy="365760"/>
          </a:xfrm>
          <a:prstGeom prst="ellipse">
            <a:avLst/>
          </a:prstGeom>
          <a:solidFill>
            <a:srgbClr val="59201C"/>
          </a:solidFill>
          <a:ln w="12700">
            <a:solidFill>
              <a:srgbClr val="59201C"/>
            </a:solidFill>
            <a:prstDash val="solid"/>
          </a:ln>
        </p:spPr>
      </p:sp>
      <p:sp>
        <p:nvSpPr>
          <p:cNvPr id="9" name="Text 7"/>
          <p:cNvSpPr/>
          <p:nvPr/>
        </p:nvSpPr>
        <p:spPr>
          <a:xfrm>
            <a:off x="566928" y="2095119"/>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2</a:t>
            </a:r>
            <a:endParaRPr lang="en-US" sz="1250" dirty="0"/>
          </a:p>
        </p:txBody>
      </p:sp>
      <p:sp>
        <p:nvSpPr>
          <p:cNvPr id="10" name="Text 8"/>
          <p:cNvSpPr/>
          <p:nvPr/>
        </p:nvSpPr>
        <p:spPr>
          <a:xfrm>
            <a:off x="1069848" y="2067687"/>
            <a:ext cx="10554919" cy="531495"/>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Applied Knowledge Is Power.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Not how smart you are — how you use it. Preparation creates confidence, and confidence is power.</a:t>
            </a:r>
            <a:endParaRPr lang="en-US" sz="1300" dirty="0"/>
          </a:p>
        </p:txBody>
      </p:sp>
      <p:sp>
        <p:nvSpPr>
          <p:cNvPr id="11" name="Shape 9"/>
          <p:cNvSpPr/>
          <p:nvPr/>
        </p:nvSpPr>
        <p:spPr>
          <a:xfrm>
            <a:off x="566928" y="2681478"/>
            <a:ext cx="365760" cy="365760"/>
          </a:xfrm>
          <a:prstGeom prst="ellipse">
            <a:avLst/>
          </a:prstGeom>
          <a:solidFill>
            <a:srgbClr val="59201C"/>
          </a:solidFill>
          <a:ln w="12700">
            <a:solidFill>
              <a:srgbClr val="59201C"/>
            </a:solidFill>
            <a:prstDash val="solid"/>
          </a:ln>
        </p:spPr>
      </p:sp>
      <p:sp>
        <p:nvSpPr>
          <p:cNvPr id="12" name="Text 10"/>
          <p:cNvSpPr/>
          <p:nvPr/>
        </p:nvSpPr>
        <p:spPr>
          <a:xfrm>
            <a:off x="566928" y="2681478"/>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3</a:t>
            </a:r>
            <a:endParaRPr lang="en-US" sz="1250" dirty="0"/>
          </a:p>
        </p:txBody>
      </p:sp>
      <p:sp>
        <p:nvSpPr>
          <p:cNvPr id="13" name="Text 11"/>
          <p:cNvSpPr/>
          <p:nvPr/>
        </p:nvSpPr>
        <p:spPr>
          <a:xfrm>
            <a:off x="1069848" y="2654046"/>
            <a:ext cx="10554919" cy="531495"/>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Every Table, Every Time.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Skipping even one step robs that guest of a true Mo's experience.</a:t>
            </a:r>
            <a:endParaRPr lang="en-US" sz="1300" dirty="0"/>
          </a:p>
        </p:txBody>
      </p:sp>
      <p:sp>
        <p:nvSpPr>
          <p:cNvPr id="14" name="Shape 12"/>
          <p:cNvSpPr/>
          <p:nvPr/>
        </p:nvSpPr>
        <p:spPr>
          <a:xfrm>
            <a:off x="566928" y="3267837"/>
            <a:ext cx="365760" cy="365760"/>
          </a:xfrm>
          <a:prstGeom prst="ellipse">
            <a:avLst/>
          </a:prstGeom>
          <a:solidFill>
            <a:srgbClr val="59201C"/>
          </a:solidFill>
          <a:ln w="12700">
            <a:solidFill>
              <a:srgbClr val="59201C"/>
            </a:solidFill>
            <a:prstDash val="solid"/>
          </a:ln>
        </p:spPr>
      </p:sp>
      <p:sp>
        <p:nvSpPr>
          <p:cNvPr id="15" name="Text 13"/>
          <p:cNvSpPr/>
          <p:nvPr/>
        </p:nvSpPr>
        <p:spPr>
          <a:xfrm>
            <a:off x="566928" y="3267837"/>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4</a:t>
            </a:r>
            <a:endParaRPr lang="en-US" sz="1250" dirty="0"/>
          </a:p>
        </p:txBody>
      </p:sp>
      <p:sp>
        <p:nvSpPr>
          <p:cNvPr id="16" name="Text 14"/>
          <p:cNvSpPr/>
          <p:nvPr/>
        </p:nvSpPr>
        <p:spPr>
          <a:xfrm>
            <a:off x="1069848" y="3240405"/>
            <a:ext cx="10554919" cy="531495"/>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Protect Your Environment.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This is your house. Your job is only as good as you make it.</a:t>
            </a:r>
            <a:endParaRPr lang="en-US" sz="1300" dirty="0"/>
          </a:p>
        </p:txBody>
      </p:sp>
      <p:sp>
        <p:nvSpPr>
          <p:cNvPr id="17" name="Shape 15"/>
          <p:cNvSpPr/>
          <p:nvPr/>
        </p:nvSpPr>
        <p:spPr>
          <a:xfrm>
            <a:off x="566928" y="3854196"/>
            <a:ext cx="365760" cy="365760"/>
          </a:xfrm>
          <a:prstGeom prst="ellipse">
            <a:avLst/>
          </a:prstGeom>
          <a:solidFill>
            <a:srgbClr val="59201C"/>
          </a:solidFill>
          <a:ln w="12700">
            <a:solidFill>
              <a:srgbClr val="59201C"/>
            </a:solidFill>
            <a:prstDash val="solid"/>
          </a:ln>
        </p:spPr>
      </p:sp>
      <p:sp>
        <p:nvSpPr>
          <p:cNvPr id="18" name="Text 16"/>
          <p:cNvSpPr/>
          <p:nvPr/>
        </p:nvSpPr>
        <p:spPr>
          <a:xfrm>
            <a:off x="566928" y="3854196"/>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5</a:t>
            </a:r>
            <a:endParaRPr lang="en-US" sz="1250" dirty="0"/>
          </a:p>
        </p:txBody>
      </p:sp>
      <p:sp>
        <p:nvSpPr>
          <p:cNvPr id="19" name="Text 17"/>
          <p:cNvSpPr/>
          <p:nvPr/>
        </p:nvSpPr>
        <p:spPr>
          <a:xfrm>
            <a:off x="1069848" y="3826764"/>
            <a:ext cx="10554919" cy="531495"/>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Proactive vs Reactive.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See what could happen and stay ahead of it. Reactive people are looking for a paycheck.</a:t>
            </a:r>
            <a:endParaRPr lang="en-US" sz="1300" dirty="0"/>
          </a:p>
        </p:txBody>
      </p:sp>
      <p:sp>
        <p:nvSpPr>
          <p:cNvPr id="20" name="Shape 18"/>
          <p:cNvSpPr/>
          <p:nvPr/>
        </p:nvSpPr>
        <p:spPr>
          <a:xfrm>
            <a:off x="566928" y="4440555"/>
            <a:ext cx="365760" cy="365760"/>
          </a:xfrm>
          <a:prstGeom prst="ellipse">
            <a:avLst/>
          </a:prstGeom>
          <a:solidFill>
            <a:srgbClr val="59201C"/>
          </a:solidFill>
          <a:ln w="12700">
            <a:solidFill>
              <a:srgbClr val="59201C"/>
            </a:solidFill>
            <a:prstDash val="solid"/>
          </a:ln>
        </p:spPr>
      </p:sp>
      <p:sp>
        <p:nvSpPr>
          <p:cNvPr id="21" name="Text 19"/>
          <p:cNvSpPr/>
          <p:nvPr/>
        </p:nvSpPr>
        <p:spPr>
          <a:xfrm>
            <a:off x="566928" y="4440555"/>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6</a:t>
            </a:r>
            <a:endParaRPr lang="en-US" sz="1250" dirty="0"/>
          </a:p>
        </p:txBody>
      </p:sp>
      <p:sp>
        <p:nvSpPr>
          <p:cNvPr id="22" name="Text 20"/>
          <p:cNvSpPr/>
          <p:nvPr/>
        </p:nvSpPr>
        <p:spPr>
          <a:xfrm>
            <a:off x="1069848" y="4413123"/>
            <a:ext cx="10554919" cy="531495"/>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Customized Service.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“Happy 23rd Anniversary” beats “Happy Anniversary.” No matter how big we grow.</a:t>
            </a:r>
            <a:endParaRPr lang="en-US" sz="1300" dirty="0"/>
          </a:p>
        </p:txBody>
      </p:sp>
      <p:sp>
        <p:nvSpPr>
          <p:cNvPr id="23" name="Shape 21"/>
          <p:cNvSpPr/>
          <p:nvPr/>
        </p:nvSpPr>
        <p:spPr>
          <a:xfrm>
            <a:off x="566928" y="5026914"/>
            <a:ext cx="365760" cy="365760"/>
          </a:xfrm>
          <a:prstGeom prst="ellipse">
            <a:avLst/>
          </a:prstGeom>
          <a:solidFill>
            <a:srgbClr val="59201C"/>
          </a:solidFill>
          <a:ln w="12700">
            <a:solidFill>
              <a:srgbClr val="59201C"/>
            </a:solidFill>
            <a:prstDash val="solid"/>
          </a:ln>
        </p:spPr>
      </p:sp>
      <p:sp>
        <p:nvSpPr>
          <p:cNvPr id="24" name="Text 22"/>
          <p:cNvSpPr/>
          <p:nvPr/>
        </p:nvSpPr>
        <p:spPr>
          <a:xfrm>
            <a:off x="566928" y="5026914"/>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7</a:t>
            </a:r>
            <a:endParaRPr lang="en-US" sz="1250" dirty="0"/>
          </a:p>
        </p:txBody>
      </p:sp>
      <p:sp>
        <p:nvSpPr>
          <p:cNvPr id="25" name="Text 23"/>
          <p:cNvSpPr/>
          <p:nvPr/>
        </p:nvSpPr>
        <p:spPr>
          <a:xfrm>
            <a:off x="1069848" y="4999482"/>
            <a:ext cx="10554919" cy="531495"/>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Pennies, Nickels &amp; Dimes.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Act like the owner. Pull the ramekin out of the trash. Sell the desserts. It all adds up.</a:t>
            </a:r>
            <a:endParaRPr lang="en-US" sz="1300" dirty="0"/>
          </a:p>
        </p:txBody>
      </p:sp>
      <p:sp>
        <p:nvSpPr>
          <p:cNvPr id="26" name="Shape 24"/>
          <p:cNvSpPr/>
          <p:nvPr/>
        </p:nvSpPr>
        <p:spPr>
          <a:xfrm>
            <a:off x="566928" y="5613273"/>
            <a:ext cx="365760" cy="365760"/>
          </a:xfrm>
          <a:prstGeom prst="ellipse">
            <a:avLst/>
          </a:prstGeom>
          <a:solidFill>
            <a:srgbClr val="59201C"/>
          </a:solidFill>
          <a:ln w="12700">
            <a:solidFill>
              <a:srgbClr val="59201C"/>
            </a:solidFill>
            <a:prstDash val="solid"/>
          </a:ln>
        </p:spPr>
      </p:sp>
      <p:sp>
        <p:nvSpPr>
          <p:cNvPr id="27" name="Text 25"/>
          <p:cNvSpPr/>
          <p:nvPr/>
        </p:nvSpPr>
        <p:spPr>
          <a:xfrm>
            <a:off x="566928" y="5613273"/>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8</a:t>
            </a:r>
            <a:endParaRPr lang="en-US" sz="1250" dirty="0"/>
          </a:p>
        </p:txBody>
      </p:sp>
      <p:sp>
        <p:nvSpPr>
          <p:cNvPr id="28" name="Text 26"/>
          <p:cNvSpPr/>
          <p:nvPr/>
        </p:nvSpPr>
        <p:spPr>
          <a:xfrm>
            <a:off x="1069848" y="5585841"/>
            <a:ext cx="10554919" cy="531495"/>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Accountability.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Own your actions and your lack of action. Fear of conflict has no place here.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The Points of Passion</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Nine through sixteen</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1 — Orientation</a:t>
            </a:r>
            <a:endParaRPr lang="en-US" sz="950" dirty="0"/>
          </a:p>
        </p:txBody>
      </p:sp>
      <p:sp>
        <p:nvSpPr>
          <p:cNvPr id="5" name="Shape 3"/>
          <p:cNvSpPr/>
          <p:nvPr/>
        </p:nvSpPr>
        <p:spPr>
          <a:xfrm>
            <a:off x="566928" y="1508760"/>
            <a:ext cx="365760" cy="365760"/>
          </a:xfrm>
          <a:prstGeom prst="ellipse">
            <a:avLst/>
          </a:prstGeom>
          <a:solidFill>
            <a:srgbClr val="59201C"/>
          </a:solidFill>
          <a:ln w="12700">
            <a:solidFill>
              <a:srgbClr val="59201C"/>
            </a:solidFill>
            <a:prstDash val="solid"/>
          </a:ln>
        </p:spPr>
      </p:sp>
      <p:sp>
        <p:nvSpPr>
          <p:cNvPr id="6" name="Text 4"/>
          <p:cNvSpPr/>
          <p:nvPr/>
        </p:nvSpPr>
        <p:spPr>
          <a:xfrm>
            <a:off x="566928" y="150876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9</a:t>
            </a:r>
            <a:endParaRPr lang="en-US" sz="1250" dirty="0"/>
          </a:p>
        </p:txBody>
      </p:sp>
      <p:sp>
        <p:nvSpPr>
          <p:cNvPr id="7" name="Text 5"/>
          <p:cNvSpPr/>
          <p:nvPr/>
        </p:nvSpPr>
        <p:spPr>
          <a:xfrm>
            <a:off x="1069848" y="1481328"/>
            <a:ext cx="10554919" cy="531495"/>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Building Relationships.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Guest, then Regular, then VIP, then Friend. Level four is a guest for life.</a:t>
            </a:r>
            <a:endParaRPr lang="en-US" sz="1300" dirty="0"/>
          </a:p>
        </p:txBody>
      </p:sp>
      <p:sp>
        <p:nvSpPr>
          <p:cNvPr id="8" name="Shape 6"/>
          <p:cNvSpPr/>
          <p:nvPr/>
        </p:nvSpPr>
        <p:spPr>
          <a:xfrm>
            <a:off x="566928" y="2095119"/>
            <a:ext cx="365760" cy="365760"/>
          </a:xfrm>
          <a:prstGeom prst="ellipse">
            <a:avLst/>
          </a:prstGeom>
          <a:solidFill>
            <a:srgbClr val="59201C"/>
          </a:solidFill>
          <a:ln w="12700">
            <a:solidFill>
              <a:srgbClr val="59201C"/>
            </a:solidFill>
            <a:prstDash val="solid"/>
          </a:ln>
        </p:spPr>
      </p:sp>
      <p:sp>
        <p:nvSpPr>
          <p:cNvPr id="9" name="Text 7"/>
          <p:cNvSpPr/>
          <p:nvPr/>
        </p:nvSpPr>
        <p:spPr>
          <a:xfrm>
            <a:off x="566928" y="2095119"/>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10</a:t>
            </a:r>
            <a:endParaRPr lang="en-US" sz="1250" dirty="0"/>
          </a:p>
        </p:txBody>
      </p:sp>
      <p:sp>
        <p:nvSpPr>
          <p:cNvPr id="10" name="Text 8"/>
          <p:cNvSpPr/>
          <p:nvPr/>
        </p:nvSpPr>
        <p:spPr>
          <a:xfrm>
            <a:off x="1069848" y="2067687"/>
            <a:ext cx="10554919" cy="531495"/>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Follow The Recipe.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Not your way, not another place's way — the Mo's A Place For Steaks way.</a:t>
            </a:r>
            <a:endParaRPr lang="en-US" sz="1300" dirty="0"/>
          </a:p>
        </p:txBody>
      </p:sp>
      <p:sp>
        <p:nvSpPr>
          <p:cNvPr id="11" name="Shape 9"/>
          <p:cNvSpPr/>
          <p:nvPr/>
        </p:nvSpPr>
        <p:spPr>
          <a:xfrm>
            <a:off x="566928" y="2681478"/>
            <a:ext cx="365760" cy="365760"/>
          </a:xfrm>
          <a:prstGeom prst="ellipse">
            <a:avLst/>
          </a:prstGeom>
          <a:solidFill>
            <a:srgbClr val="59201C"/>
          </a:solidFill>
          <a:ln w="12700">
            <a:solidFill>
              <a:srgbClr val="59201C"/>
            </a:solidFill>
            <a:prstDash val="solid"/>
          </a:ln>
        </p:spPr>
      </p:sp>
      <p:sp>
        <p:nvSpPr>
          <p:cNvPr id="12" name="Text 10"/>
          <p:cNvSpPr/>
          <p:nvPr/>
        </p:nvSpPr>
        <p:spPr>
          <a:xfrm>
            <a:off x="566928" y="2681478"/>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11</a:t>
            </a:r>
            <a:endParaRPr lang="en-US" sz="1250" dirty="0"/>
          </a:p>
        </p:txBody>
      </p:sp>
      <p:sp>
        <p:nvSpPr>
          <p:cNvPr id="13" name="Text 11"/>
          <p:cNvSpPr/>
          <p:nvPr/>
        </p:nvSpPr>
        <p:spPr>
          <a:xfrm>
            <a:off x="1069848" y="2654046"/>
            <a:ext cx="10554919" cy="531495"/>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Integrity.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What you do when nobody is watching.</a:t>
            </a:r>
            <a:endParaRPr lang="en-US" sz="1300" dirty="0"/>
          </a:p>
        </p:txBody>
      </p:sp>
      <p:sp>
        <p:nvSpPr>
          <p:cNvPr id="14" name="Shape 12"/>
          <p:cNvSpPr/>
          <p:nvPr/>
        </p:nvSpPr>
        <p:spPr>
          <a:xfrm>
            <a:off x="566928" y="3267837"/>
            <a:ext cx="365760" cy="365760"/>
          </a:xfrm>
          <a:prstGeom prst="ellipse">
            <a:avLst/>
          </a:prstGeom>
          <a:solidFill>
            <a:srgbClr val="59201C"/>
          </a:solidFill>
          <a:ln w="12700">
            <a:solidFill>
              <a:srgbClr val="59201C"/>
            </a:solidFill>
            <a:prstDash val="solid"/>
          </a:ln>
        </p:spPr>
      </p:sp>
      <p:sp>
        <p:nvSpPr>
          <p:cNvPr id="15" name="Text 13"/>
          <p:cNvSpPr/>
          <p:nvPr/>
        </p:nvSpPr>
        <p:spPr>
          <a:xfrm>
            <a:off x="566928" y="3267837"/>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12</a:t>
            </a:r>
            <a:endParaRPr lang="en-US" sz="1250" dirty="0"/>
          </a:p>
        </p:txBody>
      </p:sp>
      <p:sp>
        <p:nvSpPr>
          <p:cNvPr id="16" name="Text 14"/>
          <p:cNvSpPr/>
          <p:nvPr/>
        </p:nvSpPr>
        <p:spPr>
          <a:xfrm>
            <a:off x="1069848" y="3240405"/>
            <a:ext cx="10554919" cy="531495"/>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Twice As Long To Do It Wrong.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Do it right the first time. Laziness only leads to doing it again.</a:t>
            </a:r>
            <a:endParaRPr lang="en-US" sz="1300" dirty="0"/>
          </a:p>
        </p:txBody>
      </p:sp>
      <p:sp>
        <p:nvSpPr>
          <p:cNvPr id="17" name="Shape 15"/>
          <p:cNvSpPr/>
          <p:nvPr/>
        </p:nvSpPr>
        <p:spPr>
          <a:xfrm>
            <a:off x="566928" y="3854196"/>
            <a:ext cx="365760" cy="365760"/>
          </a:xfrm>
          <a:prstGeom prst="ellipse">
            <a:avLst/>
          </a:prstGeom>
          <a:solidFill>
            <a:srgbClr val="59201C"/>
          </a:solidFill>
          <a:ln w="12700">
            <a:solidFill>
              <a:srgbClr val="59201C"/>
            </a:solidFill>
            <a:prstDash val="solid"/>
          </a:ln>
        </p:spPr>
      </p:sp>
      <p:sp>
        <p:nvSpPr>
          <p:cNvPr id="18" name="Text 16"/>
          <p:cNvSpPr/>
          <p:nvPr/>
        </p:nvSpPr>
        <p:spPr>
          <a:xfrm>
            <a:off x="566928" y="3854196"/>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13</a:t>
            </a:r>
            <a:endParaRPr lang="en-US" sz="1250" dirty="0"/>
          </a:p>
        </p:txBody>
      </p:sp>
      <p:sp>
        <p:nvSpPr>
          <p:cNvPr id="19" name="Text 17"/>
          <p:cNvSpPr/>
          <p:nvPr/>
        </p:nvSpPr>
        <p:spPr>
          <a:xfrm>
            <a:off x="1069848" y="3826764"/>
            <a:ext cx="10554919" cy="531495"/>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Locked On.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The restaurant is a living machine we can only drive when locked on to every part of it.</a:t>
            </a:r>
            <a:endParaRPr lang="en-US" sz="1300" dirty="0"/>
          </a:p>
        </p:txBody>
      </p:sp>
      <p:sp>
        <p:nvSpPr>
          <p:cNvPr id="20" name="Shape 18"/>
          <p:cNvSpPr/>
          <p:nvPr/>
        </p:nvSpPr>
        <p:spPr>
          <a:xfrm>
            <a:off x="566928" y="4440555"/>
            <a:ext cx="365760" cy="365760"/>
          </a:xfrm>
          <a:prstGeom prst="ellipse">
            <a:avLst/>
          </a:prstGeom>
          <a:solidFill>
            <a:srgbClr val="59201C"/>
          </a:solidFill>
          <a:ln w="12700">
            <a:solidFill>
              <a:srgbClr val="59201C"/>
            </a:solidFill>
            <a:prstDash val="solid"/>
          </a:ln>
        </p:spPr>
      </p:sp>
      <p:sp>
        <p:nvSpPr>
          <p:cNvPr id="21" name="Text 19"/>
          <p:cNvSpPr/>
          <p:nvPr/>
        </p:nvSpPr>
        <p:spPr>
          <a:xfrm>
            <a:off x="566928" y="4440555"/>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14</a:t>
            </a:r>
            <a:endParaRPr lang="en-US" sz="1250" dirty="0"/>
          </a:p>
        </p:txBody>
      </p:sp>
      <p:sp>
        <p:nvSpPr>
          <p:cNvPr id="22" name="Text 20"/>
          <p:cNvSpPr/>
          <p:nvPr/>
        </p:nvSpPr>
        <p:spPr>
          <a:xfrm>
            <a:off x="1069848" y="4413123"/>
            <a:ext cx="10554919" cy="531495"/>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Good vs Great.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Good gets no complaints and no compliments. Great gets remembered and returned to.</a:t>
            </a:r>
            <a:endParaRPr lang="en-US" sz="1300" dirty="0"/>
          </a:p>
        </p:txBody>
      </p:sp>
      <p:sp>
        <p:nvSpPr>
          <p:cNvPr id="23" name="Shape 21"/>
          <p:cNvSpPr/>
          <p:nvPr/>
        </p:nvSpPr>
        <p:spPr>
          <a:xfrm>
            <a:off x="566928" y="5026914"/>
            <a:ext cx="365760" cy="365760"/>
          </a:xfrm>
          <a:prstGeom prst="ellipse">
            <a:avLst/>
          </a:prstGeom>
          <a:solidFill>
            <a:srgbClr val="59201C"/>
          </a:solidFill>
          <a:ln w="12700">
            <a:solidFill>
              <a:srgbClr val="59201C"/>
            </a:solidFill>
            <a:prstDash val="solid"/>
          </a:ln>
        </p:spPr>
      </p:sp>
      <p:sp>
        <p:nvSpPr>
          <p:cNvPr id="24" name="Text 22"/>
          <p:cNvSpPr/>
          <p:nvPr/>
        </p:nvSpPr>
        <p:spPr>
          <a:xfrm>
            <a:off x="566928" y="5026914"/>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15</a:t>
            </a:r>
            <a:endParaRPr lang="en-US" sz="1250" dirty="0"/>
          </a:p>
        </p:txBody>
      </p:sp>
      <p:sp>
        <p:nvSpPr>
          <p:cNvPr id="25" name="Text 23"/>
          <p:cNvSpPr/>
          <p:nvPr/>
        </p:nvSpPr>
        <p:spPr>
          <a:xfrm>
            <a:off x="1069848" y="4999482"/>
            <a:ext cx="10554919" cy="531495"/>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Be Hard On The Standard, Not The Person.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Protect the standard. Never take it personally. No excuses.</a:t>
            </a:r>
            <a:endParaRPr lang="en-US" sz="1300" dirty="0"/>
          </a:p>
        </p:txBody>
      </p:sp>
      <p:sp>
        <p:nvSpPr>
          <p:cNvPr id="26" name="Shape 24"/>
          <p:cNvSpPr/>
          <p:nvPr/>
        </p:nvSpPr>
        <p:spPr>
          <a:xfrm>
            <a:off x="566928" y="5613273"/>
            <a:ext cx="365760" cy="365760"/>
          </a:xfrm>
          <a:prstGeom prst="ellipse">
            <a:avLst/>
          </a:prstGeom>
          <a:solidFill>
            <a:srgbClr val="59201C"/>
          </a:solidFill>
          <a:ln w="12700">
            <a:solidFill>
              <a:srgbClr val="59201C"/>
            </a:solidFill>
            <a:prstDash val="solid"/>
          </a:ln>
        </p:spPr>
      </p:sp>
      <p:sp>
        <p:nvSpPr>
          <p:cNvPr id="27" name="Text 25"/>
          <p:cNvSpPr/>
          <p:nvPr/>
        </p:nvSpPr>
        <p:spPr>
          <a:xfrm>
            <a:off x="566928" y="5613273"/>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16</a:t>
            </a:r>
            <a:endParaRPr lang="en-US" sz="1250" dirty="0"/>
          </a:p>
        </p:txBody>
      </p:sp>
      <p:sp>
        <p:nvSpPr>
          <p:cNvPr id="28" name="Text 26"/>
          <p:cNvSpPr/>
          <p:nvPr/>
        </p:nvSpPr>
        <p:spPr>
          <a:xfrm>
            <a:off x="1069848" y="5585841"/>
            <a:ext cx="10554919" cy="531495"/>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“They Weren't Ready For Us.”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With preparation and pride we should be able to say this after EVERY shift.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Why we do things our specific way</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Follow The Recipe is the point that explains all the others</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1 — Orientation</a:t>
            </a:r>
            <a:endParaRPr lang="en-US" sz="950" dirty="0"/>
          </a:p>
        </p:txBody>
      </p:sp>
      <p:sp>
        <p:nvSpPr>
          <p:cNvPr id="5" name="Text 3"/>
          <p:cNvSpPr/>
          <p:nvPr/>
        </p:nvSpPr>
        <p:spPr>
          <a:xfrm>
            <a:off x="566928" y="1572768"/>
            <a:ext cx="5300320" cy="292608"/>
          </a:xfrm>
          <a:prstGeom prst="rect">
            <a:avLst/>
          </a:prstGeom>
          <a:noFill/>
          <a:ln/>
        </p:spPr>
        <p:txBody>
          <a:bodyPr wrap="square" lIns="0" tIns="0" rIns="0" bIns="0" rtlCol="0" anchor="ctr"/>
          <a:lstStyle/>
          <a:p>
            <a:pPr indent="0" marL="0">
              <a:buNone/>
            </a:pPr>
            <a:r>
              <a:rPr lang="en-US" sz="1500" b="1" dirty="0">
                <a:solidFill>
                  <a:srgbClr val="59201C"/>
                </a:solidFill>
                <a:latin typeface="Cambria" pitchFamily="34" charset="0"/>
                <a:ea typeface="Cambria" pitchFamily="34" charset="-122"/>
                <a:cs typeface="Cambria" pitchFamily="34" charset="-120"/>
              </a:rPr>
              <a:t>Everything here was tested on real guests</a:t>
            </a:r>
            <a:endParaRPr lang="en-US" sz="1500" dirty="0"/>
          </a:p>
        </p:txBody>
      </p:sp>
      <p:sp>
        <p:nvSpPr>
          <p:cNvPr id="6" name="Text 4"/>
          <p:cNvSpPr/>
          <p:nvPr/>
        </p:nvSpPr>
        <p:spPr>
          <a:xfrm>
            <a:off x="566928" y="1956816"/>
            <a:ext cx="5300320" cy="4169664"/>
          </a:xfrm>
          <a:prstGeom prst="rect">
            <a:avLst/>
          </a:prstGeom>
          <a:noFill/>
          <a:ln/>
        </p:spPr>
        <p:txBody>
          <a:bodyPr wrap="square" lIns="0" tIns="0" rIns="0" bIns="0" rtlCol="0" anchor="t"/>
          <a:lstStyle/>
          <a:p>
            <a:pPr marL="177800" indent="-177800">
              <a:lnSpc>
                <a:spcPts val="1690"/>
              </a:lnSpc>
              <a:spcAft>
                <a:spcPts val="600"/>
              </a:spcAft>
              <a:buSzPct val="100000"/>
              <a:buChar char="•"/>
            </a:pPr>
            <a:r>
              <a:rPr lang="en-US" sz="1300" dirty="0">
                <a:solidFill>
                  <a:srgbClr val="2B2118"/>
                </a:solidFill>
                <a:latin typeface="Calibri" pitchFamily="34" charset="0"/>
                <a:ea typeface="Calibri" pitchFamily="34" charset="-122"/>
                <a:cs typeface="Calibri" pitchFamily="34" charset="-120"/>
              </a:rPr>
              <a:t>The greet script, the bread rule, the two-bite checkback, the way a tower gets stacked — none of it is arbitrary. It worked, repeatedly, before it became the standard.</a:t>
            </a:r>
            <a:endParaRPr lang="en-US" sz="1300" dirty="0"/>
          </a:p>
          <a:p>
            <a:pPr marL="177800" indent="-177800">
              <a:lnSpc>
                <a:spcPts val="1690"/>
              </a:lnSpc>
              <a:spcAft>
                <a:spcPts val="600"/>
              </a:spcAft>
              <a:buSzPct val="100000"/>
              <a:buChar char="•"/>
            </a:pPr>
            <a:r>
              <a:rPr lang="en-US" sz="1300" dirty="0">
                <a:solidFill>
                  <a:srgbClr val="2B2118"/>
                </a:solidFill>
                <a:latin typeface="Calibri" pitchFamily="34" charset="0"/>
                <a:ea typeface="Calibri" pitchFamily="34" charset="-122"/>
                <a:cs typeface="Calibri" pitchFamily="34" charset="-120"/>
              </a:rPr>
              <a:t>When you improvise past the recipe, you are gambling the guest's night on a hunch.</a:t>
            </a:r>
            <a:endParaRPr lang="en-US" sz="1300" dirty="0"/>
          </a:p>
        </p:txBody>
      </p:sp>
      <p:sp>
        <p:nvSpPr>
          <p:cNvPr id="7" name="Text 5"/>
          <p:cNvSpPr/>
          <p:nvPr/>
        </p:nvSpPr>
        <p:spPr>
          <a:xfrm>
            <a:off x="6324448" y="1572768"/>
            <a:ext cx="5300320" cy="292608"/>
          </a:xfrm>
          <a:prstGeom prst="rect">
            <a:avLst/>
          </a:prstGeom>
          <a:noFill/>
          <a:ln/>
        </p:spPr>
        <p:txBody>
          <a:bodyPr wrap="square" lIns="0" tIns="0" rIns="0" bIns="0" rtlCol="0" anchor="ctr"/>
          <a:lstStyle/>
          <a:p>
            <a:pPr indent="0" marL="0">
              <a:buNone/>
            </a:pPr>
            <a:r>
              <a:rPr lang="en-US" sz="1500" b="1" dirty="0">
                <a:solidFill>
                  <a:srgbClr val="59201C"/>
                </a:solidFill>
                <a:latin typeface="Cambria" pitchFamily="34" charset="0"/>
                <a:ea typeface="Cambria" pitchFamily="34" charset="-122"/>
                <a:cs typeface="Cambria" pitchFamily="34" charset="-120"/>
              </a:rPr>
              <a:t>And when the recipe is genuinely wrong</a:t>
            </a:r>
            <a:endParaRPr lang="en-US" sz="1500" dirty="0"/>
          </a:p>
        </p:txBody>
      </p:sp>
      <p:sp>
        <p:nvSpPr>
          <p:cNvPr id="8" name="Text 6"/>
          <p:cNvSpPr/>
          <p:nvPr/>
        </p:nvSpPr>
        <p:spPr>
          <a:xfrm>
            <a:off x="6324448" y="1956816"/>
            <a:ext cx="5300320" cy="4169664"/>
          </a:xfrm>
          <a:prstGeom prst="rect">
            <a:avLst/>
          </a:prstGeom>
          <a:noFill/>
          <a:ln/>
        </p:spPr>
        <p:txBody>
          <a:bodyPr wrap="square" lIns="0" tIns="0" rIns="0" bIns="0" rtlCol="0" anchor="t"/>
          <a:lstStyle/>
          <a:p>
            <a:pPr marL="177800" indent="-177800">
              <a:lnSpc>
                <a:spcPts val="1690"/>
              </a:lnSpc>
              <a:spcAft>
                <a:spcPts val="600"/>
              </a:spcAft>
              <a:buSzPct val="100000"/>
              <a:buChar char="•"/>
            </a:pPr>
            <a:r>
              <a:rPr lang="en-US" sz="1300" dirty="0">
                <a:solidFill>
                  <a:srgbClr val="2B2118"/>
                </a:solidFill>
                <a:latin typeface="Calibri" pitchFamily="34" charset="0"/>
                <a:ea typeface="Calibri" pitchFamily="34" charset="-122"/>
                <a:cs typeface="Calibri" pitchFamily="34" charset="-120"/>
              </a:rPr>
              <a:t>It goes up to a manager.</a:t>
            </a:r>
            <a:endParaRPr lang="en-US" sz="1300" dirty="0"/>
          </a:p>
          <a:p>
            <a:pPr marL="177800" indent="-177800">
              <a:lnSpc>
                <a:spcPts val="1690"/>
              </a:lnSpc>
              <a:spcAft>
                <a:spcPts val="600"/>
              </a:spcAft>
              <a:buSzPct val="100000"/>
              <a:buChar char="•"/>
            </a:pPr>
            <a:r>
              <a:rPr lang="en-US" sz="1300" dirty="0">
                <a:solidFill>
                  <a:srgbClr val="2B2118"/>
                </a:solidFill>
                <a:latin typeface="Calibri" pitchFamily="34" charset="0"/>
                <a:ea typeface="Calibri" pitchFamily="34" charset="-122"/>
                <a:cs typeface="Calibri" pitchFamily="34" charset="-120"/>
              </a:rPr>
              <a:t>The recipe changes for everyone.</a:t>
            </a:r>
            <a:endParaRPr lang="en-US" sz="1300" dirty="0"/>
          </a:p>
          <a:p>
            <a:pPr marL="177800" indent="-177800">
              <a:lnSpc>
                <a:spcPts val="1690"/>
              </a:lnSpc>
              <a:spcAft>
                <a:spcPts val="600"/>
              </a:spcAft>
              <a:buSzPct val="100000"/>
              <a:buChar char="•"/>
            </a:pPr>
            <a:r>
              <a:rPr lang="en-US" sz="1300" dirty="0">
                <a:solidFill>
                  <a:srgbClr val="2B2118"/>
                </a:solidFill>
                <a:latin typeface="Calibri" pitchFamily="34" charset="0"/>
                <a:ea typeface="Calibri" pitchFamily="34" charset="-122"/>
                <a:cs typeface="Calibri" pitchFamily="34" charset="-120"/>
              </a:rPr>
              <a:t>The new way becomes the standard.</a:t>
            </a:r>
            <a:endParaRPr lang="en-US" sz="1300" dirty="0"/>
          </a:p>
          <a:p>
            <a:pPr marL="177800" indent="-177800">
              <a:lnSpc>
                <a:spcPts val="1690"/>
              </a:lnSpc>
              <a:spcAft>
                <a:spcPts val="600"/>
              </a:spcAft>
              <a:buSzPct val="100000"/>
              <a:buChar char="•"/>
            </a:pPr>
            <a:r>
              <a:rPr lang="en-US" sz="1300" dirty="0">
                <a:solidFill>
                  <a:srgbClr val="2B2118"/>
                </a:solidFill>
                <a:latin typeface="Calibri" pitchFamily="34" charset="0"/>
                <a:ea typeface="Calibri" pitchFamily="34" charset="-122"/>
                <a:cs typeface="Calibri" pitchFamily="34" charset="-120"/>
              </a:rPr>
              <a:t>That is how a restaurant gets better without falling apart.</a:t>
            </a:r>
            <a:endParaRPr lang="en-US" sz="1300" dirty="0"/>
          </a:p>
        </p:txBody>
      </p:sp>
      <p:sp>
        <p:nvSpPr>
          <p:cNvPr id="9" name="Shape 7"/>
          <p:cNvSpPr/>
          <p:nvPr/>
        </p:nvSpPr>
        <p:spPr>
          <a:xfrm>
            <a:off x="566928" y="4937760"/>
            <a:ext cx="11057839" cy="749808"/>
          </a:xfrm>
          <a:prstGeom prst="roundRect">
            <a:avLst>
              <a:gd name="adj" fmla="val 7317"/>
            </a:avLst>
          </a:prstGeom>
          <a:solidFill>
            <a:srgbClr val="F3E7E4"/>
          </a:solidFill>
          <a:ln w="12700">
            <a:solidFill>
              <a:srgbClr val="E2CCC7"/>
            </a:solidFill>
            <a:prstDash val="solid"/>
          </a:ln>
        </p:spPr>
      </p:sp>
      <p:sp>
        <p:nvSpPr>
          <p:cNvPr id="10" name="Text 8"/>
          <p:cNvSpPr/>
          <p:nvPr/>
        </p:nvSpPr>
        <p:spPr>
          <a:xfrm>
            <a:off x="768096" y="5010912"/>
            <a:ext cx="10655503" cy="603504"/>
          </a:xfrm>
          <a:prstGeom prst="rect">
            <a:avLst/>
          </a:prstGeom>
          <a:noFill/>
          <a:ln/>
        </p:spPr>
        <p:txBody>
          <a:bodyPr wrap="square" lIns="0" tIns="0" rIns="0" bIns="0" rtlCol="0" anchor="ctr"/>
          <a:lstStyle/>
          <a:p>
            <a:pPr indent="0" marL="0">
              <a:lnSpc>
                <a:spcPts val="1600"/>
              </a:lnSpc>
              <a:buNone/>
            </a:pPr>
            <a:r>
              <a:rPr lang="en-US" sz="1250" b="1" dirty="0">
                <a:solidFill>
                  <a:srgbClr val="59201C"/>
                </a:solidFill>
                <a:latin typeface="Calibri" pitchFamily="34" charset="0"/>
                <a:ea typeface="Calibri" pitchFamily="34" charset="-122"/>
                <a:cs typeface="Calibri" pitchFamily="34" charset="-120"/>
              </a:rPr>
              <a:t>The short version:  </a:t>
            </a:r>
            <a:pPr indent="0" marL="0">
              <a:lnSpc>
                <a:spcPts val="1600"/>
              </a:lnSpc>
              <a:buNone/>
            </a:pPr>
            <a:r>
              <a:rPr lang="en-US" sz="1250" dirty="0">
                <a:solidFill>
                  <a:srgbClr val="2B2118"/>
                </a:solidFill>
                <a:latin typeface="Calibri" pitchFamily="34" charset="0"/>
                <a:ea typeface="Calibri" pitchFamily="34" charset="-122"/>
                <a:cs typeface="Calibri" pitchFamily="34" charset="-120"/>
              </a:rPr>
              <a:t>improvising alone is a gamble. Improving the recipe for everybody is the job.</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Onboarding paperwork</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Handled with a manager on your first day — but know what is coming</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1 — Orientation</a:t>
            </a:r>
            <a:endParaRPr lang="en-US" sz="950" dirty="0"/>
          </a:p>
        </p:txBody>
      </p:sp>
      <p:sp>
        <p:nvSpPr>
          <p:cNvPr id="5" name="Shape 3"/>
          <p:cNvSpPr/>
          <p:nvPr/>
        </p:nvSpPr>
        <p:spPr>
          <a:xfrm>
            <a:off x="566928" y="1572768"/>
            <a:ext cx="3551834" cy="1600200"/>
          </a:xfrm>
          <a:prstGeom prst="roundRect">
            <a:avLst>
              <a:gd name="adj" fmla="val 3429"/>
            </a:avLst>
          </a:prstGeom>
          <a:solidFill>
            <a:srgbClr val="F2E9D8"/>
          </a:solidFill>
          <a:ln w="12700">
            <a:solidFill>
              <a:srgbClr val="E4D8C0"/>
            </a:solidFill>
            <a:prstDash val="solid"/>
          </a:ln>
        </p:spPr>
      </p:sp>
      <p:sp>
        <p:nvSpPr>
          <p:cNvPr id="6" name="Text 4"/>
          <p:cNvSpPr/>
          <p:nvPr/>
        </p:nvSpPr>
        <p:spPr>
          <a:xfrm>
            <a:off x="749808" y="1719072"/>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Form I-9</a:t>
            </a:r>
            <a:endParaRPr lang="en-US" sz="1450" dirty="0"/>
          </a:p>
        </p:txBody>
      </p:sp>
      <p:sp>
        <p:nvSpPr>
          <p:cNvPr id="7" name="Text 5"/>
          <p:cNvSpPr/>
          <p:nvPr/>
        </p:nvSpPr>
        <p:spPr>
          <a:xfrm>
            <a:off x="749808"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within 3 business days</a:t>
            </a:r>
            <a:endParaRPr lang="en-US" sz="1100" dirty="0"/>
          </a:p>
        </p:txBody>
      </p:sp>
      <p:sp>
        <p:nvSpPr>
          <p:cNvPr id="8" name="Text 6"/>
          <p:cNvSpPr/>
          <p:nvPr/>
        </p:nvSpPr>
        <p:spPr>
          <a:xfrm>
            <a:off x="749808" y="2286000"/>
            <a:ext cx="3186074" cy="74066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Federal. Bring documents proving identity and work eligibility.</a:t>
            </a:r>
            <a:endParaRPr lang="en-US" sz="1100" dirty="0"/>
          </a:p>
        </p:txBody>
      </p:sp>
      <p:sp>
        <p:nvSpPr>
          <p:cNvPr id="9" name="Shape 7"/>
          <p:cNvSpPr/>
          <p:nvPr/>
        </p:nvSpPr>
        <p:spPr>
          <a:xfrm>
            <a:off x="4319930" y="1572768"/>
            <a:ext cx="3551834" cy="1600200"/>
          </a:xfrm>
          <a:prstGeom prst="roundRect">
            <a:avLst>
              <a:gd name="adj" fmla="val 3429"/>
            </a:avLst>
          </a:prstGeom>
          <a:solidFill>
            <a:srgbClr val="F2E9D8"/>
          </a:solidFill>
          <a:ln w="12700">
            <a:solidFill>
              <a:srgbClr val="E4D8C0"/>
            </a:solidFill>
            <a:prstDash val="solid"/>
          </a:ln>
        </p:spPr>
      </p:sp>
      <p:sp>
        <p:nvSpPr>
          <p:cNvPr id="10" name="Text 8"/>
          <p:cNvSpPr/>
          <p:nvPr/>
        </p:nvSpPr>
        <p:spPr>
          <a:xfrm>
            <a:off x="4502810" y="1719072"/>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New-hire reporting</a:t>
            </a:r>
            <a:endParaRPr lang="en-US" sz="1450" dirty="0"/>
          </a:p>
        </p:txBody>
      </p:sp>
      <p:sp>
        <p:nvSpPr>
          <p:cNvPr id="11" name="Text 9"/>
          <p:cNvSpPr/>
          <p:nvPr/>
        </p:nvSpPr>
        <p:spPr>
          <a:xfrm>
            <a:off x="4502810"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state requirement</a:t>
            </a:r>
            <a:endParaRPr lang="en-US" sz="1100" dirty="0"/>
          </a:p>
        </p:txBody>
      </p:sp>
      <p:sp>
        <p:nvSpPr>
          <p:cNvPr id="12" name="Text 10"/>
          <p:cNvSpPr/>
          <p:nvPr/>
        </p:nvSpPr>
        <p:spPr>
          <a:xfrm>
            <a:off x="4502810" y="2286000"/>
            <a:ext cx="3186074" cy="74066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Name, address, Social Security number. It is the law, not a preference.</a:t>
            </a:r>
            <a:endParaRPr lang="en-US" sz="1100" dirty="0"/>
          </a:p>
        </p:txBody>
      </p:sp>
      <p:sp>
        <p:nvSpPr>
          <p:cNvPr id="13" name="Shape 11"/>
          <p:cNvSpPr/>
          <p:nvPr/>
        </p:nvSpPr>
        <p:spPr>
          <a:xfrm>
            <a:off x="8072933" y="1572768"/>
            <a:ext cx="3551834" cy="1600200"/>
          </a:xfrm>
          <a:prstGeom prst="roundRect">
            <a:avLst>
              <a:gd name="adj" fmla="val 3429"/>
            </a:avLst>
          </a:prstGeom>
          <a:solidFill>
            <a:srgbClr val="F2E9D8"/>
          </a:solidFill>
          <a:ln w="12700">
            <a:solidFill>
              <a:srgbClr val="E4D8C0"/>
            </a:solidFill>
            <a:prstDash val="solid"/>
          </a:ln>
        </p:spPr>
      </p:sp>
      <p:sp>
        <p:nvSpPr>
          <p:cNvPr id="14" name="Text 12"/>
          <p:cNvSpPr/>
          <p:nvPr/>
        </p:nvSpPr>
        <p:spPr>
          <a:xfrm>
            <a:off x="8255813" y="1719072"/>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Form W-4</a:t>
            </a:r>
            <a:endParaRPr lang="en-US" sz="1450" dirty="0"/>
          </a:p>
        </p:txBody>
      </p:sp>
      <p:sp>
        <p:nvSpPr>
          <p:cNvPr id="15" name="Text 13"/>
          <p:cNvSpPr/>
          <p:nvPr/>
        </p:nvSpPr>
        <p:spPr>
          <a:xfrm>
            <a:off x="8255813"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withholding</a:t>
            </a:r>
            <a:endParaRPr lang="en-US" sz="1100" dirty="0"/>
          </a:p>
        </p:txBody>
      </p:sp>
      <p:sp>
        <p:nvSpPr>
          <p:cNvPr id="16" name="Text 14"/>
          <p:cNvSpPr/>
          <p:nvPr/>
        </p:nvSpPr>
        <p:spPr>
          <a:xfrm>
            <a:off x="8255813" y="2286000"/>
            <a:ext cx="3186074" cy="74066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Sets what comes out of every check.</a:t>
            </a:r>
            <a:endParaRPr lang="en-US" sz="1100" dirty="0"/>
          </a:p>
        </p:txBody>
      </p:sp>
      <p:sp>
        <p:nvSpPr>
          <p:cNvPr id="17" name="Shape 15"/>
          <p:cNvSpPr/>
          <p:nvPr/>
        </p:nvSpPr>
        <p:spPr>
          <a:xfrm>
            <a:off x="566928" y="3374136"/>
            <a:ext cx="3551834" cy="1600200"/>
          </a:xfrm>
          <a:prstGeom prst="roundRect">
            <a:avLst>
              <a:gd name="adj" fmla="val 3429"/>
            </a:avLst>
          </a:prstGeom>
          <a:solidFill>
            <a:srgbClr val="F2E9D8"/>
          </a:solidFill>
          <a:ln w="12700">
            <a:solidFill>
              <a:srgbClr val="E4D8C0"/>
            </a:solidFill>
            <a:prstDash val="solid"/>
          </a:ln>
        </p:spPr>
      </p:sp>
      <p:sp>
        <p:nvSpPr>
          <p:cNvPr id="18" name="Text 16"/>
          <p:cNvSpPr/>
          <p:nvPr/>
        </p:nvSpPr>
        <p:spPr>
          <a:xfrm>
            <a:off x="749808" y="3520440"/>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120 days</a:t>
            </a:r>
            <a:endParaRPr lang="en-US" sz="1450" dirty="0"/>
          </a:p>
        </p:txBody>
      </p:sp>
      <p:sp>
        <p:nvSpPr>
          <p:cNvPr id="19" name="Text 17"/>
          <p:cNvSpPr/>
          <p:nvPr/>
        </p:nvSpPr>
        <p:spPr>
          <a:xfrm>
            <a:off x="749808" y="3831336"/>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probationary</a:t>
            </a:r>
            <a:endParaRPr lang="en-US" sz="1100" dirty="0"/>
          </a:p>
        </p:txBody>
      </p:sp>
      <p:sp>
        <p:nvSpPr>
          <p:cNvPr id="20" name="Text 18"/>
          <p:cNvSpPr/>
          <p:nvPr/>
        </p:nvSpPr>
        <p:spPr>
          <a:xfrm>
            <a:off x="749808" y="4087368"/>
            <a:ext cx="3186074" cy="74066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Everyone's first 120 days. After that, discipline runs verbal, written, termination — serious offenses skip steps.</a:t>
            </a:r>
            <a:endParaRPr lang="en-US" sz="1100" dirty="0"/>
          </a:p>
        </p:txBody>
      </p:sp>
      <p:sp>
        <p:nvSpPr>
          <p:cNvPr id="21" name="Shape 19"/>
          <p:cNvSpPr/>
          <p:nvPr/>
        </p:nvSpPr>
        <p:spPr>
          <a:xfrm>
            <a:off x="4319930" y="3374136"/>
            <a:ext cx="3551834" cy="1600200"/>
          </a:xfrm>
          <a:prstGeom prst="roundRect">
            <a:avLst>
              <a:gd name="adj" fmla="val 3429"/>
            </a:avLst>
          </a:prstGeom>
          <a:solidFill>
            <a:srgbClr val="F2E9D8"/>
          </a:solidFill>
          <a:ln w="12700">
            <a:solidFill>
              <a:srgbClr val="E4D8C0"/>
            </a:solidFill>
            <a:prstDash val="solid"/>
          </a:ln>
        </p:spPr>
      </p:sp>
      <p:sp>
        <p:nvSpPr>
          <p:cNvPr id="22" name="Text 20"/>
          <p:cNvSpPr/>
          <p:nvPr/>
        </p:nvSpPr>
        <p:spPr>
          <a:xfrm>
            <a:off x="4502810" y="3520440"/>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Every other Wednesday</a:t>
            </a:r>
            <a:endParaRPr lang="en-US" sz="1450" dirty="0"/>
          </a:p>
        </p:txBody>
      </p:sp>
      <p:sp>
        <p:nvSpPr>
          <p:cNvPr id="23" name="Text 21"/>
          <p:cNvSpPr/>
          <p:nvPr/>
        </p:nvSpPr>
        <p:spPr>
          <a:xfrm>
            <a:off x="4502810" y="3831336"/>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payday</a:t>
            </a:r>
            <a:endParaRPr lang="en-US" sz="1100" dirty="0"/>
          </a:p>
        </p:txBody>
      </p:sp>
      <p:sp>
        <p:nvSpPr>
          <p:cNvPr id="24" name="Text 22"/>
          <p:cNvSpPr/>
          <p:nvPr/>
        </p:nvSpPr>
        <p:spPr>
          <a:xfrm>
            <a:off x="4502810" y="4087368"/>
            <a:ext cx="3186074" cy="74066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The pay period runs Wednesday through Tuesday.</a:t>
            </a:r>
            <a:endParaRPr lang="en-US" sz="1100" dirty="0"/>
          </a:p>
        </p:txBody>
      </p:sp>
      <p:sp>
        <p:nvSpPr>
          <p:cNvPr id="25" name="Shape 23"/>
          <p:cNvSpPr/>
          <p:nvPr/>
        </p:nvSpPr>
        <p:spPr>
          <a:xfrm>
            <a:off x="8072933" y="3374136"/>
            <a:ext cx="3551834" cy="1600200"/>
          </a:xfrm>
          <a:prstGeom prst="roundRect">
            <a:avLst>
              <a:gd name="adj" fmla="val 3429"/>
            </a:avLst>
          </a:prstGeom>
          <a:solidFill>
            <a:srgbClr val="F2E9D8"/>
          </a:solidFill>
          <a:ln w="12700">
            <a:solidFill>
              <a:srgbClr val="E4D8C0"/>
            </a:solidFill>
            <a:prstDash val="solid"/>
          </a:ln>
        </p:spPr>
      </p:sp>
      <p:sp>
        <p:nvSpPr>
          <p:cNvPr id="26" name="Text 24"/>
          <p:cNvSpPr/>
          <p:nvPr/>
        </p:nvSpPr>
        <p:spPr>
          <a:xfrm>
            <a:off x="8255813" y="3520440"/>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The full handbook</a:t>
            </a:r>
            <a:endParaRPr lang="en-US" sz="1450" dirty="0"/>
          </a:p>
        </p:txBody>
      </p:sp>
      <p:sp>
        <p:nvSpPr>
          <p:cNvPr id="27" name="Text 25"/>
          <p:cNvSpPr/>
          <p:nvPr/>
        </p:nvSpPr>
        <p:spPr>
          <a:xfrm>
            <a:off x="8255813" y="3831336"/>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required reading</a:t>
            </a:r>
            <a:endParaRPr lang="en-US" sz="1100" dirty="0"/>
          </a:p>
        </p:txBody>
      </p:sp>
      <p:sp>
        <p:nvSpPr>
          <p:cNvPr id="28" name="Text 26"/>
          <p:cNvSpPr/>
          <p:nvPr/>
        </p:nvSpPr>
        <p:spPr>
          <a:xfrm>
            <a:off x="8255813" y="4087368"/>
            <a:ext cx="3186074" cy="74066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Harassment policy, leave, safety, dress code, house rules. It lives in the app under How We Work.</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Place the document here</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Day 1 — Orientation</a:t>
            </a:r>
            <a:endParaRPr lang="en-US" sz="1350" dirty="0"/>
          </a:p>
        </p:txBody>
      </p:sp>
      <p:sp>
        <p:nvSpPr>
          <p:cNvPr id="4" name="Shape 2"/>
          <p:cNvSpPr/>
          <p:nvPr/>
        </p:nvSpPr>
        <p:spPr>
          <a:xfrm>
            <a:off x="566928" y="1481328"/>
            <a:ext cx="11057839" cy="3310128"/>
          </a:xfrm>
          <a:prstGeom prst="roundRect">
            <a:avLst>
              <a:gd name="adj" fmla="val 2210"/>
            </a:avLst>
          </a:prstGeom>
          <a:solidFill>
            <a:srgbClr val="FBF3E2"/>
          </a:solidFill>
          <a:ln w="28575">
            <a:solidFill>
              <a:srgbClr val="B0812F"/>
            </a:solidFill>
            <a:prstDash val="dash"/>
          </a:ln>
        </p:spPr>
      </p:sp>
      <p:sp>
        <p:nvSpPr>
          <p:cNvPr id="5" name="Text 3"/>
          <p:cNvSpPr/>
          <p:nvPr/>
        </p:nvSpPr>
        <p:spPr>
          <a:xfrm>
            <a:off x="566928" y="1847088"/>
            <a:ext cx="11057839" cy="329184"/>
          </a:xfrm>
          <a:prstGeom prst="rect">
            <a:avLst/>
          </a:prstGeom>
          <a:noFill/>
          <a:ln/>
        </p:spPr>
        <p:txBody>
          <a:bodyPr wrap="square" lIns="0" tIns="0" rIns="0" bIns="0" rtlCol="0" anchor="ctr"/>
          <a:lstStyle/>
          <a:p>
            <a:pPr algn="ctr" indent="0" marL="0">
              <a:buNone/>
            </a:pPr>
            <a:r>
              <a:rPr lang="en-US" sz="1300" b="1" spc="300" kern="0" dirty="0">
                <a:solidFill>
                  <a:srgbClr val="B0812F"/>
                </a:solidFill>
                <a:latin typeface="Calibri" pitchFamily="34" charset="0"/>
                <a:ea typeface="Calibri" pitchFamily="34" charset="-122"/>
                <a:cs typeface="Calibri" pitchFamily="34" charset="-120"/>
              </a:rPr>
              <a:t>PLACE PICTURE OF</a:t>
            </a:r>
            <a:endParaRPr lang="en-US" sz="1300" dirty="0"/>
          </a:p>
        </p:txBody>
      </p:sp>
      <p:sp>
        <p:nvSpPr>
          <p:cNvPr id="6" name="Text 4"/>
          <p:cNvSpPr/>
          <p:nvPr/>
        </p:nvSpPr>
        <p:spPr>
          <a:xfrm>
            <a:off x="1207008" y="2212848"/>
            <a:ext cx="9777679" cy="1371600"/>
          </a:xfrm>
          <a:prstGeom prst="rect">
            <a:avLst/>
          </a:prstGeom>
          <a:noFill/>
          <a:ln/>
        </p:spPr>
        <p:txBody>
          <a:bodyPr wrap="square" lIns="0" tIns="0" rIns="0" bIns="0" rtlCol="0" anchor="ctr"/>
          <a:lstStyle/>
          <a:p>
            <a:pPr algn="ctr" indent="0" marL="0">
              <a:lnSpc>
                <a:spcPts val="3800"/>
              </a:lnSpc>
              <a:buNone/>
            </a:pPr>
            <a:r>
              <a:rPr lang="en-US" sz="3100" b="1" dirty="0">
                <a:solidFill>
                  <a:srgbClr val="59201C"/>
                </a:solidFill>
                <a:latin typeface="Cambria" pitchFamily="34" charset="0"/>
                <a:ea typeface="Cambria" pitchFamily="34" charset="-122"/>
                <a:cs typeface="Cambria" pitchFamily="34" charset="-120"/>
              </a:rPr>
              <a:t>THE PRINTED ONBOARDING PACKET</a:t>
            </a:r>
            <a:endParaRPr lang="en-US" sz="3100" dirty="0"/>
          </a:p>
        </p:txBody>
      </p:sp>
      <p:sp>
        <p:nvSpPr>
          <p:cNvPr id="7" name="Text 5"/>
          <p:cNvSpPr/>
          <p:nvPr/>
        </p:nvSpPr>
        <p:spPr>
          <a:xfrm>
            <a:off x="566928" y="3657600"/>
            <a:ext cx="11057839" cy="329184"/>
          </a:xfrm>
          <a:prstGeom prst="rect">
            <a:avLst/>
          </a:prstGeom>
          <a:noFill/>
          <a:ln/>
        </p:spPr>
        <p:txBody>
          <a:bodyPr wrap="square" lIns="0" tIns="0" rIns="0" bIns="0" rtlCol="0" anchor="ctr"/>
          <a:lstStyle/>
          <a:p>
            <a:pPr algn="ctr" indent="0" marL="0">
              <a:buNone/>
            </a:pPr>
            <a:r>
              <a:rPr lang="en-US" sz="1300" b="1" spc="300" kern="0" dirty="0">
                <a:solidFill>
                  <a:srgbClr val="B0812F"/>
                </a:solidFill>
                <a:latin typeface="Calibri" pitchFamily="34" charset="0"/>
                <a:ea typeface="Calibri" pitchFamily="34" charset="-122"/>
                <a:cs typeface="Calibri" pitchFamily="34" charset="-120"/>
              </a:rPr>
              <a:t>HERE</a:t>
            </a:r>
            <a:endParaRPr lang="en-US" sz="1300" dirty="0"/>
          </a:p>
        </p:txBody>
      </p:sp>
      <p:sp>
        <p:nvSpPr>
          <p:cNvPr id="8" name="Text 6"/>
          <p:cNvSpPr/>
          <p:nvPr/>
        </p:nvSpPr>
        <p:spPr>
          <a:xfrm>
            <a:off x="1481328" y="4041648"/>
            <a:ext cx="9229039" cy="566928"/>
          </a:xfrm>
          <a:prstGeom prst="rect">
            <a:avLst/>
          </a:prstGeom>
          <a:noFill/>
          <a:ln/>
        </p:spPr>
        <p:txBody>
          <a:bodyPr wrap="square" lIns="0" tIns="0" rIns="0" bIns="0" rtlCol="0" anchor="t"/>
          <a:lstStyle/>
          <a:p>
            <a:pPr algn="ctr" indent="0" marL="0">
              <a:lnSpc>
                <a:spcPts val="1600"/>
              </a:lnSpc>
              <a:buNone/>
            </a:pPr>
            <a:r>
              <a:rPr lang="en-US" sz="1200" i="1" dirty="0">
                <a:solidFill>
                  <a:srgbClr val="6B5B4B"/>
                </a:solidFill>
                <a:latin typeface="Calibri" pitchFamily="34" charset="0"/>
                <a:ea typeface="Calibri" pitchFamily="34" charset="-122"/>
                <a:cs typeface="Calibri" pitchFamily="34" charset="-120"/>
              </a:rPr>
              <a:t>Every page a new hire signs, in order — so this chapter can name them instead of describing them.</a:t>
            </a:r>
            <a:endParaRPr lang="en-US" sz="1200" dirty="0"/>
          </a:p>
        </p:txBody>
      </p:sp>
      <p:sp>
        <p:nvSpPr>
          <p:cNvPr id="9" name="Text 7"/>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1 — Orientation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Vocabulary — service and etiquette</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The words the original sheet called vernacular</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1 — Orientation</a:t>
            </a:r>
            <a:endParaRPr lang="en-US" sz="950" dirty="0"/>
          </a:p>
        </p:txBody>
      </p:sp>
      <p:sp>
        <p:nvSpPr>
          <p:cNvPr id="5" name="Text 3"/>
          <p:cNvSpPr/>
          <p:nvPr/>
        </p:nvSpPr>
        <p:spPr>
          <a:xfrm>
            <a:off x="566928" y="1572768"/>
            <a:ext cx="5300320" cy="4553712"/>
          </a:xfrm>
          <a:prstGeom prst="rect">
            <a:avLst/>
          </a:prstGeom>
          <a:noFill/>
          <a:ln/>
        </p:spPr>
        <p:txBody>
          <a:bodyPr wrap="square" lIns="0" tIns="0" rIns="0" bIns="0" rtlCol="0" anchor="t"/>
          <a:lstStyle/>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Mise en place (meez-on-PLAHSS) — everything in its place. Preparing and organizing before service.</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Course — one part of a multi-dish meal: appetizer, main, dessert.</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Crumber / crumbing down — removing crumbs between courses. Your crumber is part of the uniform.</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Marking the table — setting the flatware and glassware the next course needs.</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Clearing — removing dishes in a specific order, from the guest's right side.</a:t>
            </a:r>
            <a:endParaRPr lang="en-US" sz="1250" dirty="0"/>
          </a:p>
        </p:txBody>
      </p:sp>
      <p:sp>
        <p:nvSpPr>
          <p:cNvPr id="6" name="Text 4"/>
          <p:cNvSpPr/>
          <p:nvPr/>
        </p:nvSpPr>
        <p:spPr>
          <a:xfrm>
            <a:off x="6324448" y="1572768"/>
            <a:ext cx="5300320" cy="4553712"/>
          </a:xfrm>
          <a:prstGeom prst="rect">
            <a:avLst/>
          </a:prstGeom>
          <a:noFill/>
          <a:ln/>
        </p:spPr>
        <p:txBody>
          <a:bodyPr wrap="square" lIns="0" tIns="0" rIns="0" bIns="0" rtlCol="0" anchor="t"/>
          <a:lstStyle/>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Pivot point system — seat numbering that tracks every order to the right guest without asking.</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Silent service — non-intrusive serving: discretion and minimal noise.</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Coursing — timing dishes so guests receive each course in sync.</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Refire — re-cooking or remaking a dish that was incorrect or returned.</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Fine dining cadence — the rhythm and pacing of the meal. You control the tempo.</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Vocabulary — beverage service</a:t>
            </a:r>
            <a:endParaRPr lang="en-US" sz="3400" dirty="0"/>
          </a:p>
        </p:txBody>
      </p:sp>
      <p:sp>
        <p:nvSpPr>
          <p:cNvPr id="3" name="Text 1"/>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1 — Orientation</a:t>
            </a:r>
            <a:endParaRPr lang="en-US" sz="950" dirty="0"/>
          </a:p>
        </p:txBody>
      </p:sp>
      <p:sp>
        <p:nvSpPr>
          <p:cNvPr id="4" name="Text 2"/>
          <p:cNvSpPr/>
          <p:nvPr/>
        </p:nvSpPr>
        <p:spPr>
          <a:xfrm>
            <a:off x="566928" y="1463040"/>
            <a:ext cx="5300320" cy="4663440"/>
          </a:xfrm>
          <a:prstGeom prst="rect">
            <a:avLst/>
          </a:prstGeom>
          <a:noFill/>
          <a:ln/>
        </p:spPr>
        <p:txBody>
          <a:bodyPr wrap="square" lIns="0" tIns="0" rIns="0" bIns="0" rtlCol="0" anchor="t"/>
          <a:lstStyle/>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Sommelier (suh-mel-YAY) — wine steward; expert in pairing and service.</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Decanting — pouring wine into a decanter to aerate it and separate sediment.</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Varietal — the grape a wine is made from: Merlot, Chardonnay.</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Vintage — the year the grapes were harvested.</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Body — the weight or fullness of a wine: light, medium, full.</a:t>
            </a:r>
            <a:endParaRPr lang="en-US" sz="1250" dirty="0"/>
          </a:p>
        </p:txBody>
      </p:sp>
      <p:sp>
        <p:nvSpPr>
          <p:cNvPr id="5" name="Text 3"/>
          <p:cNvSpPr/>
          <p:nvPr/>
        </p:nvSpPr>
        <p:spPr>
          <a:xfrm>
            <a:off x="6324448" y="1463040"/>
            <a:ext cx="5300320" cy="4663440"/>
          </a:xfrm>
          <a:prstGeom prst="rect">
            <a:avLst/>
          </a:prstGeom>
          <a:noFill/>
          <a:ln/>
        </p:spPr>
        <p:txBody>
          <a:bodyPr wrap="square" lIns="0" tIns="0" rIns="0" bIns="0" rtlCol="0" anchor="t"/>
          <a:lstStyle/>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Finish — the taste that lingers after the swallow.</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Aperitif — a drink before the meal, to open the appetite. Digestif — after, to settle it.</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Neat / up / on the rocks — no ice; chilled and strained; over ice.</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Flight — a set of wines or spirits served together for tasting.</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Corkage fee — the fee for opening a bottle the guest brought in.</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Vocabulary — kitchen and culinary</a:t>
            </a:r>
            <a:endParaRPr lang="en-US" sz="3400" dirty="0"/>
          </a:p>
        </p:txBody>
      </p:sp>
      <p:sp>
        <p:nvSpPr>
          <p:cNvPr id="3" name="Text 1"/>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1 — Orientation</a:t>
            </a:r>
            <a:endParaRPr lang="en-US" sz="950" dirty="0"/>
          </a:p>
        </p:txBody>
      </p:sp>
      <p:sp>
        <p:nvSpPr>
          <p:cNvPr id="4" name="Text 2"/>
          <p:cNvSpPr/>
          <p:nvPr/>
        </p:nvSpPr>
        <p:spPr>
          <a:xfrm>
            <a:off x="566928" y="1463040"/>
            <a:ext cx="5300320" cy="4663440"/>
          </a:xfrm>
          <a:prstGeom prst="rect">
            <a:avLst/>
          </a:prstGeom>
          <a:noFill/>
          <a:ln/>
        </p:spPr>
        <p:txBody>
          <a:bodyPr wrap="square" lIns="0" tIns="0" rIns="0" bIns="0" rtlCol="0" anchor="t"/>
          <a:lstStyle/>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Sous chef / chef de partie / garde manger — second in command, station chef, cold-station chef.</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À la carte — ordering individual dishes. Prix fixe (pree-FEEKS) — a fixed-price set menu.</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Degustation / tasting menu — a multi-course showcase of the chef's specialties.</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Reduction — simmering a liquid down to concentrate its flavor.</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Emulsion — two unblendable liquids made one: vinaigrette, hollandaise.</a:t>
            </a:r>
            <a:endParaRPr lang="en-US" sz="1250" dirty="0"/>
          </a:p>
        </p:txBody>
      </p:sp>
      <p:sp>
        <p:nvSpPr>
          <p:cNvPr id="5" name="Text 3"/>
          <p:cNvSpPr/>
          <p:nvPr/>
        </p:nvSpPr>
        <p:spPr>
          <a:xfrm>
            <a:off x="6324448" y="1463040"/>
            <a:ext cx="5300320" cy="4663440"/>
          </a:xfrm>
          <a:prstGeom prst="rect">
            <a:avLst/>
          </a:prstGeom>
          <a:noFill/>
          <a:ln/>
        </p:spPr>
        <p:txBody>
          <a:bodyPr wrap="square" lIns="0" tIns="0" rIns="0" bIns="0" rtlCol="0" anchor="t"/>
          <a:lstStyle/>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Sous vide (soo-VEED) — cooking vacuum-sealed food at precise low temperature. Our Caesar egg gets an hour of it.</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Blanch / sear / poach / braise — the everyday fine-dining methods.</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Roux (ROO) — butter and flour, the classic thickener. It is why “cream soup” so often means gluten.</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Umami — the fifth taste: savory, rich depth. Dry-aged beef, bonito, mushrooms.</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Mirepoix (meer-PWAH) — onion, carrot, celery. The start of most stocks and soups.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Vocabulary — the floor and the house</a:t>
            </a:r>
            <a:endParaRPr lang="en-US" sz="3400" dirty="0"/>
          </a:p>
        </p:txBody>
      </p:sp>
      <p:sp>
        <p:nvSpPr>
          <p:cNvPr id="3" name="Text 1"/>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1 — Orientation</a:t>
            </a:r>
            <a:endParaRPr lang="en-US" sz="950" dirty="0"/>
          </a:p>
        </p:txBody>
      </p:sp>
      <p:sp>
        <p:nvSpPr>
          <p:cNvPr id="4" name="Text 2"/>
          <p:cNvSpPr/>
          <p:nvPr/>
        </p:nvSpPr>
        <p:spPr>
          <a:xfrm>
            <a:off x="566928" y="1463040"/>
            <a:ext cx="5300320" cy="292608"/>
          </a:xfrm>
          <a:prstGeom prst="rect">
            <a:avLst/>
          </a:prstGeom>
          <a:noFill/>
          <a:ln/>
        </p:spPr>
        <p:txBody>
          <a:bodyPr wrap="square" lIns="0" tIns="0" rIns="0" bIns="0" rtlCol="0" anchor="ctr"/>
          <a:lstStyle/>
          <a:p>
            <a:pPr indent="0" marL="0">
              <a:buNone/>
            </a:pPr>
            <a:r>
              <a:rPr lang="en-US" sz="1500" b="1" dirty="0">
                <a:solidFill>
                  <a:srgbClr val="59201C"/>
                </a:solidFill>
                <a:latin typeface="Cambria" pitchFamily="34" charset="0"/>
                <a:ea typeface="Cambria" pitchFamily="34" charset="-122"/>
                <a:cs typeface="Cambria" pitchFamily="34" charset="-120"/>
              </a:rPr>
              <a:t>Hospitality</a:t>
            </a:r>
            <a:endParaRPr lang="en-US" sz="1500" dirty="0"/>
          </a:p>
        </p:txBody>
      </p:sp>
      <p:sp>
        <p:nvSpPr>
          <p:cNvPr id="5" name="Text 3"/>
          <p:cNvSpPr/>
          <p:nvPr/>
        </p:nvSpPr>
        <p:spPr>
          <a:xfrm>
            <a:off x="566928" y="1847088"/>
            <a:ext cx="5300320" cy="4279392"/>
          </a:xfrm>
          <a:prstGeom prst="rect">
            <a:avLst/>
          </a:prstGeom>
          <a:noFill/>
          <a:ln/>
        </p:spPr>
        <p:txBody>
          <a:bodyPr wrap="square" lIns="0" tIns="0" rIns="0" bIns="0" rtlCol="0" anchor="t"/>
          <a:lstStyle/>
          <a:p>
            <a:pPr marL="177800" indent="-177800">
              <a:lnSpc>
                <a:spcPts val="1560"/>
              </a:lnSpc>
              <a:spcAft>
                <a:spcPts val="600"/>
              </a:spcAft>
              <a:buSzPct val="100000"/>
              <a:buChar char="•"/>
            </a:pPr>
            <a:r>
              <a:rPr lang="en-US" sz="1200" dirty="0">
                <a:solidFill>
                  <a:srgbClr val="2B2118"/>
                </a:solidFill>
                <a:latin typeface="Calibri" pitchFamily="34" charset="0"/>
                <a:ea typeface="Calibri" pitchFamily="34" charset="-122"/>
                <a:cs typeface="Calibri" pitchFamily="34" charset="-120"/>
              </a:rPr>
              <a:t>Guest recovery — correcting a mistake so gracefully it becomes a good memory.</a:t>
            </a:r>
            <a:endParaRPr lang="en-US" sz="1200" dirty="0"/>
          </a:p>
          <a:p>
            <a:pPr marL="177800" indent="-177800">
              <a:lnSpc>
                <a:spcPts val="1560"/>
              </a:lnSpc>
              <a:spcAft>
                <a:spcPts val="600"/>
              </a:spcAft>
              <a:buSzPct val="100000"/>
              <a:buChar char="•"/>
            </a:pPr>
            <a:r>
              <a:rPr lang="en-US" sz="1200" dirty="0">
                <a:solidFill>
                  <a:srgbClr val="2B2118"/>
                </a:solidFill>
                <a:latin typeface="Calibri" pitchFamily="34" charset="0"/>
                <a:ea typeface="Calibri" pitchFamily="34" charset="-122"/>
                <a:cs typeface="Calibri" pitchFamily="34" charset="-120"/>
              </a:rPr>
              <a:t>Anticipatory service — seeing the need before the guest asks.</a:t>
            </a:r>
            <a:endParaRPr lang="en-US" sz="1200" dirty="0"/>
          </a:p>
          <a:p>
            <a:pPr marL="177800" indent="-177800">
              <a:lnSpc>
                <a:spcPts val="1560"/>
              </a:lnSpc>
              <a:spcAft>
                <a:spcPts val="600"/>
              </a:spcAft>
              <a:buSzPct val="100000"/>
              <a:buChar char="•"/>
            </a:pPr>
            <a:r>
              <a:rPr lang="en-US" sz="1200" dirty="0">
                <a:solidFill>
                  <a:srgbClr val="2B2118"/>
                </a:solidFill>
                <a:latin typeface="Calibri" pitchFamily="34" charset="0"/>
                <a:ea typeface="Calibri" pitchFamily="34" charset="-122"/>
                <a:cs typeface="Calibri" pitchFamily="34" charset="-120"/>
              </a:rPr>
              <a:t>Upselling — guiding the guest to what genuinely improves their night, never pushing.</a:t>
            </a:r>
            <a:endParaRPr lang="en-US" sz="1200" dirty="0"/>
          </a:p>
          <a:p>
            <a:pPr marL="177800" indent="-177800">
              <a:lnSpc>
                <a:spcPts val="1560"/>
              </a:lnSpc>
              <a:spcAft>
                <a:spcPts val="600"/>
              </a:spcAft>
              <a:buSzPct val="100000"/>
              <a:buChar char="•"/>
            </a:pPr>
            <a:r>
              <a:rPr lang="en-US" sz="1200" dirty="0">
                <a:solidFill>
                  <a:srgbClr val="2B2118"/>
                </a:solidFill>
                <a:latin typeface="Calibri" pitchFamily="34" charset="0"/>
                <a:ea typeface="Calibri" pitchFamily="34" charset="-122"/>
                <a:cs typeface="Calibri" pitchFamily="34" charset="-120"/>
              </a:rPr>
              <a:t>Table maintenance — the quiet resetting that keeps a table beautiful mid-meal.</a:t>
            </a:r>
            <a:endParaRPr lang="en-US" sz="1200" dirty="0"/>
          </a:p>
          <a:p>
            <a:pPr marL="177800" indent="-177800">
              <a:lnSpc>
                <a:spcPts val="1560"/>
              </a:lnSpc>
              <a:spcAft>
                <a:spcPts val="600"/>
              </a:spcAft>
              <a:buSzPct val="100000"/>
              <a:buChar char="•"/>
            </a:pPr>
            <a:r>
              <a:rPr lang="en-US" sz="1200" dirty="0">
                <a:solidFill>
                  <a:srgbClr val="2B2118"/>
                </a:solidFill>
                <a:latin typeface="Calibri" pitchFamily="34" charset="0"/>
                <a:ea typeface="Calibri" pitchFamily="34" charset="-122"/>
                <a:cs typeface="Calibri" pitchFamily="34" charset="-120"/>
              </a:rPr>
              <a:t>Body language awareness — reading and mirroring the guest's cues.</a:t>
            </a:r>
            <a:endParaRPr lang="en-US" sz="1200" dirty="0"/>
          </a:p>
        </p:txBody>
      </p:sp>
      <p:sp>
        <p:nvSpPr>
          <p:cNvPr id="6" name="Text 4"/>
          <p:cNvSpPr/>
          <p:nvPr/>
        </p:nvSpPr>
        <p:spPr>
          <a:xfrm>
            <a:off x="6324448" y="1463040"/>
            <a:ext cx="5300320" cy="292608"/>
          </a:xfrm>
          <a:prstGeom prst="rect">
            <a:avLst/>
          </a:prstGeom>
          <a:noFill/>
          <a:ln/>
        </p:spPr>
        <p:txBody>
          <a:bodyPr wrap="square" lIns="0" tIns="0" rIns="0" bIns="0" rtlCol="0" anchor="ctr"/>
          <a:lstStyle/>
          <a:p>
            <a:pPr indent="0" marL="0">
              <a:buNone/>
            </a:pPr>
            <a:r>
              <a:rPr lang="en-US" sz="1500" b="1" dirty="0">
                <a:solidFill>
                  <a:srgbClr val="59201C"/>
                </a:solidFill>
                <a:latin typeface="Cambria" pitchFamily="34" charset="0"/>
                <a:ea typeface="Cambria" pitchFamily="34" charset="-122"/>
                <a:cs typeface="Cambria" pitchFamily="34" charset="-120"/>
              </a:rPr>
              <a:t>Common terms</a:t>
            </a:r>
            <a:endParaRPr lang="en-US" sz="1500" dirty="0"/>
          </a:p>
        </p:txBody>
      </p:sp>
      <p:sp>
        <p:nvSpPr>
          <p:cNvPr id="7" name="Text 5"/>
          <p:cNvSpPr/>
          <p:nvPr/>
        </p:nvSpPr>
        <p:spPr>
          <a:xfrm>
            <a:off x="6324448" y="1847088"/>
            <a:ext cx="5300320" cy="4279392"/>
          </a:xfrm>
          <a:prstGeom prst="rect">
            <a:avLst/>
          </a:prstGeom>
          <a:noFill/>
          <a:ln/>
        </p:spPr>
        <p:txBody>
          <a:bodyPr wrap="square" lIns="0" tIns="0" rIns="0" bIns="0" rtlCol="0" anchor="t"/>
          <a:lstStyle/>
          <a:p>
            <a:pPr marL="177800" indent="-177800">
              <a:lnSpc>
                <a:spcPts val="1560"/>
              </a:lnSpc>
              <a:spcAft>
                <a:spcPts val="600"/>
              </a:spcAft>
              <a:buSzPct val="100000"/>
              <a:buChar char="•"/>
            </a:pPr>
            <a:r>
              <a:rPr lang="en-US" sz="1200" dirty="0">
                <a:solidFill>
                  <a:srgbClr val="2B2118"/>
                </a:solidFill>
                <a:latin typeface="Calibri" pitchFamily="34" charset="0"/>
                <a:ea typeface="Calibri" pitchFamily="34" charset="-122"/>
                <a:cs typeface="Calibri" pitchFamily="34" charset="-120"/>
              </a:rPr>
              <a:t>Brigade — the structured hierarchy of kitchen and service staff.</a:t>
            </a:r>
            <a:endParaRPr lang="en-US" sz="1200" dirty="0"/>
          </a:p>
          <a:p>
            <a:pPr marL="177800" indent="-177800">
              <a:lnSpc>
                <a:spcPts val="1560"/>
              </a:lnSpc>
              <a:spcAft>
                <a:spcPts val="600"/>
              </a:spcAft>
              <a:buSzPct val="100000"/>
              <a:buChar char="•"/>
            </a:pPr>
            <a:r>
              <a:rPr lang="en-US" sz="1200" dirty="0">
                <a:solidFill>
                  <a:srgbClr val="2B2118"/>
                </a:solidFill>
                <a:latin typeface="Calibri" pitchFamily="34" charset="0"/>
                <a:ea typeface="Calibri" pitchFamily="34" charset="-122"/>
                <a:cs typeface="Calibri" pitchFamily="34" charset="-120"/>
              </a:rPr>
              <a:t>FOH / BOH — front of house and back of house.</a:t>
            </a:r>
            <a:endParaRPr lang="en-US" sz="1200" dirty="0"/>
          </a:p>
          <a:p>
            <a:pPr marL="177800" indent="-177800">
              <a:lnSpc>
                <a:spcPts val="1560"/>
              </a:lnSpc>
              <a:spcAft>
                <a:spcPts val="600"/>
              </a:spcAft>
              <a:buSzPct val="100000"/>
              <a:buChar char="•"/>
            </a:pPr>
            <a:r>
              <a:rPr lang="en-US" sz="1200" dirty="0">
                <a:solidFill>
                  <a:srgbClr val="2B2118"/>
                </a:solidFill>
                <a:latin typeface="Calibri" pitchFamily="34" charset="0"/>
                <a:ea typeface="Calibri" pitchFamily="34" charset="-122"/>
                <a:cs typeface="Calibri" pitchFamily="34" charset="-120"/>
              </a:rPr>
              <a:t>86'd — out of stock or unavailable. Inside word only.</a:t>
            </a:r>
            <a:endParaRPr lang="en-US" sz="1200" dirty="0"/>
          </a:p>
          <a:p>
            <a:pPr marL="177800" indent="-177800">
              <a:lnSpc>
                <a:spcPts val="1560"/>
              </a:lnSpc>
              <a:spcAft>
                <a:spcPts val="600"/>
              </a:spcAft>
              <a:buSzPct val="100000"/>
              <a:buChar char="•"/>
            </a:pPr>
            <a:r>
              <a:rPr lang="en-US" sz="1200" dirty="0">
                <a:solidFill>
                  <a:srgbClr val="2B2118"/>
                </a:solidFill>
                <a:latin typeface="Calibri" pitchFamily="34" charset="0"/>
                <a:ea typeface="Calibri" pitchFamily="34" charset="-122"/>
                <a:cs typeface="Calibri" pitchFamily="34" charset="-120"/>
              </a:rPr>
              <a:t>Fire / pick up / hands — start a dish, it is ready, someone run it.</a:t>
            </a:r>
            <a:endParaRPr lang="en-US" sz="1200" dirty="0"/>
          </a:p>
          <a:p>
            <a:pPr marL="177800" indent="-177800">
              <a:lnSpc>
                <a:spcPts val="1560"/>
              </a:lnSpc>
              <a:spcAft>
                <a:spcPts val="600"/>
              </a:spcAft>
              <a:buSzPct val="100000"/>
              <a:buChar char="•"/>
            </a:pPr>
            <a:r>
              <a:rPr lang="en-US" sz="1200" dirty="0">
                <a:solidFill>
                  <a:srgbClr val="2B2118"/>
                </a:solidFill>
                <a:latin typeface="Calibri" pitchFamily="34" charset="0"/>
                <a:ea typeface="Calibri" pitchFamily="34" charset="-122"/>
                <a:cs typeface="Calibri" pitchFamily="34" charset="-120"/>
              </a:rPr>
              <a:t>Expo — the expediter coordinating between kitchen and servers.</a:t>
            </a:r>
            <a:endParaRPr lang="en-US" sz="1200" dirty="0"/>
          </a:p>
          <a:p>
            <a:pPr marL="177800" indent="-177800">
              <a:lnSpc>
                <a:spcPts val="1560"/>
              </a:lnSpc>
              <a:spcAft>
                <a:spcPts val="600"/>
              </a:spcAft>
              <a:buSzPct val="100000"/>
              <a:buChar char="•"/>
            </a:pPr>
            <a:r>
              <a:rPr lang="en-US" sz="1200" dirty="0">
                <a:solidFill>
                  <a:srgbClr val="2B2118"/>
                </a:solidFill>
                <a:latin typeface="Calibri" pitchFamily="34" charset="0"/>
                <a:ea typeface="Calibri" pitchFamily="34" charset="-122"/>
                <a:cs typeface="Calibri" pitchFamily="34" charset="-120"/>
              </a:rPr>
              <a:t>Checkback / two-bite rule — return within two bites to make sure the course is right.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59201C"/>
        </a:solidFill>
      </p:bgPr>
    </p:bg>
    <p:spTree>
      <p:nvGrpSpPr>
        <p:cNvPr id="1" name=""/>
        <p:cNvGrpSpPr/>
        <p:nvPr/>
      </p:nvGrpSpPr>
      <p:grpSpPr>
        <a:xfrm>
          <a:off x="0" y="0"/>
          <a:ext cx="0" cy="0"/>
          <a:chOff x="0" y="0"/>
          <a:chExt cx="0" cy="0"/>
        </a:xfrm>
      </p:grpSpPr>
      <p:sp>
        <p:nvSpPr>
          <p:cNvPr id="2" name="Shape 0"/>
          <p:cNvSpPr/>
          <p:nvPr/>
        </p:nvSpPr>
        <p:spPr>
          <a:xfrm>
            <a:off x="566928" y="1737360"/>
            <a:ext cx="1051560" cy="1051560"/>
          </a:xfrm>
          <a:prstGeom prst="ellipse">
            <a:avLst/>
          </a:prstGeom>
          <a:solidFill>
            <a:srgbClr val="F7EFE4"/>
          </a:solidFill>
          <a:ln w="12700">
            <a:solidFill>
              <a:srgbClr val="F7EFE4"/>
            </a:solidFill>
            <a:prstDash val="solid"/>
          </a:ln>
        </p:spPr>
      </p:sp>
      <p:sp>
        <p:nvSpPr>
          <p:cNvPr id="3" name="Text 1"/>
          <p:cNvSpPr/>
          <p:nvPr/>
        </p:nvSpPr>
        <p:spPr>
          <a:xfrm>
            <a:off x="566928" y="1737360"/>
            <a:ext cx="1051560" cy="1051560"/>
          </a:xfrm>
          <a:prstGeom prst="rect">
            <a:avLst/>
          </a:prstGeom>
          <a:noFill/>
          <a:ln/>
        </p:spPr>
        <p:txBody>
          <a:bodyPr wrap="square" lIns="0" tIns="0" rIns="0" bIns="0" rtlCol="0" anchor="ctr"/>
          <a:lstStyle/>
          <a:p>
            <a:pPr algn="ctr" indent="0" marL="0">
              <a:buNone/>
            </a:pPr>
            <a:r>
              <a:rPr lang="en-US" sz="4000" b="1" dirty="0">
                <a:solidFill>
                  <a:srgbClr val="59201C"/>
                </a:solidFill>
                <a:latin typeface="Cambria" pitchFamily="34" charset="0"/>
                <a:ea typeface="Cambria" pitchFamily="34" charset="-122"/>
                <a:cs typeface="Cambria" pitchFamily="34" charset="-120"/>
              </a:rPr>
              <a:t>2</a:t>
            </a:r>
            <a:endParaRPr lang="en-US" sz="4000" dirty="0"/>
          </a:p>
        </p:txBody>
      </p:sp>
      <p:sp>
        <p:nvSpPr>
          <p:cNvPr id="4" name="Text 2"/>
          <p:cNvSpPr/>
          <p:nvPr/>
        </p:nvSpPr>
        <p:spPr>
          <a:xfrm>
            <a:off x="1938528" y="1700784"/>
            <a:ext cx="9686239" cy="786384"/>
          </a:xfrm>
          <a:prstGeom prst="rect">
            <a:avLst/>
          </a:prstGeom>
          <a:noFill/>
          <a:ln/>
        </p:spPr>
        <p:txBody>
          <a:bodyPr wrap="square" lIns="0" tIns="0" rIns="0" bIns="0" rtlCol="0" anchor="ctr"/>
          <a:lstStyle/>
          <a:p>
            <a:pPr indent="0" marL="0">
              <a:buNone/>
            </a:pPr>
            <a:r>
              <a:rPr lang="en-US" sz="4000" b="1" dirty="0">
                <a:solidFill>
                  <a:srgbClr val="F7EFE4"/>
                </a:solidFill>
                <a:latin typeface="Cambria" pitchFamily="34" charset="0"/>
                <a:ea typeface="Cambria" pitchFamily="34" charset="-122"/>
                <a:cs typeface="Cambria" pitchFamily="34" charset="-120"/>
              </a:rPr>
              <a:t>Appetizers, Salads and Soups</a:t>
            </a:r>
            <a:endParaRPr lang="en-US" sz="4000" dirty="0"/>
          </a:p>
        </p:txBody>
      </p:sp>
      <p:sp>
        <p:nvSpPr>
          <p:cNvPr id="5" name="Text 3"/>
          <p:cNvSpPr/>
          <p:nvPr/>
        </p:nvSpPr>
        <p:spPr>
          <a:xfrm>
            <a:off x="1938528" y="2542032"/>
            <a:ext cx="9686239" cy="1371600"/>
          </a:xfrm>
          <a:prstGeom prst="rect">
            <a:avLst/>
          </a:prstGeom>
          <a:noFill/>
          <a:ln/>
        </p:spPr>
        <p:txBody>
          <a:bodyPr wrap="square" lIns="0" tIns="0" rIns="0" bIns="0" rtlCol="0" anchor="ctr"/>
          <a:lstStyle/>
          <a:p>
            <a:pPr indent="0" marL="0">
              <a:lnSpc>
                <a:spcPts val="2100"/>
              </a:lnSpc>
              <a:buNone/>
            </a:pPr>
            <a:r>
              <a:rPr lang="en-US" sz="1400" i="1" dirty="0">
                <a:solidFill>
                  <a:srgbClr val="E8D6C8"/>
                </a:solidFill>
                <a:latin typeface="Calibri" pitchFamily="34" charset="0"/>
                <a:ea typeface="Calibri" pitchFamily="34" charset="-122"/>
                <a:cs typeface="Calibri" pitchFamily="34" charset="-120"/>
              </a:rPr>
              <a:t>Dish descriptions, allergens to be aware of, presentation examples, common alterations, and serving utensils.</a:t>
            </a:r>
            <a:endParaRPr lang="en-US" sz="1400" dirty="0"/>
          </a:p>
        </p:txBody>
      </p:sp>
      <p:sp>
        <p:nvSpPr>
          <p:cNvPr id="6" name="Text 4"/>
          <p:cNvSpPr/>
          <p:nvPr/>
        </p:nvSpPr>
        <p:spPr>
          <a:xfrm>
            <a:off x="566928" y="6199632"/>
            <a:ext cx="11057839" cy="274320"/>
          </a:xfrm>
          <a:prstGeom prst="rect">
            <a:avLst/>
          </a:prstGeom>
          <a:noFill/>
          <a:ln/>
        </p:spPr>
        <p:txBody>
          <a:bodyPr wrap="square" lIns="0" tIns="0" rIns="0" bIns="0" rtlCol="0" anchor="ctr"/>
          <a:lstStyle/>
          <a:p>
            <a:pPr indent="0" marL="0">
              <a:buNone/>
            </a:pPr>
            <a:r>
              <a:rPr lang="en-US" sz="1050" dirty="0">
                <a:solidFill>
                  <a:srgbClr val="C9A99A"/>
                </a:solidFill>
                <a:latin typeface="Calibri" pitchFamily="34" charset="0"/>
                <a:ea typeface="Calibri" pitchFamily="34" charset="-122"/>
                <a:cs typeface="Calibri" pitchFamily="34" charset="-120"/>
              </a:rPr>
              <a:t>From the original Mo's Training Itinerary</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How to learn any dish</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The itinerary asks five questions of every dish. They are the right five.</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2 — Appetizers, Salads and Soups</a:t>
            </a:r>
            <a:endParaRPr lang="en-US" sz="950" dirty="0"/>
          </a:p>
        </p:txBody>
      </p:sp>
      <p:sp>
        <p:nvSpPr>
          <p:cNvPr id="5" name="Shape 3"/>
          <p:cNvSpPr/>
          <p:nvPr/>
        </p:nvSpPr>
        <p:spPr>
          <a:xfrm>
            <a:off x="566928" y="1572768"/>
            <a:ext cx="2050633" cy="1691640"/>
          </a:xfrm>
          <a:prstGeom prst="roundRect">
            <a:avLst>
              <a:gd name="adj" fmla="val 3243"/>
            </a:avLst>
          </a:prstGeom>
          <a:solidFill>
            <a:srgbClr val="F2E9D8"/>
          </a:solidFill>
          <a:ln w="12700">
            <a:solidFill>
              <a:srgbClr val="E4D8C0"/>
            </a:solidFill>
            <a:prstDash val="solid"/>
          </a:ln>
        </p:spPr>
      </p:sp>
      <p:sp>
        <p:nvSpPr>
          <p:cNvPr id="6" name="Text 4"/>
          <p:cNvSpPr/>
          <p:nvPr/>
        </p:nvSpPr>
        <p:spPr>
          <a:xfrm>
            <a:off x="749808" y="1719072"/>
            <a:ext cx="1684873" cy="310896"/>
          </a:xfrm>
          <a:prstGeom prst="rect">
            <a:avLst/>
          </a:prstGeom>
          <a:noFill/>
          <a:ln/>
        </p:spPr>
        <p:txBody>
          <a:bodyPr wrap="square" lIns="0" tIns="0" rIns="0" bIns="0" rtlCol="0" anchor="ctr"/>
          <a:lstStyle/>
          <a:p>
            <a:pPr indent="0" marL="0">
              <a:buNone/>
            </a:pPr>
            <a:r>
              <a:rPr lang="en-US" sz="1300" b="1" dirty="0">
                <a:solidFill>
                  <a:srgbClr val="59201C"/>
                </a:solidFill>
                <a:latin typeface="Cambria" pitchFamily="34" charset="0"/>
                <a:ea typeface="Cambria" pitchFamily="34" charset="-122"/>
                <a:cs typeface="Cambria" pitchFamily="34" charset="-120"/>
              </a:rPr>
              <a:t>What is it</a:t>
            </a:r>
            <a:endParaRPr lang="en-US" sz="1300" dirty="0"/>
          </a:p>
        </p:txBody>
      </p:sp>
      <p:sp>
        <p:nvSpPr>
          <p:cNvPr id="7" name="Text 5"/>
          <p:cNvSpPr/>
          <p:nvPr/>
        </p:nvSpPr>
        <p:spPr>
          <a:xfrm>
            <a:off x="749808" y="2066544"/>
            <a:ext cx="1684873" cy="1051560"/>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Ingredients and preparation, in words that sell.</a:t>
            </a:r>
            <a:endParaRPr lang="en-US" sz="1100" dirty="0"/>
          </a:p>
        </p:txBody>
      </p:sp>
      <p:sp>
        <p:nvSpPr>
          <p:cNvPr id="8" name="Shape 6"/>
          <p:cNvSpPr/>
          <p:nvPr/>
        </p:nvSpPr>
        <p:spPr>
          <a:xfrm>
            <a:off x="2818729" y="1572768"/>
            <a:ext cx="2050633" cy="1691640"/>
          </a:xfrm>
          <a:prstGeom prst="roundRect">
            <a:avLst>
              <a:gd name="adj" fmla="val 3243"/>
            </a:avLst>
          </a:prstGeom>
          <a:solidFill>
            <a:srgbClr val="F2E9D8"/>
          </a:solidFill>
          <a:ln w="12700">
            <a:solidFill>
              <a:srgbClr val="E4D8C0"/>
            </a:solidFill>
            <a:prstDash val="solid"/>
          </a:ln>
        </p:spPr>
      </p:sp>
      <p:sp>
        <p:nvSpPr>
          <p:cNvPr id="9" name="Text 7"/>
          <p:cNvSpPr/>
          <p:nvPr/>
        </p:nvSpPr>
        <p:spPr>
          <a:xfrm>
            <a:off x="3001609" y="1719072"/>
            <a:ext cx="1684873" cy="310896"/>
          </a:xfrm>
          <a:prstGeom prst="rect">
            <a:avLst/>
          </a:prstGeom>
          <a:noFill/>
          <a:ln/>
        </p:spPr>
        <p:txBody>
          <a:bodyPr wrap="square" lIns="0" tIns="0" rIns="0" bIns="0" rtlCol="0" anchor="ctr"/>
          <a:lstStyle/>
          <a:p>
            <a:pPr indent="0" marL="0">
              <a:buNone/>
            </a:pPr>
            <a:r>
              <a:rPr lang="en-US" sz="1300" b="1" dirty="0">
                <a:solidFill>
                  <a:srgbClr val="59201C"/>
                </a:solidFill>
                <a:latin typeface="Cambria" pitchFamily="34" charset="0"/>
                <a:ea typeface="Cambria" pitchFamily="34" charset="-122"/>
                <a:cs typeface="Cambria" pitchFamily="34" charset="-120"/>
              </a:rPr>
              <a:t>What are the allergens</a:t>
            </a:r>
            <a:endParaRPr lang="en-US" sz="1300" dirty="0"/>
          </a:p>
        </p:txBody>
      </p:sp>
      <p:sp>
        <p:nvSpPr>
          <p:cNvPr id="10" name="Text 8"/>
          <p:cNvSpPr/>
          <p:nvPr/>
        </p:nvSpPr>
        <p:spPr>
          <a:xfrm>
            <a:off x="3001609" y="2066544"/>
            <a:ext cx="1684873" cy="1051560"/>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The flags that keep a guest safe.</a:t>
            </a:r>
            <a:endParaRPr lang="en-US" sz="1100" dirty="0"/>
          </a:p>
        </p:txBody>
      </p:sp>
      <p:sp>
        <p:nvSpPr>
          <p:cNvPr id="11" name="Shape 9"/>
          <p:cNvSpPr/>
          <p:nvPr/>
        </p:nvSpPr>
        <p:spPr>
          <a:xfrm>
            <a:off x="5070531" y="1572768"/>
            <a:ext cx="2050633" cy="1691640"/>
          </a:xfrm>
          <a:prstGeom prst="roundRect">
            <a:avLst>
              <a:gd name="adj" fmla="val 3243"/>
            </a:avLst>
          </a:prstGeom>
          <a:solidFill>
            <a:srgbClr val="F2E9D8"/>
          </a:solidFill>
          <a:ln w="12700">
            <a:solidFill>
              <a:srgbClr val="E4D8C0"/>
            </a:solidFill>
            <a:prstDash val="solid"/>
          </a:ln>
        </p:spPr>
      </p:sp>
      <p:sp>
        <p:nvSpPr>
          <p:cNvPr id="12" name="Text 10"/>
          <p:cNvSpPr/>
          <p:nvPr/>
        </p:nvSpPr>
        <p:spPr>
          <a:xfrm>
            <a:off x="5253411" y="1719072"/>
            <a:ext cx="1684873" cy="310896"/>
          </a:xfrm>
          <a:prstGeom prst="rect">
            <a:avLst/>
          </a:prstGeom>
          <a:noFill/>
          <a:ln/>
        </p:spPr>
        <p:txBody>
          <a:bodyPr wrap="square" lIns="0" tIns="0" rIns="0" bIns="0" rtlCol="0" anchor="ctr"/>
          <a:lstStyle/>
          <a:p>
            <a:pPr indent="0" marL="0">
              <a:buNone/>
            </a:pPr>
            <a:r>
              <a:rPr lang="en-US" sz="1300" b="1" dirty="0">
                <a:solidFill>
                  <a:srgbClr val="59201C"/>
                </a:solidFill>
                <a:latin typeface="Cambria" pitchFamily="34" charset="0"/>
                <a:ea typeface="Cambria" pitchFamily="34" charset="-122"/>
                <a:cs typeface="Cambria" pitchFamily="34" charset="-120"/>
              </a:rPr>
              <a:t>How is it presented</a:t>
            </a:r>
            <a:endParaRPr lang="en-US" sz="1300" dirty="0"/>
          </a:p>
        </p:txBody>
      </p:sp>
      <p:sp>
        <p:nvSpPr>
          <p:cNvPr id="13" name="Text 11"/>
          <p:cNvSpPr/>
          <p:nvPr/>
        </p:nvSpPr>
        <p:spPr>
          <a:xfrm>
            <a:off x="5253411" y="2066544"/>
            <a:ext cx="1684873" cy="1051560"/>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Plate, setup, and any show that comes with it.</a:t>
            </a:r>
            <a:endParaRPr lang="en-US" sz="1100" dirty="0"/>
          </a:p>
        </p:txBody>
      </p:sp>
      <p:sp>
        <p:nvSpPr>
          <p:cNvPr id="14" name="Shape 12"/>
          <p:cNvSpPr/>
          <p:nvPr/>
        </p:nvSpPr>
        <p:spPr>
          <a:xfrm>
            <a:off x="7322332" y="1572768"/>
            <a:ext cx="2050633" cy="1691640"/>
          </a:xfrm>
          <a:prstGeom prst="roundRect">
            <a:avLst>
              <a:gd name="adj" fmla="val 3243"/>
            </a:avLst>
          </a:prstGeom>
          <a:solidFill>
            <a:srgbClr val="F2E9D8"/>
          </a:solidFill>
          <a:ln w="12700">
            <a:solidFill>
              <a:srgbClr val="E4D8C0"/>
            </a:solidFill>
            <a:prstDash val="solid"/>
          </a:ln>
        </p:spPr>
      </p:sp>
      <p:sp>
        <p:nvSpPr>
          <p:cNvPr id="15" name="Text 13"/>
          <p:cNvSpPr/>
          <p:nvPr/>
        </p:nvSpPr>
        <p:spPr>
          <a:xfrm>
            <a:off x="7505212" y="1719072"/>
            <a:ext cx="1684873" cy="310896"/>
          </a:xfrm>
          <a:prstGeom prst="rect">
            <a:avLst/>
          </a:prstGeom>
          <a:noFill/>
          <a:ln/>
        </p:spPr>
        <p:txBody>
          <a:bodyPr wrap="square" lIns="0" tIns="0" rIns="0" bIns="0" rtlCol="0" anchor="ctr"/>
          <a:lstStyle/>
          <a:p>
            <a:pPr indent="0" marL="0">
              <a:buNone/>
            </a:pPr>
            <a:r>
              <a:rPr lang="en-US" sz="1300" b="1" dirty="0">
                <a:solidFill>
                  <a:srgbClr val="59201C"/>
                </a:solidFill>
                <a:latin typeface="Cambria" pitchFamily="34" charset="0"/>
                <a:ea typeface="Cambria" pitchFamily="34" charset="-122"/>
                <a:cs typeface="Cambria" pitchFamily="34" charset="-120"/>
              </a:rPr>
              <a:t>What can change</a:t>
            </a:r>
            <a:endParaRPr lang="en-US" sz="1300" dirty="0"/>
          </a:p>
        </p:txBody>
      </p:sp>
      <p:sp>
        <p:nvSpPr>
          <p:cNvPr id="16" name="Text 14"/>
          <p:cNvSpPr/>
          <p:nvPr/>
        </p:nvSpPr>
        <p:spPr>
          <a:xfrm>
            <a:off x="7505212" y="2066544"/>
            <a:ext cx="1684873" cy="1051560"/>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The alterations the kitchen will actually do.</a:t>
            </a:r>
            <a:endParaRPr lang="en-US" sz="1100" dirty="0"/>
          </a:p>
        </p:txBody>
      </p:sp>
      <p:sp>
        <p:nvSpPr>
          <p:cNvPr id="17" name="Shape 15"/>
          <p:cNvSpPr/>
          <p:nvPr/>
        </p:nvSpPr>
        <p:spPr>
          <a:xfrm>
            <a:off x="9574134" y="1572768"/>
            <a:ext cx="2050633" cy="1691640"/>
          </a:xfrm>
          <a:prstGeom prst="roundRect">
            <a:avLst>
              <a:gd name="adj" fmla="val 3243"/>
            </a:avLst>
          </a:prstGeom>
          <a:solidFill>
            <a:srgbClr val="F2E9D8"/>
          </a:solidFill>
          <a:ln w="12700">
            <a:solidFill>
              <a:srgbClr val="E4D8C0"/>
            </a:solidFill>
            <a:prstDash val="solid"/>
          </a:ln>
        </p:spPr>
      </p:sp>
      <p:sp>
        <p:nvSpPr>
          <p:cNvPr id="18" name="Text 16"/>
          <p:cNvSpPr/>
          <p:nvPr/>
        </p:nvSpPr>
        <p:spPr>
          <a:xfrm>
            <a:off x="9757014" y="1719072"/>
            <a:ext cx="1684873" cy="310896"/>
          </a:xfrm>
          <a:prstGeom prst="rect">
            <a:avLst/>
          </a:prstGeom>
          <a:noFill/>
          <a:ln/>
        </p:spPr>
        <p:txBody>
          <a:bodyPr wrap="square" lIns="0" tIns="0" rIns="0" bIns="0" rtlCol="0" anchor="ctr"/>
          <a:lstStyle/>
          <a:p>
            <a:pPr indent="0" marL="0">
              <a:buNone/>
            </a:pPr>
            <a:r>
              <a:rPr lang="en-US" sz="1300" b="1" dirty="0">
                <a:solidFill>
                  <a:srgbClr val="59201C"/>
                </a:solidFill>
                <a:latin typeface="Cambria" pitchFamily="34" charset="0"/>
                <a:ea typeface="Cambria" pitchFamily="34" charset="-122"/>
                <a:cs typeface="Cambria" pitchFamily="34" charset="-120"/>
              </a:rPr>
              <a:t>What does it need</a:t>
            </a:r>
            <a:endParaRPr lang="en-US" sz="1300" dirty="0"/>
          </a:p>
        </p:txBody>
      </p:sp>
      <p:sp>
        <p:nvSpPr>
          <p:cNvPr id="19" name="Text 17"/>
          <p:cNvSpPr/>
          <p:nvPr/>
        </p:nvSpPr>
        <p:spPr>
          <a:xfrm>
            <a:off x="9757014" y="2066544"/>
            <a:ext cx="1684873" cy="1051560"/>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The serving utensil that goes down with it.</a:t>
            </a:r>
            <a:endParaRPr lang="en-US" sz="1100" dirty="0"/>
          </a:p>
        </p:txBody>
      </p:sp>
      <p:sp>
        <p:nvSpPr>
          <p:cNvPr id="20" name="Shape 18"/>
          <p:cNvSpPr/>
          <p:nvPr/>
        </p:nvSpPr>
        <p:spPr>
          <a:xfrm>
            <a:off x="566928" y="3657600"/>
            <a:ext cx="11057839" cy="749808"/>
          </a:xfrm>
          <a:prstGeom prst="roundRect">
            <a:avLst>
              <a:gd name="adj" fmla="val 7317"/>
            </a:avLst>
          </a:prstGeom>
          <a:solidFill>
            <a:srgbClr val="F3E7E4"/>
          </a:solidFill>
          <a:ln w="12700">
            <a:solidFill>
              <a:srgbClr val="E2CCC7"/>
            </a:solidFill>
            <a:prstDash val="solid"/>
          </a:ln>
        </p:spPr>
      </p:sp>
      <p:sp>
        <p:nvSpPr>
          <p:cNvPr id="21" name="Text 19"/>
          <p:cNvSpPr/>
          <p:nvPr/>
        </p:nvSpPr>
        <p:spPr>
          <a:xfrm>
            <a:off x="768096" y="3730752"/>
            <a:ext cx="10655503" cy="603504"/>
          </a:xfrm>
          <a:prstGeom prst="rect">
            <a:avLst/>
          </a:prstGeom>
          <a:noFill/>
          <a:ln/>
        </p:spPr>
        <p:txBody>
          <a:bodyPr wrap="square" lIns="0" tIns="0" rIns="0" bIns="0" rtlCol="0" anchor="ctr"/>
          <a:lstStyle/>
          <a:p>
            <a:pPr indent="0" marL="0">
              <a:lnSpc>
                <a:spcPts val="1600"/>
              </a:lnSpc>
              <a:buNone/>
            </a:pPr>
            <a:r>
              <a:rPr lang="en-US" sz="1250" b="1" dirty="0">
                <a:solidFill>
                  <a:srgbClr val="59201C"/>
                </a:solidFill>
                <a:latin typeface="Calibri" pitchFamily="34" charset="0"/>
                <a:ea typeface="Calibri" pitchFamily="34" charset="-122"/>
                <a:cs typeface="Calibri" pitchFamily="34" charset="-120"/>
              </a:rPr>
              <a:t>Two rules sit above every allergen answer:  </a:t>
            </a:r>
            <a:pPr indent="0" marL="0">
              <a:lnSpc>
                <a:spcPts val="1600"/>
              </a:lnSpc>
              <a:buNone/>
            </a:pPr>
            <a:r>
              <a:rPr lang="en-US" sz="1250" dirty="0">
                <a:solidFill>
                  <a:srgbClr val="2B2118"/>
                </a:solidFill>
                <a:latin typeface="Calibri" pitchFamily="34" charset="0"/>
                <a:ea typeface="Calibri" pitchFamily="34" charset="-122"/>
                <a:cs typeface="Calibri" pitchFamily="34" charset="-120"/>
              </a:rPr>
              <a:t>the fryer is shared — one fryer, avocado oil, everything fried touches it. And the protocol is never optional: ask what kind of allergy, ring it in Toast, tell your back server, expo, the chef and a manager. The chart guides; the chef confirms.</a:t>
            </a:r>
            <a:endParaRPr lang="en-US" sz="1250" dirty="0"/>
          </a:p>
        </p:txBody>
      </p:sp>
      <p:sp>
        <p:nvSpPr>
          <p:cNvPr id="22" name="Text 20"/>
          <p:cNvSpPr/>
          <p:nvPr/>
        </p:nvSpPr>
        <p:spPr>
          <a:xfrm>
            <a:off x="566928" y="4617720"/>
            <a:ext cx="11057839" cy="365760"/>
          </a:xfrm>
          <a:prstGeom prst="rect">
            <a:avLst/>
          </a:prstGeom>
          <a:noFill/>
          <a:ln/>
        </p:spPr>
        <p:txBody>
          <a:bodyPr wrap="square" lIns="0" tIns="0" rIns="0" bIns="0" rtlCol="0" anchor="ctr"/>
          <a:lstStyle/>
          <a:p>
            <a:pPr algn="ctr" indent="0" marL="0">
              <a:buNone/>
            </a:pPr>
            <a:r>
              <a:rPr lang="en-US" sz="1700" b="1" i="1" dirty="0">
                <a:solidFill>
                  <a:srgbClr val="59201C"/>
                </a:solidFill>
                <a:latin typeface="Cambria" pitchFamily="34" charset="0"/>
                <a:ea typeface="Cambria" pitchFamily="34" charset="-122"/>
                <a:cs typeface="Cambria" pitchFamily="34" charset="-120"/>
              </a:rPr>
              <a:t>Never guarantee anything from a study sheet.</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Starters</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What it is, and the flag that matters most</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2 — Appetizers, Salads and Soups</a:t>
            </a:r>
            <a:endParaRPr lang="en-US" sz="950" dirty="0"/>
          </a:p>
        </p:txBody>
      </p:sp>
      <p:sp>
        <p:nvSpPr>
          <p:cNvPr id="5" name="Shape 3"/>
          <p:cNvSpPr/>
          <p:nvPr/>
        </p:nvSpPr>
        <p:spPr>
          <a:xfrm>
            <a:off x="566928" y="1508760"/>
            <a:ext cx="365760" cy="365760"/>
          </a:xfrm>
          <a:prstGeom prst="ellipse">
            <a:avLst/>
          </a:prstGeom>
          <a:solidFill>
            <a:srgbClr val="59201C"/>
          </a:solidFill>
          <a:ln w="12700">
            <a:solidFill>
              <a:srgbClr val="59201C"/>
            </a:solidFill>
            <a:prstDash val="solid"/>
          </a:ln>
        </p:spPr>
      </p:sp>
      <p:sp>
        <p:nvSpPr>
          <p:cNvPr id="6" name="Text 4"/>
          <p:cNvSpPr/>
          <p:nvPr/>
        </p:nvSpPr>
        <p:spPr>
          <a:xfrm>
            <a:off x="566928" y="150876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7" name="Text 5"/>
          <p:cNvSpPr/>
          <p:nvPr/>
        </p:nvSpPr>
        <p:spPr>
          <a:xfrm>
            <a:off x="1069848" y="1481328"/>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Crispy Ahi Tuna Bites  $18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Sushi rice, avocado, ponzu, cilantro, jalapeno. Metal chopsticks. The ponzu is built on regular soy — NOT gluten-free no matter how light it reads.</a:t>
            </a:r>
            <a:endParaRPr lang="en-US" sz="1250" dirty="0"/>
          </a:p>
        </p:txBody>
      </p:sp>
      <p:sp>
        <p:nvSpPr>
          <p:cNvPr id="8" name="Shape 6"/>
          <p:cNvSpPr/>
          <p:nvPr/>
        </p:nvSpPr>
        <p:spPr>
          <a:xfrm>
            <a:off x="566928" y="2290572"/>
            <a:ext cx="365760" cy="365760"/>
          </a:xfrm>
          <a:prstGeom prst="ellipse">
            <a:avLst/>
          </a:prstGeom>
          <a:solidFill>
            <a:srgbClr val="59201C"/>
          </a:solidFill>
          <a:ln w="12700">
            <a:solidFill>
              <a:srgbClr val="59201C"/>
            </a:solidFill>
            <a:prstDash val="solid"/>
          </a:ln>
        </p:spPr>
      </p:sp>
      <p:sp>
        <p:nvSpPr>
          <p:cNvPr id="9" name="Text 7"/>
          <p:cNvSpPr/>
          <p:nvPr/>
        </p:nvSpPr>
        <p:spPr>
          <a:xfrm>
            <a:off x="566928" y="2290572"/>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0" name="Text 8"/>
          <p:cNvSpPr/>
          <p:nvPr/>
        </p:nvSpPr>
        <p:spPr>
          <a:xfrm>
            <a:off x="1069848" y="2263140"/>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Seasonal Oysters  $25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Half shell, dry-ice smoke pouring out of the middle. Oyster fork, Tabasco, Zesta crackers, cocktail forks preset — no tongs. Crackers ride the setup: pull them for gluten.</a:t>
            </a:r>
            <a:endParaRPr lang="en-US" sz="1250" dirty="0"/>
          </a:p>
        </p:txBody>
      </p:sp>
      <p:sp>
        <p:nvSpPr>
          <p:cNvPr id="11" name="Shape 9"/>
          <p:cNvSpPr/>
          <p:nvPr/>
        </p:nvSpPr>
        <p:spPr>
          <a:xfrm>
            <a:off x="566928" y="3072384"/>
            <a:ext cx="365760" cy="365760"/>
          </a:xfrm>
          <a:prstGeom prst="ellipse">
            <a:avLst/>
          </a:prstGeom>
          <a:solidFill>
            <a:srgbClr val="59201C"/>
          </a:solidFill>
          <a:ln w="12700">
            <a:solidFill>
              <a:srgbClr val="59201C"/>
            </a:solidFill>
            <a:prstDash val="solid"/>
          </a:ln>
        </p:spPr>
      </p:sp>
      <p:sp>
        <p:nvSpPr>
          <p:cNvPr id="12" name="Text 10"/>
          <p:cNvSpPr/>
          <p:nvPr/>
        </p:nvSpPr>
        <p:spPr>
          <a:xfrm>
            <a:off x="566928" y="3072384"/>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3" name="Text 11"/>
          <p:cNvSpPr/>
          <p:nvPr/>
        </p:nvSpPr>
        <p:spPr>
          <a:xfrm>
            <a:off x="1069848" y="3044952"/>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Calamari  $17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Never frozen, so it never turns chewy. Kung pao is a nut sauce — treat it as BOTH peanut and tree nut. Any nut allergy is a full stop.</a:t>
            </a:r>
            <a:endParaRPr lang="en-US" sz="1250" dirty="0"/>
          </a:p>
        </p:txBody>
      </p:sp>
      <p:sp>
        <p:nvSpPr>
          <p:cNvPr id="14" name="Shape 12"/>
          <p:cNvSpPr/>
          <p:nvPr/>
        </p:nvSpPr>
        <p:spPr>
          <a:xfrm>
            <a:off x="566928" y="3854196"/>
            <a:ext cx="365760" cy="365760"/>
          </a:xfrm>
          <a:prstGeom prst="ellipse">
            <a:avLst/>
          </a:prstGeom>
          <a:solidFill>
            <a:srgbClr val="59201C"/>
          </a:solidFill>
          <a:ln w="12700">
            <a:solidFill>
              <a:srgbClr val="59201C"/>
            </a:solidFill>
            <a:prstDash val="solid"/>
          </a:ln>
        </p:spPr>
      </p:sp>
      <p:sp>
        <p:nvSpPr>
          <p:cNvPr id="15" name="Text 13"/>
          <p:cNvSpPr/>
          <p:nvPr/>
        </p:nvSpPr>
        <p:spPr>
          <a:xfrm>
            <a:off x="566928" y="3854196"/>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6" name="Text 14"/>
          <p:cNvSpPr/>
          <p:nvPr/>
        </p:nvSpPr>
        <p:spPr>
          <a:xfrm>
            <a:off x="1069848" y="3826764"/>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Shrimp Cocktail  $26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U-6 tiger shrimp — under six to a pound. Peeled by hand. Worcestershire in the sauce carries anchovy: a fish allergy needs to hear about it.</a:t>
            </a:r>
            <a:endParaRPr lang="en-US" sz="1250" dirty="0"/>
          </a:p>
        </p:txBody>
      </p:sp>
      <p:sp>
        <p:nvSpPr>
          <p:cNvPr id="17" name="Shape 15"/>
          <p:cNvSpPr/>
          <p:nvPr/>
        </p:nvSpPr>
        <p:spPr>
          <a:xfrm>
            <a:off x="566928" y="4636008"/>
            <a:ext cx="365760" cy="365760"/>
          </a:xfrm>
          <a:prstGeom prst="ellipse">
            <a:avLst/>
          </a:prstGeom>
          <a:solidFill>
            <a:srgbClr val="59201C"/>
          </a:solidFill>
          <a:ln w="12700">
            <a:solidFill>
              <a:srgbClr val="59201C"/>
            </a:solidFill>
            <a:prstDash val="solid"/>
          </a:ln>
        </p:spPr>
      </p:sp>
      <p:sp>
        <p:nvSpPr>
          <p:cNvPr id="18" name="Text 16"/>
          <p:cNvSpPr/>
          <p:nvPr/>
        </p:nvSpPr>
        <p:spPr>
          <a:xfrm>
            <a:off x="566928" y="4636008"/>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9" name="Text 17"/>
          <p:cNvSpPr/>
          <p:nvPr/>
        </p:nvSpPr>
        <p:spPr>
          <a:xfrm>
            <a:off x="1069848" y="4608576"/>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Goat Cheese Spread  $17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Goat, cream and ricotta whipped with basil and rosemary, pistachios, honey drizzled at the table. Dairy, gluten, tree nuts. Spreading knife.</a:t>
            </a:r>
            <a:endParaRPr lang="en-US" sz="1250" dirty="0"/>
          </a:p>
        </p:txBody>
      </p:sp>
      <p:sp>
        <p:nvSpPr>
          <p:cNvPr id="20" name="Shape 18"/>
          <p:cNvSpPr/>
          <p:nvPr/>
        </p:nvSpPr>
        <p:spPr>
          <a:xfrm>
            <a:off x="566928" y="5417820"/>
            <a:ext cx="365760" cy="365760"/>
          </a:xfrm>
          <a:prstGeom prst="ellipse">
            <a:avLst/>
          </a:prstGeom>
          <a:solidFill>
            <a:srgbClr val="59201C"/>
          </a:solidFill>
          <a:ln w="12700">
            <a:solidFill>
              <a:srgbClr val="59201C"/>
            </a:solidFill>
            <a:prstDash val="solid"/>
          </a:ln>
        </p:spPr>
      </p:sp>
      <p:sp>
        <p:nvSpPr>
          <p:cNvPr id="21" name="Text 19"/>
          <p:cNvSpPr/>
          <p:nvPr/>
        </p:nvSpPr>
        <p:spPr>
          <a:xfrm>
            <a:off x="566928" y="541782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22" name="Text 20"/>
          <p:cNvSpPr/>
          <p:nvPr/>
        </p:nvSpPr>
        <p:spPr>
          <a:xfrm>
            <a:off x="1069848" y="5390388"/>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Crab Cake  $18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Maryland style, 95% crab — the selling point writes itself. Egg, Dijon and mayo binder, panko, plated over the remoulade. Spatula.</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Starters</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The rest of the list</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2 — Appetizers, Salads and Soups</a:t>
            </a:r>
            <a:endParaRPr lang="en-US" sz="950" dirty="0"/>
          </a:p>
        </p:txBody>
      </p:sp>
      <p:sp>
        <p:nvSpPr>
          <p:cNvPr id="5" name="Shape 3"/>
          <p:cNvSpPr/>
          <p:nvPr/>
        </p:nvSpPr>
        <p:spPr>
          <a:xfrm>
            <a:off x="566928" y="1508760"/>
            <a:ext cx="365760" cy="365760"/>
          </a:xfrm>
          <a:prstGeom prst="ellipse">
            <a:avLst/>
          </a:prstGeom>
          <a:solidFill>
            <a:srgbClr val="59201C"/>
          </a:solidFill>
          <a:ln w="12700">
            <a:solidFill>
              <a:srgbClr val="59201C"/>
            </a:solidFill>
            <a:prstDash val="solid"/>
          </a:ln>
        </p:spPr>
      </p:sp>
      <p:sp>
        <p:nvSpPr>
          <p:cNvPr id="6" name="Text 4"/>
          <p:cNvSpPr/>
          <p:nvPr/>
        </p:nvSpPr>
        <p:spPr>
          <a:xfrm>
            <a:off x="566928" y="150876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7" name="Text 5"/>
          <p:cNvSpPr/>
          <p:nvPr/>
        </p:nvSpPr>
        <p:spPr>
          <a:xfrm>
            <a:off x="1069848" y="1481328"/>
            <a:ext cx="10554919" cy="618134"/>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Creamy Spicy Crab Dip  $22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Jumbo lump and colossal crab in cream cheese and ricotta, baked bubbly. Menu marks GF — but the chips come out of the shared fryer.</a:t>
            </a:r>
            <a:endParaRPr lang="en-US" sz="1300" dirty="0"/>
          </a:p>
        </p:txBody>
      </p:sp>
      <p:sp>
        <p:nvSpPr>
          <p:cNvPr id="8" name="Shape 6"/>
          <p:cNvSpPr/>
          <p:nvPr/>
        </p:nvSpPr>
        <p:spPr>
          <a:xfrm>
            <a:off x="566928" y="2181758"/>
            <a:ext cx="365760" cy="365760"/>
          </a:xfrm>
          <a:prstGeom prst="ellipse">
            <a:avLst/>
          </a:prstGeom>
          <a:solidFill>
            <a:srgbClr val="59201C"/>
          </a:solidFill>
          <a:ln w="12700">
            <a:solidFill>
              <a:srgbClr val="59201C"/>
            </a:solidFill>
            <a:prstDash val="solid"/>
          </a:ln>
        </p:spPr>
      </p:sp>
      <p:sp>
        <p:nvSpPr>
          <p:cNvPr id="9" name="Text 7"/>
          <p:cNvSpPr/>
          <p:nvPr/>
        </p:nvSpPr>
        <p:spPr>
          <a:xfrm>
            <a:off x="566928" y="2181758"/>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0" name="Text 8"/>
          <p:cNvSpPr/>
          <p:nvPr/>
        </p:nvSpPr>
        <p:spPr>
          <a:xfrm>
            <a:off x="1069848" y="2154326"/>
            <a:ext cx="10554919" cy="618134"/>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Prime Meatballs  $16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We grind filet, ribeye and strip trim in house every day. Hot ceramic dish, house marinara, melted provolone.</a:t>
            </a:r>
            <a:endParaRPr lang="en-US" sz="1300" dirty="0"/>
          </a:p>
        </p:txBody>
      </p:sp>
      <p:sp>
        <p:nvSpPr>
          <p:cNvPr id="11" name="Shape 9"/>
          <p:cNvSpPr/>
          <p:nvPr/>
        </p:nvSpPr>
        <p:spPr>
          <a:xfrm>
            <a:off x="566928" y="2854757"/>
            <a:ext cx="365760" cy="365760"/>
          </a:xfrm>
          <a:prstGeom prst="ellipse">
            <a:avLst/>
          </a:prstGeom>
          <a:solidFill>
            <a:srgbClr val="59201C"/>
          </a:solidFill>
          <a:ln w="12700">
            <a:solidFill>
              <a:srgbClr val="59201C"/>
            </a:solidFill>
            <a:prstDash val="solid"/>
          </a:ln>
        </p:spPr>
      </p:sp>
      <p:sp>
        <p:nvSpPr>
          <p:cNvPr id="12" name="Text 10"/>
          <p:cNvSpPr/>
          <p:nvPr/>
        </p:nvSpPr>
        <p:spPr>
          <a:xfrm>
            <a:off x="566928" y="2854757"/>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3" name="Text 11"/>
          <p:cNvSpPr/>
          <p:nvPr/>
        </p:nvSpPr>
        <p:spPr>
          <a:xfrm>
            <a:off x="1069848" y="2827325"/>
            <a:ext cx="10554919" cy="618134"/>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Wagyu Tacos  $25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A5 sliced thin and flash-seared in a crispy wonton shell, chimichurri, balsamic pearls that pop like caviar. Balsamic glaze is the sauce. Tongs.</a:t>
            </a:r>
            <a:endParaRPr lang="en-US" sz="1300" dirty="0"/>
          </a:p>
        </p:txBody>
      </p:sp>
      <p:sp>
        <p:nvSpPr>
          <p:cNvPr id="14" name="Shape 12"/>
          <p:cNvSpPr/>
          <p:nvPr/>
        </p:nvSpPr>
        <p:spPr>
          <a:xfrm>
            <a:off x="566928" y="3527755"/>
            <a:ext cx="365760" cy="365760"/>
          </a:xfrm>
          <a:prstGeom prst="ellipse">
            <a:avLst/>
          </a:prstGeom>
          <a:solidFill>
            <a:srgbClr val="59201C"/>
          </a:solidFill>
          <a:ln w="12700">
            <a:solidFill>
              <a:srgbClr val="59201C"/>
            </a:solidFill>
            <a:prstDash val="solid"/>
          </a:ln>
        </p:spPr>
      </p:sp>
      <p:sp>
        <p:nvSpPr>
          <p:cNvPr id="15" name="Text 13"/>
          <p:cNvSpPr/>
          <p:nvPr/>
        </p:nvSpPr>
        <p:spPr>
          <a:xfrm>
            <a:off x="566928" y="3527755"/>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6" name="Text 14"/>
          <p:cNvSpPr/>
          <p:nvPr/>
        </p:nvSpPr>
        <p:spPr>
          <a:xfrm>
            <a:off x="1069848" y="3500323"/>
            <a:ext cx="10554919" cy="618134"/>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A5 Nigiri  $35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Torched sushi rice, balsamic pearls, Asian pear wine reduction, crispy leeks. Metal chopsticks. Trace alcohol in the reduction.</a:t>
            </a:r>
            <a:endParaRPr lang="en-US" sz="1300" dirty="0"/>
          </a:p>
        </p:txBody>
      </p:sp>
      <p:sp>
        <p:nvSpPr>
          <p:cNvPr id="17" name="Shape 15"/>
          <p:cNvSpPr/>
          <p:nvPr/>
        </p:nvSpPr>
        <p:spPr>
          <a:xfrm>
            <a:off x="566928" y="4200754"/>
            <a:ext cx="365760" cy="365760"/>
          </a:xfrm>
          <a:prstGeom prst="ellipse">
            <a:avLst/>
          </a:prstGeom>
          <a:solidFill>
            <a:srgbClr val="59201C"/>
          </a:solidFill>
          <a:ln w="12700">
            <a:solidFill>
              <a:srgbClr val="59201C"/>
            </a:solidFill>
            <a:prstDash val="solid"/>
          </a:ln>
        </p:spPr>
      </p:sp>
      <p:sp>
        <p:nvSpPr>
          <p:cNvPr id="18" name="Text 16"/>
          <p:cNvSpPr/>
          <p:nvPr/>
        </p:nvSpPr>
        <p:spPr>
          <a:xfrm>
            <a:off x="566928" y="4200754"/>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9" name="Text 17"/>
          <p:cNvSpPr/>
          <p:nvPr/>
        </p:nvSpPr>
        <p:spPr>
          <a:xfrm>
            <a:off x="1069848" y="4173322"/>
            <a:ext cx="10554919" cy="618134"/>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King Crab Legs  market price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Melted butter and cocktail sauce. Cocktail forks, tongs, butter warmer with clarified butter. ALWAYS quote Toast, never memory.</a:t>
            </a:r>
            <a:endParaRPr lang="en-US" sz="1300" dirty="0"/>
          </a:p>
        </p:txBody>
      </p:sp>
      <p:sp>
        <p:nvSpPr>
          <p:cNvPr id="20" name="Shape 18"/>
          <p:cNvSpPr/>
          <p:nvPr/>
        </p:nvSpPr>
        <p:spPr>
          <a:xfrm>
            <a:off x="566928" y="4892040"/>
            <a:ext cx="11057839" cy="749808"/>
          </a:xfrm>
          <a:prstGeom prst="roundRect">
            <a:avLst>
              <a:gd name="adj" fmla="val 7317"/>
            </a:avLst>
          </a:prstGeom>
          <a:solidFill>
            <a:srgbClr val="F3E7E4"/>
          </a:solidFill>
          <a:ln w="12700">
            <a:solidFill>
              <a:srgbClr val="E2CCC7"/>
            </a:solidFill>
            <a:prstDash val="solid"/>
          </a:ln>
        </p:spPr>
      </p:sp>
      <p:sp>
        <p:nvSpPr>
          <p:cNvPr id="21" name="Text 19"/>
          <p:cNvSpPr/>
          <p:nvPr/>
        </p:nvSpPr>
        <p:spPr>
          <a:xfrm>
            <a:off x="768096" y="4965192"/>
            <a:ext cx="10655503" cy="603504"/>
          </a:xfrm>
          <a:prstGeom prst="rect">
            <a:avLst/>
          </a:prstGeom>
          <a:noFill/>
          <a:ln/>
        </p:spPr>
        <p:txBody>
          <a:bodyPr wrap="square" lIns="0" tIns="0" rIns="0" bIns="0" rtlCol="0" anchor="ctr"/>
          <a:lstStyle/>
          <a:p>
            <a:pPr indent="0" marL="0">
              <a:lnSpc>
                <a:spcPts val="1600"/>
              </a:lnSpc>
              <a:buNone/>
            </a:pPr>
            <a:r>
              <a:rPr lang="en-US" sz="1250" b="1" dirty="0">
                <a:solidFill>
                  <a:srgbClr val="59201C"/>
                </a:solidFill>
                <a:latin typeface="Calibri" pitchFamily="34" charset="0"/>
                <a:ea typeface="Calibri" pitchFamily="34" charset="-122"/>
                <a:cs typeface="Calibri" pitchFamily="34" charset="-120"/>
              </a:rPr>
              <a:t>The lounge menu:  </a:t>
            </a:r>
            <a:pPr indent="0" marL="0">
              <a:lnSpc>
                <a:spcPts val="1600"/>
              </a:lnSpc>
              <a:buNone/>
            </a:pPr>
            <a:r>
              <a:rPr lang="en-US" sz="1250" dirty="0">
                <a:solidFill>
                  <a:srgbClr val="2B2118"/>
                </a:solidFill>
                <a:latin typeface="Calibri" pitchFamily="34" charset="0"/>
                <a:ea typeface="Calibri" pitchFamily="34" charset="-122"/>
                <a:cs typeface="Calibri" pitchFamily="34" charset="-120"/>
              </a:rPr>
              <a:t>Filet Sliders $18 · Carne Asada Nachos $25 · Prime Beef Burger $23 · French Dip Egg Rolls $15 · Chicken Parm Sandwich $24 · Tuna Poke $29 — and that poke hides shellfish, the calamari salad is in it.</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Place a picture here</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Day 2 — Appetizers, Salads and Soups</a:t>
            </a:r>
            <a:endParaRPr lang="en-US" sz="1350" dirty="0"/>
          </a:p>
        </p:txBody>
      </p:sp>
      <p:sp>
        <p:nvSpPr>
          <p:cNvPr id="4" name="Shape 2"/>
          <p:cNvSpPr/>
          <p:nvPr/>
        </p:nvSpPr>
        <p:spPr>
          <a:xfrm>
            <a:off x="566928" y="1481328"/>
            <a:ext cx="11057839" cy="3310128"/>
          </a:xfrm>
          <a:prstGeom prst="roundRect">
            <a:avLst>
              <a:gd name="adj" fmla="val 2210"/>
            </a:avLst>
          </a:prstGeom>
          <a:solidFill>
            <a:srgbClr val="FBF3E2"/>
          </a:solidFill>
          <a:ln w="28575">
            <a:solidFill>
              <a:srgbClr val="B0812F"/>
            </a:solidFill>
            <a:prstDash val="dash"/>
          </a:ln>
        </p:spPr>
      </p:sp>
      <p:sp>
        <p:nvSpPr>
          <p:cNvPr id="5" name="Text 3"/>
          <p:cNvSpPr/>
          <p:nvPr/>
        </p:nvSpPr>
        <p:spPr>
          <a:xfrm>
            <a:off x="566928" y="1847088"/>
            <a:ext cx="11057839" cy="329184"/>
          </a:xfrm>
          <a:prstGeom prst="rect">
            <a:avLst/>
          </a:prstGeom>
          <a:noFill/>
          <a:ln/>
        </p:spPr>
        <p:txBody>
          <a:bodyPr wrap="square" lIns="0" tIns="0" rIns="0" bIns="0" rtlCol="0" anchor="ctr"/>
          <a:lstStyle/>
          <a:p>
            <a:pPr algn="ctr" indent="0" marL="0">
              <a:buNone/>
            </a:pPr>
            <a:r>
              <a:rPr lang="en-US" sz="1300" b="1" spc="300" kern="0" dirty="0">
                <a:solidFill>
                  <a:srgbClr val="B0812F"/>
                </a:solidFill>
                <a:latin typeface="Calibri" pitchFamily="34" charset="0"/>
                <a:ea typeface="Calibri" pitchFamily="34" charset="-122"/>
                <a:cs typeface="Calibri" pitchFamily="34" charset="-120"/>
              </a:rPr>
              <a:t>PLACE PICTURE OF</a:t>
            </a:r>
            <a:endParaRPr lang="en-US" sz="1300" dirty="0"/>
          </a:p>
        </p:txBody>
      </p:sp>
      <p:sp>
        <p:nvSpPr>
          <p:cNvPr id="6" name="Text 4"/>
          <p:cNvSpPr/>
          <p:nvPr/>
        </p:nvSpPr>
        <p:spPr>
          <a:xfrm>
            <a:off x="1207008" y="2212848"/>
            <a:ext cx="9777679" cy="1371600"/>
          </a:xfrm>
          <a:prstGeom prst="rect">
            <a:avLst/>
          </a:prstGeom>
          <a:noFill/>
          <a:ln/>
        </p:spPr>
        <p:txBody>
          <a:bodyPr wrap="square" lIns="0" tIns="0" rIns="0" bIns="0" rtlCol="0" anchor="ctr"/>
          <a:lstStyle/>
          <a:p>
            <a:pPr algn="ctr" indent="0" marL="0">
              <a:lnSpc>
                <a:spcPts val="3800"/>
              </a:lnSpc>
              <a:buNone/>
            </a:pPr>
            <a:r>
              <a:rPr lang="en-US" sz="3100" b="1" dirty="0">
                <a:solidFill>
                  <a:srgbClr val="59201C"/>
                </a:solidFill>
                <a:latin typeface="Cambria" pitchFamily="34" charset="0"/>
                <a:ea typeface="Cambria" pitchFamily="34" charset="-122"/>
                <a:cs typeface="Cambria" pitchFamily="34" charset="-120"/>
              </a:rPr>
              <a:t>EVERY STARTER, PLATED</a:t>
            </a:r>
            <a:endParaRPr lang="en-US" sz="3100" dirty="0"/>
          </a:p>
        </p:txBody>
      </p:sp>
      <p:sp>
        <p:nvSpPr>
          <p:cNvPr id="7" name="Text 5"/>
          <p:cNvSpPr/>
          <p:nvPr/>
        </p:nvSpPr>
        <p:spPr>
          <a:xfrm>
            <a:off x="566928" y="3657600"/>
            <a:ext cx="11057839" cy="329184"/>
          </a:xfrm>
          <a:prstGeom prst="rect">
            <a:avLst/>
          </a:prstGeom>
          <a:noFill/>
          <a:ln/>
        </p:spPr>
        <p:txBody>
          <a:bodyPr wrap="square" lIns="0" tIns="0" rIns="0" bIns="0" rtlCol="0" anchor="ctr"/>
          <a:lstStyle/>
          <a:p>
            <a:pPr algn="ctr" indent="0" marL="0">
              <a:buNone/>
            </a:pPr>
            <a:r>
              <a:rPr lang="en-US" sz="1300" b="1" spc="300" kern="0" dirty="0">
                <a:solidFill>
                  <a:srgbClr val="B0812F"/>
                </a:solidFill>
                <a:latin typeface="Calibri" pitchFamily="34" charset="0"/>
                <a:ea typeface="Calibri" pitchFamily="34" charset="-122"/>
                <a:cs typeface="Calibri" pitchFamily="34" charset="-120"/>
              </a:rPr>
              <a:t>HERE</a:t>
            </a:r>
            <a:endParaRPr lang="en-US" sz="1300" dirty="0"/>
          </a:p>
        </p:txBody>
      </p:sp>
      <p:sp>
        <p:nvSpPr>
          <p:cNvPr id="8" name="Text 6"/>
          <p:cNvSpPr/>
          <p:nvPr/>
        </p:nvSpPr>
        <p:spPr>
          <a:xfrm>
            <a:off x="1481328" y="4041648"/>
            <a:ext cx="9229039" cy="566928"/>
          </a:xfrm>
          <a:prstGeom prst="rect">
            <a:avLst/>
          </a:prstGeom>
          <a:noFill/>
          <a:ln/>
        </p:spPr>
        <p:txBody>
          <a:bodyPr wrap="square" lIns="0" tIns="0" rIns="0" bIns="0" rtlCol="0" anchor="t"/>
          <a:lstStyle/>
          <a:p>
            <a:pPr algn="ctr" indent="0" marL="0">
              <a:lnSpc>
                <a:spcPts val="1600"/>
              </a:lnSpc>
              <a:buNone/>
            </a:pPr>
            <a:r>
              <a:rPr lang="en-US" sz="1200" i="1" dirty="0">
                <a:solidFill>
                  <a:srgbClr val="6B5B4B"/>
                </a:solidFill>
                <a:latin typeface="Calibri" pitchFamily="34" charset="0"/>
                <a:ea typeface="Calibri" pitchFamily="34" charset="-122"/>
                <a:cs typeface="Calibri" pitchFamily="34" charset="-120"/>
              </a:rPr>
              <a:t>One straight-down shot per dish with its real setup beside it. These are the shots that make the deck teach on its own.</a:t>
            </a:r>
            <a:endParaRPr lang="en-US" sz="1200" dirty="0"/>
          </a:p>
        </p:txBody>
      </p:sp>
      <p:sp>
        <p:nvSpPr>
          <p:cNvPr id="9" name="Text 7"/>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2 — Appetizers, Salads and Soups</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The Towers</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The two biggest tables you will ever run</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2 — Appetizers, Salads and Soups</a:t>
            </a:r>
            <a:endParaRPr lang="en-US" sz="950" dirty="0"/>
          </a:p>
        </p:txBody>
      </p:sp>
      <p:sp>
        <p:nvSpPr>
          <p:cNvPr id="5" name="Shape 3"/>
          <p:cNvSpPr/>
          <p:nvPr/>
        </p:nvSpPr>
        <p:spPr>
          <a:xfrm>
            <a:off x="566928" y="1554480"/>
            <a:ext cx="5300320" cy="3913632"/>
          </a:xfrm>
          <a:prstGeom prst="roundRect">
            <a:avLst>
              <a:gd name="adj" fmla="val 1869"/>
            </a:avLst>
          </a:prstGeom>
          <a:solidFill>
            <a:srgbClr val="F2E9D8"/>
          </a:solidFill>
          <a:ln w="12700">
            <a:solidFill>
              <a:srgbClr val="E4D8C0"/>
            </a:solidFill>
            <a:prstDash val="solid"/>
          </a:ln>
        </p:spPr>
      </p:sp>
      <p:sp>
        <p:nvSpPr>
          <p:cNvPr id="6" name="Text 4"/>
          <p:cNvSpPr/>
          <p:nvPr/>
        </p:nvSpPr>
        <p:spPr>
          <a:xfrm>
            <a:off x="786384" y="1719072"/>
            <a:ext cx="4861408" cy="329184"/>
          </a:xfrm>
          <a:prstGeom prst="rect">
            <a:avLst/>
          </a:prstGeom>
          <a:noFill/>
          <a:ln/>
        </p:spPr>
        <p:txBody>
          <a:bodyPr wrap="square" lIns="0" tIns="0" rIns="0" bIns="0" rtlCol="0" anchor="ctr"/>
          <a:lstStyle/>
          <a:p>
            <a:pPr indent="0" marL="0">
              <a:buNone/>
            </a:pPr>
            <a:r>
              <a:rPr lang="en-US" sz="1700" b="1" dirty="0">
                <a:solidFill>
                  <a:srgbClr val="59201C"/>
                </a:solidFill>
                <a:latin typeface="Cambria" pitchFamily="34" charset="0"/>
                <a:ea typeface="Cambria" pitchFamily="34" charset="-122"/>
                <a:cs typeface="Cambria" pitchFamily="34" charset="-120"/>
              </a:rPr>
              <a:t>Iced Seafood Tower</a:t>
            </a:r>
            <a:endParaRPr lang="en-US" sz="1700" dirty="0"/>
          </a:p>
        </p:txBody>
      </p:sp>
      <p:sp>
        <p:nvSpPr>
          <p:cNvPr id="7" name="Text 5"/>
          <p:cNvSpPr/>
          <p:nvPr/>
        </p:nvSpPr>
        <p:spPr>
          <a:xfrm>
            <a:off x="786384" y="2066544"/>
            <a:ext cx="4861408" cy="256032"/>
          </a:xfrm>
          <a:prstGeom prst="rect">
            <a:avLst/>
          </a:prstGeom>
          <a:noFill/>
          <a:ln/>
        </p:spPr>
        <p:txBody>
          <a:bodyPr wrap="square" lIns="0" tIns="0" rIns="0" bIns="0" rtlCol="0" anchor="ctr"/>
          <a:lstStyle/>
          <a:p>
            <a:pPr indent="0" marL="0">
              <a:buNone/>
            </a:pPr>
            <a:r>
              <a:rPr lang="en-US" sz="1200" b="1" dirty="0">
                <a:solidFill>
                  <a:srgbClr val="B0812F"/>
                </a:solidFill>
                <a:latin typeface="Calibri" pitchFamily="34" charset="0"/>
                <a:ea typeface="Calibri" pitchFamily="34" charset="-122"/>
                <a:cs typeface="Calibri" pitchFamily="34" charset="-120"/>
              </a:rPr>
              <a:t>Semi-Pro $98  ·  Baller $190</a:t>
            </a:r>
            <a:endParaRPr lang="en-US" sz="1200" dirty="0"/>
          </a:p>
        </p:txBody>
      </p:sp>
      <p:sp>
        <p:nvSpPr>
          <p:cNvPr id="8" name="Text 6"/>
          <p:cNvSpPr/>
          <p:nvPr/>
        </p:nvSpPr>
        <p:spPr>
          <a:xfrm>
            <a:off x="786384" y="2414016"/>
            <a:ext cx="4861408" cy="2926080"/>
          </a:xfrm>
          <a:prstGeom prst="rect">
            <a:avLst/>
          </a:prstGeom>
          <a:noFill/>
          <a:ln/>
        </p:spPr>
        <p:txBody>
          <a:bodyPr wrap="square" lIns="0" tIns="0" rIns="0" bIns="0" rtlCol="0" anchor="t"/>
          <a:lstStyle/>
          <a:p>
            <a:pPr marL="165100" indent="-165100">
              <a:lnSpc>
                <a:spcPts val="1500"/>
              </a:lnSpc>
              <a:spcAft>
                <a:spcPts val="700"/>
              </a:spcAft>
              <a:buSzPct val="100000"/>
              <a:buChar char="•"/>
            </a:pPr>
            <a:r>
              <a:rPr lang="en-US" sz="1150" dirty="0">
                <a:solidFill>
                  <a:srgbClr val="2B2118"/>
                </a:solidFill>
                <a:latin typeface="Calibri" pitchFamily="34" charset="0"/>
                <a:ea typeface="Calibri" pitchFamily="34" charset="-122"/>
                <a:cs typeface="Calibri" pitchFamily="34" charset="-120"/>
              </a:rPr>
              <a:t>Semi-Pro: 6 oysters, 3 shrimp, about a half pound of king crab legs, plus the blackened ahi tuna salad and the lobster salad on brioche.</a:t>
            </a:r>
            <a:endParaRPr lang="en-US" sz="1150" dirty="0"/>
          </a:p>
          <a:p>
            <a:pPr marL="165100" indent="-165100">
              <a:lnSpc>
                <a:spcPts val="1500"/>
              </a:lnSpc>
              <a:spcAft>
                <a:spcPts val="700"/>
              </a:spcAft>
              <a:buSzPct val="100000"/>
              <a:buChar char="•"/>
            </a:pPr>
            <a:r>
              <a:rPr lang="en-US" sz="1150" dirty="0">
                <a:solidFill>
                  <a:srgbClr val="2B2118"/>
                </a:solidFill>
                <a:latin typeface="Calibri" pitchFamily="34" charset="0"/>
                <a:ea typeface="Calibri" pitchFamily="34" charset="-122"/>
                <a:cs typeface="Calibri" pitchFamily="34" charset="-120"/>
              </a:rPr>
              <a:t>Baller: everything doubled — 12 oysters, 6 shrimp, about a pound of crab. The two salads come with both and stay the same size.</a:t>
            </a:r>
            <a:endParaRPr lang="en-US" sz="1150" dirty="0"/>
          </a:p>
          <a:p>
            <a:pPr marL="165100" indent="-165100">
              <a:lnSpc>
                <a:spcPts val="1500"/>
              </a:lnSpc>
              <a:spcAft>
                <a:spcPts val="700"/>
              </a:spcAft>
              <a:buSzPct val="100000"/>
              <a:buChar char="•"/>
            </a:pPr>
            <a:r>
              <a:rPr lang="en-US" sz="1150" dirty="0">
                <a:solidFill>
                  <a:srgbClr val="2B2118"/>
                </a:solidFill>
                <a:latin typeface="Calibri" pitchFamily="34" charset="0"/>
                <a:ea typeface="Calibri" pitchFamily="34" charset="-122"/>
                <a:cs typeface="Calibri" pitchFamily="34" charset="-120"/>
              </a:rPr>
              <a:t>Service: cocktail forks preset, butter warmer with a tealight, clear the top tier once it finishes to open up the table.</a:t>
            </a:r>
            <a:endParaRPr lang="en-US" sz="1150" dirty="0"/>
          </a:p>
          <a:p>
            <a:pPr marL="165100" indent="-165100">
              <a:lnSpc>
                <a:spcPts val="1500"/>
              </a:lnSpc>
              <a:spcAft>
                <a:spcPts val="700"/>
              </a:spcAft>
              <a:buSzPct val="100000"/>
              <a:buChar char="•"/>
            </a:pPr>
            <a:r>
              <a:rPr lang="en-US" sz="1150" dirty="0">
                <a:solidFill>
                  <a:srgbClr val="2B2118"/>
                </a:solidFill>
                <a:latin typeface="Calibri" pitchFamily="34" charset="0"/>
                <a:ea typeface="Calibri" pitchFamily="34" charset="-122"/>
                <a:cs typeface="Calibri" pitchFamily="34" charset="-120"/>
              </a:rPr>
              <a:t>The crackers, brioche and wontons all ride separate — hold those three and the tower itself goes gluten-free. That fact wins tables.</a:t>
            </a:r>
            <a:endParaRPr lang="en-US" sz="1150" dirty="0"/>
          </a:p>
        </p:txBody>
      </p:sp>
      <p:sp>
        <p:nvSpPr>
          <p:cNvPr id="9" name="Shape 7"/>
          <p:cNvSpPr/>
          <p:nvPr/>
        </p:nvSpPr>
        <p:spPr>
          <a:xfrm>
            <a:off x="6324448" y="1554480"/>
            <a:ext cx="5300320" cy="3913632"/>
          </a:xfrm>
          <a:prstGeom prst="roundRect">
            <a:avLst>
              <a:gd name="adj" fmla="val 1869"/>
            </a:avLst>
          </a:prstGeom>
          <a:solidFill>
            <a:srgbClr val="F2E9D8"/>
          </a:solidFill>
          <a:ln w="12700">
            <a:solidFill>
              <a:srgbClr val="E4D8C0"/>
            </a:solidFill>
            <a:prstDash val="solid"/>
          </a:ln>
        </p:spPr>
      </p:sp>
      <p:sp>
        <p:nvSpPr>
          <p:cNvPr id="10" name="Text 8"/>
          <p:cNvSpPr/>
          <p:nvPr/>
        </p:nvSpPr>
        <p:spPr>
          <a:xfrm>
            <a:off x="6543904" y="1719072"/>
            <a:ext cx="4861408" cy="329184"/>
          </a:xfrm>
          <a:prstGeom prst="rect">
            <a:avLst/>
          </a:prstGeom>
          <a:noFill/>
          <a:ln/>
        </p:spPr>
        <p:txBody>
          <a:bodyPr wrap="square" lIns="0" tIns="0" rIns="0" bIns="0" rtlCol="0" anchor="ctr"/>
          <a:lstStyle/>
          <a:p>
            <a:pPr indent="0" marL="0">
              <a:buNone/>
            </a:pPr>
            <a:r>
              <a:rPr lang="en-US" sz="1700" b="1" dirty="0">
                <a:solidFill>
                  <a:srgbClr val="59201C"/>
                </a:solidFill>
                <a:latin typeface="Cambria" pitchFamily="34" charset="0"/>
                <a:ea typeface="Cambria" pitchFamily="34" charset="-122"/>
                <a:cs typeface="Cambria" pitchFamily="34" charset="-120"/>
              </a:rPr>
              <a:t>Roasted Seafood Tower</a:t>
            </a:r>
            <a:endParaRPr lang="en-US" sz="1700" dirty="0"/>
          </a:p>
        </p:txBody>
      </p:sp>
      <p:sp>
        <p:nvSpPr>
          <p:cNvPr id="11" name="Text 9"/>
          <p:cNvSpPr/>
          <p:nvPr/>
        </p:nvSpPr>
        <p:spPr>
          <a:xfrm>
            <a:off x="6543904" y="2066544"/>
            <a:ext cx="4861408" cy="256032"/>
          </a:xfrm>
          <a:prstGeom prst="rect">
            <a:avLst/>
          </a:prstGeom>
          <a:noFill/>
          <a:ln/>
        </p:spPr>
        <p:txBody>
          <a:bodyPr wrap="square" lIns="0" tIns="0" rIns="0" bIns="0" rtlCol="0" anchor="ctr"/>
          <a:lstStyle/>
          <a:p>
            <a:pPr indent="0" marL="0">
              <a:buNone/>
            </a:pPr>
            <a:r>
              <a:rPr lang="en-US" sz="1200" b="1" dirty="0">
                <a:solidFill>
                  <a:srgbClr val="B0812F"/>
                </a:solidFill>
                <a:latin typeface="Calibri" pitchFamily="34" charset="0"/>
                <a:ea typeface="Calibri" pitchFamily="34" charset="-122"/>
                <a:cs typeface="Calibri" pitchFamily="34" charset="-120"/>
              </a:rPr>
              <a:t>Semi-Pro $98  ·  Baller $190</a:t>
            </a:r>
            <a:endParaRPr lang="en-US" sz="1200" dirty="0"/>
          </a:p>
        </p:txBody>
      </p:sp>
      <p:sp>
        <p:nvSpPr>
          <p:cNvPr id="12" name="Text 10"/>
          <p:cNvSpPr/>
          <p:nvPr/>
        </p:nvSpPr>
        <p:spPr>
          <a:xfrm>
            <a:off x="6543904" y="2414016"/>
            <a:ext cx="4861408" cy="2926080"/>
          </a:xfrm>
          <a:prstGeom prst="rect">
            <a:avLst/>
          </a:prstGeom>
          <a:noFill/>
          <a:ln/>
        </p:spPr>
        <p:txBody>
          <a:bodyPr wrap="square" lIns="0" tIns="0" rIns="0" bIns="0" rtlCol="0" anchor="t"/>
          <a:lstStyle/>
          <a:p>
            <a:pPr marL="165100" indent="-165100">
              <a:lnSpc>
                <a:spcPts val="1500"/>
              </a:lnSpc>
              <a:spcAft>
                <a:spcPts val="700"/>
              </a:spcAft>
              <a:buSzPct val="100000"/>
              <a:buChar char="•"/>
            </a:pPr>
            <a:r>
              <a:rPr lang="en-US" sz="1150" dirty="0">
                <a:solidFill>
                  <a:srgbClr val="2B2118"/>
                </a:solidFill>
                <a:latin typeface="Calibri" pitchFamily="34" charset="0"/>
                <a:ea typeface="Calibri" pitchFamily="34" charset="-122"/>
                <a:cs typeface="Calibri" pitchFamily="34" charset="-120"/>
              </a:rPr>
              <a:t>King crab legs, scallops, lobster meat, shrimp and mussels tossed in diavolo.</a:t>
            </a:r>
            <a:endParaRPr lang="en-US" sz="1150" dirty="0"/>
          </a:p>
          <a:p>
            <a:pPr marL="165100" indent="-165100">
              <a:lnSpc>
                <a:spcPts val="1500"/>
              </a:lnSpc>
              <a:spcAft>
                <a:spcPts val="700"/>
              </a:spcAft>
              <a:buSzPct val="100000"/>
              <a:buChar char="•"/>
            </a:pPr>
            <a:r>
              <a:rPr lang="en-US" sz="1150" dirty="0">
                <a:solidFill>
                  <a:srgbClr val="2B2118"/>
                </a:solidFill>
                <a:latin typeface="Calibri" pitchFamily="34" charset="0"/>
                <a:ea typeface="Calibri" pitchFamily="34" charset="-122"/>
                <a:cs typeface="Calibri" pitchFamily="34" charset="-120"/>
              </a:rPr>
              <a:t>The seafood-butter sauce pooling at the bottom is the good stuff: garlic butter, lobster stock, parsley, a touch of house marinara.</a:t>
            </a:r>
            <a:endParaRPr lang="en-US" sz="1150" dirty="0"/>
          </a:p>
          <a:p>
            <a:pPr marL="165100" indent="-165100">
              <a:lnSpc>
                <a:spcPts val="1500"/>
              </a:lnSpc>
              <a:spcAft>
                <a:spcPts val="700"/>
              </a:spcAft>
              <a:buSzPct val="100000"/>
              <a:buChar char="•"/>
            </a:pPr>
            <a:r>
              <a:rPr lang="en-US" sz="1150" dirty="0">
                <a:solidFill>
                  <a:srgbClr val="2B2118"/>
                </a:solidFill>
                <a:latin typeface="Calibri" pitchFamily="34" charset="0"/>
                <a:ea typeface="Calibri" pitchFamily="34" charset="-122"/>
                <a:cs typeface="Calibri" pitchFamily="34" charset="-120"/>
              </a:rPr>
              <a:t>Stacking rack in the base, stacked at the table over a black linen, cocktail forks preset, butter warmer with a tealight.</a:t>
            </a:r>
            <a:endParaRPr lang="en-US" sz="1150" dirty="0"/>
          </a:p>
          <a:p>
            <a:pPr marL="165100" indent="-165100">
              <a:lnSpc>
                <a:spcPts val="1500"/>
              </a:lnSpc>
              <a:spcAft>
                <a:spcPts val="700"/>
              </a:spcAft>
              <a:buSzPct val="100000"/>
              <a:buChar char="•"/>
            </a:pPr>
            <a:r>
              <a:rPr lang="en-US" sz="1150" dirty="0">
                <a:solidFill>
                  <a:srgbClr val="2B2118"/>
                </a:solidFill>
                <a:latin typeface="Calibri" pitchFamily="34" charset="0"/>
                <a:ea typeface="Calibri" pitchFamily="34" charset="-122"/>
                <a:cs typeface="Calibri" pitchFamily="34" charset="-120"/>
              </a:rPr>
              <a:t>HALFWAY through: clear shells and stir the pasta setup into that remaining sauce. The house calls it capavetti pasta. Do not skip it — it is why the tower feels like $190.</a:t>
            </a:r>
            <a:endParaRPr lang="en-US" sz="1150" dirty="0"/>
          </a:p>
        </p:txBody>
      </p:sp>
      <p:sp>
        <p:nvSpPr>
          <p:cNvPr id="13" name="Text 11"/>
          <p:cNvSpPr/>
          <p:nvPr/>
        </p:nvSpPr>
        <p:spPr>
          <a:xfrm>
            <a:off x="566928" y="5596128"/>
            <a:ext cx="11057839" cy="329184"/>
          </a:xfrm>
          <a:prstGeom prst="rect">
            <a:avLst/>
          </a:prstGeom>
          <a:noFill/>
          <a:ln/>
        </p:spPr>
        <p:txBody>
          <a:bodyPr wrap="square" lIns="0" tIns="0" rIns="0" bIns="0" rtlCol="0" anchor="ctr"/>
          <a:lstStyle/>
          <a:p>
            <a:pPr algn="ctr" indent="0" marL="0">
              <a:buNone/>
            </a:pPr>
            <a:r>
              <a:rPr lang="en-US" sz="1500" b="1" i="1" dirty="0">
                <a:solidFill>
                  <a:srgbClr val="59201C"/>
                </a:solidFill>
                <a:latin typeface="Cambria" pitchFamily="34" charset="0"/>
                <a:ea typeface="Cambria" pitchFamily="34" charset="-122"/>
                <a:cs typeface="Cambria" pitchFamily="34" charset="-120"/>
              </a:rPr>
              <a:t>The roasted tower belongs to the back server, start to finish.</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Place a picture here</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Day 2 — Appetizers, Salads and Soups</a:t>
            </a:r>
            <a:endParaRPr lang="en-US" sz="1350" dirty="0"/>
          </a:p>
        </p:txBody>
      </p:sp>
      <p:sp>
        <p:nvSpPr>
          <p:cNvPr id="4" name="Shape 2"/>
          <p:cNvSpPr/>
          <p:nvPr/>
        </p:nvSpPr>
        <p:spPr>
          <a:xfrm>
            <a:off x="566928" y="1481328"/>
            <a:ext cx="11057839" cy="3310128"/>
          </a:xfrm>
          <a:prstGeom prst="roundRect">
            <a:avLst>
              <a:gd name="adj" fmla="val 2210"/>
            </a:avLst>
          </a:prstGeom>
          <a:solidFill>
            <a:srgbClr val="FBF3E2"/>
          </a:solidFill>
          <a:ln w="28575">
            <a:solidFill>
              <a:srgbClr val="B0812F"/>
            </a:solidFill>
            <a:prstDash val="dash"/>
          </a:ln>
        </p:spPr>
      </p:sp>
      <p:sp>
        <p:nvSpPr>
          <p:cNvPr id="5" name="Text 3"/>
          <p:cNvSpPr/>
          <p:nvPr/>
        </p:nvSpPr>
        <p:spPr>
          <a:xfrm>
            <a:off x="566928" y="1847088"/>
            <a:ext cx="11057839" cy="329184"/>
          </a:xfrm>
          <a:prstGeom prst="rect">
            <a:avLst/>
          </a:prstGeom>
          <a:noFill/>
          <a:ln/>
        </p:spPr>
        <p:txBody>
          <a:bodyPr wrap="square" lIns="0" tIns="0" rIns="0" bIns="0" rtlCol="0" anchor="ctr"/>
          <a:lstStyle/>
          <a:p>
            <a:pPr algn="ctr" indent="0" marL="0">
              <a:buNone/>
            </a:pPr>
            <a:r>
              <a:rPr lang="en-US" sz="1300" b="1" spc="300" kern="0" dirty="0">
                <a:solidFill>
                  <a:srgbClr val="B0812F"/>
                </a:solidFill>
                <a:latin typeface="Calibri" pitchFamily="34" charset="0"/>
                <a:ea typeface="Calibri" pitchFamily="34" charset="-122"/>
                <a:cs typeface="Calibri" pitchFamily="34" charset="-120"/>
              </a:rPr>
              <a:t>PLACE PICTURE OF</a:t>
            </a:r>
            <a:endParaRPr lang="en-US" sz="1300" dirty="0"/>
          </a:p>
        </p:txBody>
      </p:sp>
      <p:sp>
        <p:nvSpPr>
          <p:cNvPr id="6" name="Text 4"/>
          <p:cNvSpPr/>
          <p:nvPr/>
        </p:nvSpPr>
        <p:spPr>
          <a:xfrm>
            <a:off x="1207008" y="2212848"/>
            <a:ext cx="9777679" cy="1371600"/>
          </a:xfrm>
          <a:prstGeom prst="rect">
            <a:avLst/>
          </a:prstGeom>
          <a:noFill/>
          <a:ln/>
        </p:spPr>
        <p:txBody>
          <a:bodyPr wrap="square" lIns="0" tIns="0" rIns="0" bIns="0" rtlCol="0" anchor="ctr"/>
          <a:lstStyle/>
          <a:p>
            <a:pPr algn="ctr" indent="0" marL="0">
              <a:lnSpc>
                <a:spcPts val="3800"/>
              </a:lnSpc>
              <a:buNone/>
            </a:pPr>
            <a:r>
              <a:rPr lang="en-US" sz="3100" b="1" dirty="0">
                <a:solidFill>
                  <a:srgbClr val="59201C"/>
                </a:solidFill>
                <a:latin typeface="Cambria" pitchFamily="34" charset="0"/>
                <a:ea typeface="Cambria" pitchFamily="34" charset="-122"/>
                <a:cs typeface="Cambria" pitchFamily="34" charset="-120"/>
              </a:rPr>
              <a:t>BOTH TOWERS, STACKED AT A TABLE</a:t>
            </a:r>
            <a:endParaRPr lang="en-US" sz="3100" dirty="0"/>
          </a:p>
        </p:txBody>
      </p:sp>
      <p:sp>
        <p:nvSpPr>
          <p:cNvPr id="7" name="Text 5"/>
          <p:cNvSpPr/>
          <p:nvPr/>
        </p:nvSpPr>
        <p:spPr>
          <a:xfrm>
            <a:off x="566928" y="3657600"/>
            <a:ext cx="11057839" cy="329184"/>
          </a:xfrm>
          <a:prstGeom prst="rect">
            <a:avLst/>
          </a:prstGeom>
          <a:noFill/>
          <a:ln/>
        </p:spPr>
        <p:txBody>
          <a:bodyPr wrap="square" lIns="0" tIns="0" rIns="0" bIns="0" rtlCol="0" anchor="ctr"/>
          <a:lstStyle/>
          <a:p>
            <a:pPr algn="ctr" indent="0" marL="0">
              <a:buNone/>
            </a:pPr>
            <a:r>
              <a:rPr lang="en-US" sz="1300" b="1" spc="300" kern="0" dirty="0">
                <a:solidFill>
                  <a:srgbClr val="B0812F"/>
                </a:solidFill>
                <a:latin typeface="Calibri" pitchFamily="34" charset="0"/>
                <a:ea typeface="Calibri" pitchFamily="34" charset="-122"/>
                <a:cs typeface="Calibri" pitchFamily="34" charset="-120"/>
              </a:rPr>
              <a:t>HERE</a:t>
            </a:r>
            <a:endParaRPr lang="en-US" sz="1300" dirty="0"/>
          </a:p>
        </p:txBody>
      </p:sp>
      <p:sp>
        <p:nvSpPr>
          <p:cNvPr id="8" name="Text 6"/>
          <p:cNvSpPr/>
          <p:nvPr/>
        </p:nvSpPr>
        <p:spPr>
          <a:xfrm>
            <a:off x="1481328" y="4041648"/>
            <a:ext cx="9229039" cy="566928"/>
          </a:xfrm>
          <a:prstGeom prst="rect">
            <a:avLst/>
          </a:prstGeom>
          <a:noFill/>
          <a:ln/>
        </p:spPr>
        <p:txBody>
          <a:bodyPr wrap="square" lIns="0" tIns="0" rIns="0" bIns="0" rtlCol="0" anchor="t"/>
          <a:lstStyle/>
          <a:p>
            <a:pPr algn="ctr" indent="0" marL="0">
              <a:lnSpc>
                <a:spcPts val="1600"/>
              </a:lnSpc>
              <a:buNone/>
            </a:pPr>
            <a:r>
              <a:rPr lang="en-US" sz="1200" i="1" dirty="0">
                <a:solidFill>
                  <a:srgbClr val="6B5B4B"/>
                </a:solidFill>
                <a:latin typeface="Calibri" pitchFamily="34" charset="0"/>
                <a:ea typeface="Calibri" pitchFamily="34" charset="-122"/>
                <a:cs typeface="Calibri" pitchFamily="34" charset="-120"/>
              </a:rPr>
              <a:t>Iced and roasted, shot from guest height — plus the capavetti pasta moment mid-service.</a:t>
            </a:r>
            <a:endParaRPr lang="en-US" sz="1200" dirty="0"/>
          </a:p>
        </p:txBody>
      </p:sp>
      <p:sp>
        <p:nvSpPr>
          <p:cNvPr id="9" name="Text 7"/>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2 — Appetizers, Salads and Soups</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Soups</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One soup of the day per shift, complimentary with entrees</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2 — Appetizers, Salads and Soups</a:t>
            </a:r>
            <a:endParaRPr lang="en-US" sz="950" dirty="0"/>
          </a:p>
        </p:txBody>
      </p:sp>
      <p:sp>
        <p:nvSpPr>
          <p:cNvPr id="5" name="Shape 3"/>
          <p:cNvSpPr/>
          <p:nvPr/>
        </p:nvSpPr>
        <p:spPr>
          <a:xfrm>
            <a:off x="566928" y="1508760"/>
            <a:ext cx="365760" cy="365760"/>
          </a:xfrm>
          <a:prstGeom prst="ellipse">
            <a:avLst/>
          </a:prstGeom>
          <a:solidFill>
            <a:srgbClr val="59201C"/>
          </a:solidFill>
          <a:ln w="12700">
            <a:solidFill>
              <a:srgbClr val="59201C"/>
            </a:solidFill>
            <a:prstDash val="solid"/>
          </a:ln>
        </p:spPr>
      </p:sp>
      <p:sp>
        <p:nvSpPr>
          <p:cNvPr id="6" name="Text 4"/>
          <p:cNvSpPr/>
          <p:nvPr/>
        </p:nvSpPr>
        <p:spPr>
          <a:xfrm>
            <a:off x="566928" y="150876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7" name="Text 5"/>
          <p:cNvSpPr/>
          <p:nvPr/>
        </p:nvSpPr>
        <p:spPr>
          <a:xfrm>
            <a:off x="1069848" y="1481328"/>
            <a:ext cx="10554919" cy="600456"/>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The system.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One soup a day, comp with entrees — or the guest upcharges $4 to lobster bisque or baked French onion. Bisque is on every day.</a:t>
            </a:r>
            <a:endParaRPr lang="en-US" sz="1250" dirty="0"/>
          </a:p>
        </p:txBody>
      </p:sp>
      <p:sp>
        <p:nvSpPr>
          <p:cNvPr id="8" name="Shape 6"/>
          <p:cNvSpPr/>
          <p:nvPr/>
        </p:nvSpPr>
        <p:spPr>
          <a:xfrm>
            <a:off x="566928" y="2164080"/>
            <a:ext cx="365760" cy="365760"/>
          </a:xfrm>
          <a:prstGeom prst="ellipse">
            <a:avLst/>
          </a:prstGeom>
          <a:solidFill>
            <a:srgbClr val="59201C"/>
          </a:solidFill>
          <a:ln w="12700">
            <a:solidFill>
              <a:srgbClr val="59201C"/>
            </a:solidFill>
            <a:prstDash val="solid"/>
          </a:ln>
        </p:spPr>
      </p:sp>
      <p:sp>
        <p:nvSpPr>
          <p:cNvPr id="9" name="Text 7"/>
          <p:cNvSpPr/>
          <p:nvPr/>
        </p:nvSpPr>
        <p:spPr>
          <a:xfrm>
            <a:off x="566928" y="216408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0" name="Text 8"/>
          <p:cNvSpPr/>
          <p:nvPr/>
        </p:nvSpPr>
        <p:spPr>
          <a:xfrm>
            <a:off x="1069848" y="2136648"/>
            <a:ext cx="10554919" cy="600456"/>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Lobster Bisque  $11.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Lobster stock built into a roux with tomato, white wine and sherry vinegar. Shellfish, gluten, dairy, alcohol, nightshade.</a:t>
            </a:r>
            <a:endParaRPr lang="en-US" sz="1250" dirty="0"/>
          </a:p>
        </p:txBody>
      </p:sp>
      <p:sp>
        <p:nvSpPr>
          <p:cNvPr id="11" name="Shape 9"/>
          <p:cNvSpPr/>
          <p:nvPr/>
        </p:nvSpPr>
        <p:spPr>
          <a:xfrm>
            <a:off x="566928" y="2819400"/>
            <a:ext cx="365760" cy="365760"/>
          </a:xfrm>
          <a:prstGeom prst="ellipse">
            <a:avLst/>
          </a:prstGeom>
          <a:solidFill>
            <a:srgbClr val="59201C"/>
          </a:solidFill>
          <a:ln w="12700">
            <a:solidFill>
              <a:srgbClr val="59201C"/>
            </a:solidFill>
            <a:prstDash val="solid"/>
          </a:ln>
        </p:spPr>
      </p:sp>
      <p:sp>
        <p:nvSpPr>
          <p:cNvPr id="12" name="Text 10"/>
          <p:cNvSpPr/>
          <p:nvPr/>
        </p:nvSpPr>
        <p:spPr>
          <a:xfrm>
            <a:off x="566928" y="281940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3" name="Text 11"/>
          <p:cNvSpPr/>
          <p:nvPr/>
        </p:nvSpPr>
        <p:spPr>
          <a:xfrm>
            <a:off x="1069848" y="2791968"/>
            <a:ext cx="10554919" cy="600456"/>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Baked French Onion  $13.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Vidalia caramelized in butter, deglazed with red wine, beef bone stock built over 48 to 72 hours. Brown crock, herb crouton, provolone broiled brown and bubbly.</a:t>
            </a:r>
            <a:endParaRPr lang="en-US" sz="1250" dirty="0"/>
          </a:p>
        </p:txBody>
      </p:sp>
      <p:sp>
        <p:nvSpPr>
          <p:cNvPr id="14" name="Shape 12"/>
          <p:cNvSpPr/>
          <p:nvPr/>
        </p:nvSpPr>
        <p:spPr>
          <a:xfrm>
            <a:off x="566928" y="3474720"/>
            <a:ext cx="365760" cy="365760"/>
          </a:xfrm>
          <a:prstGeom prst="ellipse">
            <a:avLst/>
          </a:prstGeom>
          <a:solidFill>
            <a:srgbClr val="59201C"/>
          </a:solidFill>
          <a:ln w="12700">
            <a:solidFill>
              <a:srgbClr val="59201C"/>
            </a:solidFill>
            <a:prstDash val="solid"/>
          </a:ln>
        </p:spPr>
      </p:sp>
      <p:sp>
        <p:nvSpPr>
          <p:cNvPr id="15" name="Text 13"/>
          <p:cNvSpPr/>
          <p:nvPr/>
        </p:nvSpPr>
        <p:spPr>
          <a:xfrm>
            <a:off x="566928" y="347472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6" name="Text 14"/>
          <p:cNvSpPr/>
          <p:nvPr/>
        </p:nvSpPr>
        <p:spPr>
          <a:xfrm>
            <a:off x="1069848" y="3447288"/>
            <a:ext cx="10554919" cy="600456"/>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Prime Beef Chili  off right now.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House chili paste of guajillo, ancho and chipotle. The beer deglaze means gluten — the alcohol cooks off, the gluten stays. Probably back for winter.</a:t>
            </a:r>
            <a:endParaRPr lang="en-US" sz="1250" dirty="0"/>
          </a:p>
        </p:txBody>
      </p:sp>
      <p:sp>
        <p:nvSpPr>
          <p:cNvPr id="17" name="Shape 15"/>
          <p:cNvSpPr/>
          <p:nvPr/>
        </p:nvSpPr>
        <p:spPr>
          <a:xfrm>
            <a:off x="566928" y="4130040"/>
            <a:ext cx="365760" cy="365760"/>
          </a:xfrm>
          <a:prstGeom prst="ellipse">
            <a:avLst/>
          </a:prstGeom>
          <a:solidFill>
            <a:srgbClr val="59201C"/>
          </a:solidFill>
          <a:ln w="12700">
            <a:solidFill>
              <a:srgbClr val="59201C"/>
            </a:solidFill>
            <a:prstDash val="solid"/>
          </a:ln>
        </p:spPr>
      </p:sp>
      <p:sp>
        <p:nvSpPr>
          <p:cNvPr id="18" name="Text 16"/>
          <p:cNvSpPr/>
          <p:nvPr/>
        </p:nvSpPr>
        <p:spPr>
          <a:xfrm>
            <a:off x="566928" y="413004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9" name="Text 17"/>
          <p:cNvSpPr/>
          <p:nvPr/>
        </p:nvSpPr>
        <p:spPr>
          <a:xfrm>
            <a:off x="1069848" y="4102608"/>
            <a:ext cx="10554919" cy="600456"/>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Bread rides with every soup and salad.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French bread with garlic-salt butter plus smooth whipped butter, and cracked pepper offered EVERY time after the drop.</a:t>
            </a:r>
            <a:endParaRPr lang="en-US" sz="1250" dirty="0"/>
          </a:p>
        </p:txBody>
      </p:sp>
      <p:sp>
        <p:nvSpPr>
          <p:cNvPr id="20" name="Shape 18"/>
          <p:cNvSpPr/>
          <p:nvPr/>
        </p:nvSpPr>
        <p:spPr>
          <a:xfrm>
            <a:off x="566928" y="4785360"/>
            <a:ext cx="365760" cy="365760"/>
          </a:xfrm>
          <a:prstGeom prst="ellipse">
            <a:avLst/>
          </a:prstGeom>
          <a:solidFill>
            <a:srgbClr val="59201C"/>
          </a:solidFill>
          <a:ln w="12700">
            <a:solidFill>
              <a:srgbClr val="59201C"/>
            </a:solidFill>
            <a:prstDash val="solid"/>
          </a:ln>
        </p:spPr>
      </p:sp>
      <p:sp>
        <p:nvSpPr>
          <p:cNvPr id="21" name="Text 19"/>
          <p:cNvSpPr/>
          <p:nvPr/>
        </p:nvSpPr>
        <p:spPr>
          <a:xfrm>
            <a:off x="566928" y="478536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22" name="Text 20"/>
          <p:cNvSpPr/>
          <p:nvPr/>
        </p:nvSpPr>
        <p:spPr>
          <a:xfrm>
            <a:off x="1069848" y="4757928"/>
            <a:ext cx="10554919" cy="600456"/>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Timing.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Pour soups only after all the salads are trayed — soup skins over while salad waits.</a:t>
            </a:r>
            <a:endParaRPr lang="en-US" sz="1250" dirty="0"/>
          </a:p>
        </p:txBody>
      </p:sp>
      <p:sp>
        <p:nvSpPr>
          <p:cNvPr id="23" name="Shape 21"/>
          <p:cNvSpPr/>
          <p:nvPr/>
        </p:nvSpPr>
        <p:spPr>
          <a:xfrm>
            <a:off x="566928" y="5486400"/>
            <a:ext cx="11057839" cy="749808"/>
          </a:xfrm>
          <a:prstGeom prst="roundRect">
            <a:avLst>
              <a:gd name="adj" fmla="val 7317"/>
            </a:avLst>
          </a:prstGeom>
          <a:solidFill>
            <a:srgbClr val="F3E7E4"/>
          </a:solidFill>
          <a:ln w="12700">
            <a:solidFill>
              <a:srgbClr val="E2CCC7"/>
            </a:solidFill>
            <a:prstDash val="solid"/>
          </a:ln>
        </p:spPr>
      </p:sp>
      <p:sp>
        <p:nvSpPr>
          <p:cNvPr id="24" name="Text 22"/>
          <p:cNvSpPr/>
          <p:nvPr/>
        </p:nvSpPr>
        <p:spPr>
          <a:xfrm>
            <a:off x="768096" y="5559552"/>
            <a:ext cx="10655503" cy="603504"/>
          </a:xfrm>
          <a:prstGeom prst="rect">
            <a:avLst/>
          </a:prstGeom>
          <a:noFill/>
          <a:ln/>
        </p:spPr>
        <p:txBody>
          <a:bodyPr wrap="square" lIns="0" tIns="0" rIns="0" bIns="0" rtlCol="0" anchor="ctr"/>
          <a:lstStyle/>
          <a:p>
            <a:pPr indent="0" marL="0">
              <a:lnSpc>
                <a:spcPts val="1600"/>
              </a:lnSpc>
              <a:buNone/>
            </a:pPr>
            <a:r>
              <a:rPr lang="en-US" sz="1250" b="1" dirty="0">
                <a:solidFill>
                  <a:srgbClr val="59201C"/>
                </a:solidFill>
                <a:latin typeface="Calibri" pitchFamily="34" charset="0"/>
                <a:ea typeface="Calibri" pitchFamily="34" charset="-122"/>
                <a:cs typeface="Calibri" pitchFamily="34" charset="-120"/>
              </a:rPr>
              <a:t>Verify the exact soup before answering any allergen question.  </a:t>
            </a:r>
            <a:pPr indent="0" marL="0">
              <a:lnSpc>
                <a:spcPts val="1600"/>
              </a:lnSpc>
              <a:buNone/>
            </a:pPr>
            <a:r>
              <a:rPr lang="en-US" sz="1250" dirty="0">
                <a:solidFill>
                  <a:srgbClr val="2B2118"/>
                </a:solidFill>
                <a:latin typeface="Calibri" pitchFamily="34" charset="0"/>
                <a:ea typeface="Calibri" pitchFamily="34" charset="-122"/>
                <a:cs typeface="Calibri" pitchFamily="34" charset="-120"/>
              </a:rPr>
              <a:t>It changes every shift. Never answer from memory.</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Salads and dressings</a:t>
            </a:r>
            <a:endParaRPr lang="en-US" sz="3400" dirty="0"/>
          </a:p>
        </p:txBody>
      </p:sp>
      <p:sp>
        <p:nvSpPr>
          <p:cNvPr id="3" name="Text 1"/>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2 — Appetizers, Salads and Soups</a:t>
            </a:r>
            <a:endParaRPr lang="en-US" sz="950" dirty="0"/>
          </a:p>
        </p:txBody>
      </p:sp>
      <p:sp>
        <p:nvSpPr>
          <p:cNvPr id="4" name="Shape 2"/>
          <p:cNvSpPr/>
          <p:nvPr/>
        </p:nvSpPr>
        <p:spPr>
          <a:xfrm>
            <a:off x="566928" y="1508760"/>
            <a:ext cx="365760" cy="365760"/>
          </a:xfrm>
          <a:prstGeom prst="ellipse">
            <a:avLst/>
          </a:prstGeom>
          <a:solidFill>
            <a:srgbClr val="59201C"/>
          </a:solidFill>
          <a:ln w="12700">
            <a:solidFill>
              <a:srgbClr val="59201C"/>
            </a:solidFill>
            <a:prstDash val="solid"/>
          </a:ln>
        </p:spPr>
      </p:sp>
      <p:sp>
        <p:nvSpPr>
          <p:cNvPr id="5" name="Text 3"/>
          <p:cNvSpPr/>
          <p:nvPr/>
        </p:nvSpPr>
        <p:spPr>
          <a:xfrm>
            <a:off x="566928" y="150876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6" name="Text 4"/>
          <p:cNvSpPr/>
          <p:nvPr/>
        </p:nvSpPr>
        <p:spPr>
          <a:xfrm>
            <a:off x="1069848" y="1481328"/>
            <a:ext cx="10554919" cy="850392"/>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House Salad  $7.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Romaine mix, carrots, cucumbers, cherry tomatoes, red cabbage, croutons. The red cabbage is in the mix and cannot be removed — say so first. House ranch runs mayo and buttermilk: egg and dairy, plus a touch of MSG.</a:t>
            </a:r>
            <a:endParaRPr lang="en-US" sz="1250" dirty="0"/>
          </a:p>
        </p:txBody>
      </p:sp>
      <p:sp>
        <p:nvSpPr>
          <p:cNvPr id="7" name="Shape 5"/>
          <p:cNvSpPr/>
          <p:nvPr/>
        </p:nvSpPr>
        <p:spPr>
          <a:xfrm>
            <a:off x="566928" y="2414016"/>
            <a:ext cx="365760" cy="365760"/>
          </a:xfrm>
          <a:prstGeom prst="ellipse">
            <a:avLst/>
          </a:prstGeom>
          <a:solidFill>
            <a:srgbClr val="59201C"/>
          </a:solidFill>
          <a:ln w="12700">
            <a:solidFill>
              <a:srgbClr val="59201C"/>
            </a:solidFill>
            <a:prstDash val="solid"/>
          </a:ln>
        </p:spPr>
      </p:sp>
      <p:sp>
        <p:nvSpPr>
          <p:cNvPr id="8" name="Text 6"/>
          <p:cNvSpPr/>
          <p:nvPr/>
        </p:nvSpPr>
        <p:spPr>
          <a:xfrm>
            <a:off x="566928" y="2414016"/>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9" name="Text 7"/>
          <p:cNvSpPr/>
          <p:nvPr/>
        </p:nvSpPr>
        <p:spPr>
          <a:xfrm>
            <a:off x="1069848" y="2386584"/>
            <a:ext cx="10554919" cy="850392"/>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Gem Caesar  $15.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The dressing is the story: an egg cooked sous vide a full hour, blended in with the yolk still runny, so it comes out extra creamy. Bonito is in the dressing — the fin fish flag stays even with no anchovies. White anchovies are a free optional side.</a:t>
            </a:r>
            <a:endParaRPr lang="en-US" sz="1250" dirty="0"/>
          </a:p>
        </p:txBody>
      </p:sp>
      <p:sp>
        <p:nvSpPr>
          <p:cNvPr id="10" name="Shape 8"/>
          <p:cNvSpPr/>
          <p:nvPr/>
        </p:nvSpPr>
        <p:spPr>
          <a:xfrm>
            <a:off x="566928" y="3319272"/>
            <a:ext cx="365760" cy="365760"/>
          </a:xfrm>
          <a:prstGeom prst="ellipse">
            <a:avLst/>
          </a:prstGeom>
          <a:solidFill>
            <a:srgbClr val="59201C"/>
          </a:solidFill>
          <a:ln w="12700">
            <a:solidFill>
              <a:srgbClr val="59201C"/>
            </a:solidFill>
            <a:prstDash val="solid"/>
          </a:ln>
        </p:spPr>
      </p:sp>
      <p:sp>
        <p:nvSpPr>
          <p:cNvPr id="11" name="Text 9"/>
          <p:cNvSpPr/>
          <p:nvPr/>
        </p:nvSpPr>
        <p:spPr>
          <a:xfrm>
            <a:off x="566928" y="3319272"/>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2" name="Text 10"/>
          <p:cNvSpPr/>
          <p:nvPr/>
        </p:nvSpPr>
        <p:spPr>
          <a:xfrm>
            <a:off x="1069848" y="3291840"/>
            <a:ext cx="10554919" cy="850392"/>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Roasted Pear Salad  $16.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Arugula, roasted pear, Gorgonzola, candied walnuts, dried cherries, maple balsamic. Dairy and tree nuts.</a:t>
            </a:r>
            <a:endParaRPr lang="en-US" sz="1250" dirty="0"/>
          </a:p>
        </p:txBody>
      </p:sp>
      <p:sp>
        <p:nvSpPr>
          <p:cNvPr id="13" name="Shape 11"/>
          <p:cNvSpPr/>
          <p:nvPr/>
        </p:nvSpPr>
        <p:spPr>
          <a:xfrm>
            <a:off x="566928" y="4224528"/>
            <a:ext cx="365760" cy="365760"/>
          </a:xfrm>
          <a:prstGeom prst="ellipse">
            <a:avLst/>
          </a:prstGeom>
          <a:solidFill>
            <a:srgbClr val="59201C"/>
          </a:solidFill>
          <a:ln w="12700">
            <a:solidFill>
              <a:srgbClr val="59201C"/>
            </a:solidFill>
            <a:prstDash val="solid"/>
          </a:ln>
        </p:spPr>
      </p:sp>
      <p:sp>
        <p:nvSpPr>
          <p:cNvPr id="14" name="Text 12"/>
          <p:cNvSpPr/>
          <p:nvPr/>
        </p:nvSpPr>
        <p:spPr>
          <a:xfrm>
            <a:off x="566928" y="4224528"/>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5" name="Text 13"/>
          <p:cNvSpPr/>
          <p:nvPr/>
        </p:nvSpPr>
        <p:spPr>
          <a:xfrm>
            <a:off x="1069848" y="4197096"/>
            <a:ext cx="10554919" cy="850392"/>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Chopped Wedge  $15.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Blue cheese, bacon, marinated tomatoes. Blue cheese dressing is usually mayo-based — that is egg; confirm when it matters.</a:t>
            </a:r>
            <a:endParaRPr lang="en-US" sz="1250" dirty="0"/>
          </a:p>
        </p:txBody>
      </p:sp>
      <p:sp>
        <p:nvSpPr>
          <p:cNvPr id="16" name="Shape 14"/>
          <p:cNvSpPr/>
          <p:nvPr/>
        </p:nvSpPr>
        <p:spPr>
          <a:xfrm>
            <a:off x="566928" y="5166360"/>
            <a:ext cx="11057839" cy="749808"/>
          </a:xfrm>
          <a:prstGeom prst="roundRect">
            <a:avLst>
              <a:gd name="adj" fmla="val 7317"/>
            </a:avLst>
          </a:prstGeom>
          <a:solidFill>
            <a:srgbClr val="F3E7E4"/>
          </a:solidFill>
          <a:ln w="12700">
            <a:solidFill>
              <a:srgbClr val="E2CCC7"/>
            </a:solidFill>
            <a:prstDash val="solid"/>
          </a:ln>
        </p:spPr>
      </p:sp>
      <p:sp>
        <p:nvSpPr>
          <p:cNvPr id="17" name="Text 15"/>
          <p:cNvSpPr/>
          <p:nvPr/>
        </p:nvSpPr>
        <p:spPr>
          <a:xfrm>
            <a:off x="768096" y="5239512"/>
            <a:ext cx="10655503" cy="603504"/>
          </a:xfrm>
          <a:prstGeom prst="rect">
            <a:avLst/>
          </a:prstGeom>
          <a:noFill/>
          <a:ln/>
        </p:spPr>
        <p:txBody>
          <a:bodyPr wrap="square" lIns="0" tIns="0" rIns="0" bIns="0" rtlCol="0" anchor="ctr"/>
          <a:lstStyle/>
          <a:p>
            <a:pPr indent="0" marL="0">
              <a:lnSpc>
                <a:spcPts val="1600"/>
              </a:lnSpc>
              <a:buNone/>
            </a:pPr>
            <a:r>
              <a:rPr lang="en-US" sz="1250" b="1" dirty="0">
                <a:solidFill>
                  <a:srgbClr val="59201C"/>
                </a:solidFill>
                <a:latin typeface="Calibri" pitchFamily="34" charset="0"/>
                <a:ea typeface="Calibri" pitchFamily="34" charset="-122"/>
                <a:cs typeface="Calibri" pitchFamily="34" charset="-120"/>
              </a:rPr>
              <a:t>The dressing list:  </a:t>
            </a:r>
            <a:pPr indent="0" marL="0">
              <a:lnSpc>
                <a:spcPts val="1600"/>
              </a:lnSpc>
              <a:buNone/>
            </a:pPr>
            <a:r>
              <a:rPr lang="en-US" sz="1250" dirty="0">
                <a:solidFill>
                  <a:srgbClr val="2B2118"/>
                </a:solidFill>
                <a:latin typeface="Calibri" pitchFamily="34" charset="0"/>
                <a:ea typeface="Calibri" pitchFamily="34" charset="-122"/>
                <a:cs typeface="Calibri" pitchFamily="34" charset="-120"/>
              </a:rPr>
              <a:t>House Vinaigrette (whole-grain mustard) · Orange · Balsamic · Maple Balsamic · Italian · French · Blue Cheese · Oil &amp; Vinegar · Thousand Island · Caesar · Peppercorn Ranch.</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Serving utensils</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The quick table. Get this wrong and the whole setup reads amateur.</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2 — Appetizers, Salads and Soups</a:t>
            </a:r>
            <a:endParaRPr lang="en-US" sz="950" dirty="0"/>
          </a:p>
        </p:txBody>
      </p:sp>
      <p:sp>
        <p:nvSpPr>
          <p:cNvPr id="5" name="Shape 3"/>
          <p:cNvSpPr/>
          <p:nvPr/>
        </p:nvSpPr>
        <p:spPr>
          <a:xfrm>
            <a:off x="566928" y="1572768"/>
            <a:ext cx="3551834" cy="1645920"/>
          </a:xfrm>
          <a:prstGeom prst="roundRect">
            <a:avLst>
              <a:gd name="adj" fmla="val 3333"/>
            </a:avLst>
          </a:prstGeom>
          <a:solidFill>
            <a:srgbClr val="F2E9D8"/>
          </a:solidFill>
          <a:ln w="12700">
            <a:solidFill>
              <a:srgbClr val="E4D8C0"/>
            </a:solidFill>
            <a:prstDash val="solid"/>
          </a:ln>
        </p:spPr>
      </p:sp>
      <p:sp>
        <p:nvSpPr>
          <p:cNvPr id="6" name="Text 4"/>
          <p:cNvSpPr/>
          <p:nvPr/>
        </p:nvSpPr>
        <p:spPr>
          <a:xfrm>
            <a:off x="749808" y="1719072"/>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Cocktail fork</a:t>
            </a:r>
            <a:endParaRPr lang="en-US" sz="1450" dirty="0"/>
          </a:p>
        </p:txBody>
      </p:sp>
      <p:sp>
        <p:nvSpPr>
          <p:cNvPr id="7" name="Text 5"/>
          <p:cNvSpPr/>
          <p:nvPr/>
        </p:nvSpPr>
        <p:spPr>
          <a:xfrm>
            <a:off x="749808"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goes down BEFORE the food</a:t>
            </a:r>
            <a:endParaRPr lang="en-US" sz="1100" dirty="0"/>
          </a:p>
        </p:txBody>
      </p:sp>
      <p:sp>
        <p:nvSpPr>
          <p:cNvPr id="8" name="Text 6"/>
          <p:cNvSpPr/>
          <p:nvPr/>
        </p:nvSpPr>
        <p:spPr>
          <a:xfrm>
            <a:off x="749808" y="2286000"/>
            <a:ext cx="3186074" cy="78638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Shrimp cocktail, king crab legs, oysters, both towers, the lobster tail add-on, the twin tails entree.</a:t>
            </a:r>
            <a:endParaRPr lang="en-US" sz="1100" dirty="0"/>
          </a:p>
        </p:txBody>
      </p:sp>
      <p:sp>
        <p:nvSpPr>
          <p:cNvPr id="9" name="Shape 7"/>
          <p:cNvSpPr/>
          <p:nvPr/>
        </p:nvSpPr>
        <p:spPr>
          <a:xfrm>
            <a:off x="4319930" y="1572768"/>
            <a:ext cx="3551834" cy="1645920"/>
          </a:xfrm>
          <a:prstGeom prst="roundRect">
            <a:avLst>
              <a:gd name="adj" fmla="val 3333"/>
            </a:avLst>
          </a:prstGeom>
          <a:solidFill>
            <a:srgbClr val="F2E9D8"/>
          </a:solidFill>
          <a:ln w="12700">
            <a:solidFill>
              <a:srgbClr val="E4D8C0"/>
            </a:solidFill>
            <a:prstDash val="solid"/>
          </a:ln>
        </p:spPr>
      </p:sp>
      <p:sp>
        <p:nvSpPr>
          <p:cNvPr id="10" name="Text 8"/>
          <p:cNvSpPr/>
          <p:nvPr/>
        </p:nvSpPr>
        <p:spPr>
          <a:xfrm>
            <a:off x="4502810" y="1719072"/>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Tongs</a:t>
            </a:r>
            <a:endParaRPr lang="en-US" sz="1450" dirty="0"/>
          </a:p>
        </p:txBody>
      </p:sp>
      <p:sp>
        <p:nvSpPr>
          <p:cNvPr id="11" name="Text 9"/>
          <p:cNvSpPr/>
          <p:nvPr/>
        </p:nvSpPr>
        <p:spPr>
          <a:xfrm>
            <a:off x="4502810" y="2066544"/>
            <a:ext cx="3186074" cy="1005840"/>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Calamari, tacos, tuna bites, asparagus, fries.</a:t>
            </a:r>
            <a:endParaRPr lang="en-US" sz="1100" dirty="0"/>
          </a:p>
        </p:txBody>
      </p:sp>
      <p:sp>
        <p:nvSpPr>
          <p:cNvPr id="12" name="Shape 10"/>
          <p:cNvSpPr/>
          <p:nvPr/>
        </p:nvSpPr>
        <p:spPr>
          <a:xfrm>
            <a:off x="8072933" y="1572768"/>
            <a:ext cx="3551834" cy="1645920"/>
          </a:xfrm>
          <a:prstGeom prst="roundRect">
            <a:avLst>
              <a:gd name="adj" fmla="val 3333"/>
            </a:avLst>
          </a:prstGeom>
          <a:solidFill>
            <a:srgbClr val="F2E9D8"/>
          </a:solidFill>
          <a:ln w="12700">
            <a:solidFill>
              <a:srgbClr val="E4D8C0"/>
            </a:solidFill>
            <a:prstDash val="solid"/>
          </a:ln>
        </p:spPr>
      </p:sp>
      <p:sp>
        <p:nvSpPr>
          <p:cNvPr id="13" name="Text 11"/>
          <p:cNvSpPr/>
          <p:nvPr/>
        </p:nvSpPr>
        <p:spPr>
          <a:xfrm>
            <a:off x="8255813" y="1719072"/>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Spatula</a:t>
            </a:r>
            <a:endParaRPr lang="en-US" sz="1450" dirty="0"/>
          </a:p>
        </p:txBody>
      </p:sp>
      <p:sp>
        <p:nvSpPr>
          <p:cNvPr id="14" name="Text 12"/>
          <p:cNvSpPr/>
          <p:nvPr/>
        </p:nvSpPr>
        <p:spPr>
          <a:xfrm>
            <a:off x="8255813" y="2066544"/>
            <a:ext cx="3186074" cy="1005840"/>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Scallops, crab cake.</a:t>
            </a:r>
            <a:endParaRPr lang="en-US" sz="1100" dirty="0"/>
          </a:p>
        </p:txBody>
      </p:sp>
      <p:sp>
        <p:nvSpPr>
          <p:cNvPr id="15" name="Shape 13"/>
          <p:cNvSpPr/>
          <p:nvPr/>
        </p:nvSpPr>
        <p:spPr>
          <a:xfrm>
            <a:off x="566928" y="3419856"/>
            <a:ext cx="3551834" cy="1645920"/>
          </a:xfrm>
          <a:prstGeom prst="roundRect">
            <a:avLst>
              <a:gd name="adj" fmla="val 3333"/>
            </a:avLst>
          </a:prstGeom>
          <a:solidFill>
            <a:srgbClr val="F2E9D8"/>
          </a:solidFill>
          <a:ln w="12700">
            <a:solidFill>
              <a:srgbClr val="E4D8C0"/>
            </a:solidFill>
            <a:prstDash val="solid"/>
          </a:ln>
        </p:spPr>
      </p:sp>
      <p:sp>
        <p:nvSpPr>
          <p:cNvPr id="16" name="Text 14"/>
          <p:cNvSpPr/>
          <p:nvPr/>
        </p:nvSpPr>
        <p:spPr>
          <a:xfrm>
            <a:off x="749808" y="3566160"/>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Serving spoon</a:t>
            </a:r>
            <a:endParaRPr lang="en-US" sz="1450" dirty="0"/>
          </a:p>
        </p:txBody>
      </p:sp>
      <p:sp>
        <p:nvSpPr>
          <p:cNvPr id="17" name="Text 15"/>
          <p:cNvSpPr/>
          <p:nvPr/>
        </p:nvSpPr>
        <p:spPr>
          <a:xfrm>
            <a:off x="749808" y="3913632"/>
            <a:ext cx="3186074" cy="1005840"/>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Meatballs, crab dip, both mashes, risotto, corn, mac, au gratin, brussels, mushrooms. On the sprouts it rides in the bowl.</a:t>
            </a:r>
            <a:endParaRPr lang="en-US" sz="1100" dirty="0"/>
          </a:p>
        </p:txBody>
      </p:sp>
      <p:sp>
        <p:nvSpPr>
          <p:cNvPr id="18" name="Shape 16"/>
          <p:cNvSpPr/>
          <p:nvPr/>
        </p:nvSpPr>
        <p:spPr>
          <a:xfrm>
            <a:off x="4319930" y="3419856"/>
            <a:ext cx="3551834" cy="1645920"/>
          </a:xfrm>
          <a:prstGeom prst="roundRect">
            <a:avLst>
              <a:gd name="adj" fmla="val 3333"/>
            </a:avLst>
          </a:prstGeom>
          <a:solidFill>
            <a:srgbClr val="F2E9D8"/>
          </a:solidFill>
          <a:ln w="12700">
            <a:solidFill>
              <a:srgbClr val="E4D8C0"/>
            </a:solidFill>
            <a:prstDash val="solid"/>
          </a:ln>
        </p:spPr>
      </p:sp>
      <p:sp>
        <p:nvSpPr>
          <p:cNvPr id="19" name="Text 17"/>
          <p:cNvSpPr/>
          <p:nvPr/>
        </p:nvSpPr>
        <p:spPr>
          <a:xfrm>
            <a:off x="4502810" y="3566160"/>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Spreading knife</a:t>
            </a:r>
            <a:endParaRPr lang="en-US" sz="1450" dirty="0"/>
          </a:p>
        </p:txBody>
      </p:sp>
      <p:sp>
        <p:nvSpPr>
          <p:cNvPr id="20" name="Text 18"/>
          <p:cNvSpPr/>
          <p:nvPr/>
        </p:nvSpPr>
        <p:spPr>
          <a:xfrm>
            <a:off x="4502810" y="3913632"/>
            <a:ext cx="3186074" cy="1005840"/>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Goat cheese.</a:t>
            </a:r>
            <a:endParaRPr lang="en-US" sz="1100" dirty="0"/>
          </a:p>
        </p:txBody>
      </p:sp>
      <p:sp>
        <p:nvSpPr>
          <p:cNvPr id="21" name="Shape 19"/>
          <p:cNvSpPr/>
          <p:nvPr/>
        </p:nvSpPr>
        <p:spPr>
          <a:xfrm>
            <a:off x="8072933" y="3419856"/>
            <a:ext cx="3551834" cy="1645920"/>
          </a:xfrm>
          <a:prstGeom prst="roundRect">
            <a:avLst>
              <a:gd name="adj" fmla="val 3333"/>
            </a:avLst>
          </a:prstGeom>
          <a:solidFill>
            <a:srgbClr val="F2E9D8"/>
          </a:solidFill>
          <a:ln w="12700">
            <a:solidFill>
              <a:srgbClr val="E4D8C0"/>
            </a:solidFill>
            <a:prstDash val="solid"/>
          </a:ln>
        </p:spPr>
      </p:sp>
      <p:sp>
        <p:nvSpPr>
          <p:cNvPr id="22" name="Text 20"/>
          <p:cNvSpPr/>
          <p:nvPr/>
        </p:nvSpPr>
        <p:spPr>
          <a:xfrm>
            <a:off x="8255813" y="3566160"/>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The full oyster setup</a:t>
            </a:r>
            <a:endParaRPr lang="en-US" sz="1450" dirty="0"/>
          </a:p>
        </p:txBody>
      </p:sp>
      <p:sp>
        <p:nvSpPr>
          <p:cNvPr id="23" name="Text 21"/>
          <p:cNvSpPr/>
          <p:nvPr/>
        </p:nvSpPr>
        <p:spPr>
          <a:xfrm>
            <a:off x="8255813" y="3877056"/>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no tongs, ever</a:t>
            </a:r>
            <a:endParaRPr lang="en-US" sz="1100" dirty="0"/>
          </a:p>
        </p:txBody>
      </p:sp>
      <p:sp>
        <p:nvSpPr>
          <p:cNvPr id="24" name="Text 22"/>
          <p:cNvSpPr/>
          <p:nvPr/>
        </p:nvSpPr>
        <p:spPr>
          <a:xfrm>
            <a:off x="8255813" y="4133088"/>
            <a:ext cx="3186074" cy="78638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Oyster fork, Tabasco, Zesta crackers, cocktail forks, hot water.</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59201C"/>
        </a:solidFill>
      </p:bgPr>
    </p:bg>
    <p:spTree>
      <p:nvGrpSpPr>
        <p:cNvPr id="1" name=""/>
        <p:cNvGrpSpPr/>
        <p:nvPr/>
      </p:nvGrpSpPr>
      <p:grpSpPr>
        <a:xfrm>
          <a:off x="0" y="0"/>
          <a:ext cx="0" cy="0"/>
          <a:chOff x="0" y="0"/>
          <a:chExt cx="0" cy="0"/>
        </a:xfrm>
      </p:grpSpPr>
      <p:sp>
        <p:nvSpPr>
          <p:cNvPr id="2" name="Shape 0"/>
          <p:cNvSpPr/>
          <p:nvPr/>
        </p:nvSpPr>
        <p:spPr>
          <a:xfrm>
            <a:off x="566928" y="1737360"/>
            <a:ext cx="1051560" cy="1051560"/>
          </a:xfrm>
          <a:prstGeom prst="ellipse">
            <a:avLst/>
          </a:prstGeom>
          <a:solidFill>
            <a:srgbClr val="F7EFE4"/>
          </a:solidFill>
          <a:ln w="12700">
            <a:solidFill>
              <a:srgbClr val="F7EFE4"/>
            </a:solidFill>
            <a:prstDash val="solid"/>
          </a:ln>
        </p:spPr>
      </p:sp>
      <p:sp>
        <p:nvSpPr>
          <p:cNvPr id="3" name="Text 1"/>
          <p:cNvSpPr/>
          <p:nvPr/>
        </p:nvSpPr>
        <p:spPr>
          <a:xfrm>
            <a:off x="566928" y="1737360"/>
            <a:ext cx="1051560" cy="1051560"/>
          </a:xfrm>
          <a:prstGeom prst="rect">
            <a:avLst/>
          </a:prstGeom>
          <a:noFill/>
          <a:ln/>
        </p:spPr>
        <p:txBody>
          <a:bodyPr wrap="square" lIns="0" tIns="0" rIns="0" bIns="0" rtlCol="0" anchor="ctr"/>
          <a:lstStyle/>
          <a:p>
            <a:pPr algn="ctr" indent="0" marL="0">
              <a:buNone/>
            </a:pPr>
            <a:r>
              <a:rPr lang="en-US" sz="4000" b="1" dirty="0">
                <a:solidFill>
                  <a:srgbClr val="59201C"/>
                </a:solidFill>
                <a:latin typeface="Cambria" pitchFamily="34" charset="0"/>
                <a:ea typeface="Cambria" pitchFamily="34" charset="-122"/>
                <a:cs typeface="Cambria" pitchFamily="34" charset="-120"/>
              </a:rPr>
              <a:t>3</a:t>
            </a:r>
            <a:endParaRPr lang="en-US" sz="4000" dirty="0"/>
          </a:p>
        </p:txBody>
      </p:sp>
      <p:sp>
        <p:nvSpPr>
          <p:cNvPr id="4" name="Text 2"/>
          <p:cNvSpPr/>
          <p:nvPr/>
        </p:nvSpPr>
        <p:spPr>
          <a:xfrm>
            <a:off x="1938528" y="1700784"/>
            <a:ext cx="9686239" cy="786384"/>
          </a:xfrm>
          <a:prstGeom prst="rect">
            <a:avLst/>
          </a:prstGeom>
          <a:noFill/>
          <a:ln/>
        </p:spPr>
        <p:txBody>
          <a:bodyPr wrap="square" lIns="0" tIns="0" rIns="0" bIns="0" rtlCol="0" anchor="ctr"/>
          <a:lstStyle/>
          <a:p>
            <a:pPr indent="0" marL="0">
              <a:buNone/>
            </a:pPr>
            <a:r>
              <a:rPr lang="en-US" sz="4000" b="1" dirty="0">
                <a:solidFill>
                  <a:srgbClr val="F7EFE4"/>
                </a:solidFill>
                <a:latin typeface="Cambria" pitchFamily="34" charset="0"/>
                <a:ea typeface="Cambria" pitchFamily="34" charset="-122"/>
                <a:cs typeface="Cambria" pitchFamily="34" charset="-120"/>
              </a:rPr>
              <a:t>Surf and Turf and the Prime Cuts</a:t>
            </a:r>
            <a:endParaRPr lang="en-US" sz="4000" dirty="0"/>
          </a:p>
        </p:txBody>
      </p:sp>
      <p:sp>
        <p:nvSpPr>
          <p:cNvPr id="5" name="Text 3"/>
          <p:cNvSpPr/>
          <p:nvPr/>
        </p:nvSpPr>
        <p:spPr>
          <a:xfrm>
            <a:off x="1938528" y="2542032"/>
            <a:ext cx="9686239" cy="1371600"/>
          </a:xfrm>
          <a:prstGeom prst="rect">
            <a:avLst/>
          </a:prstGeom>
          <a:noFill/>
          <a:ln/>
        </p:spPr>
        <p:txBody>
          <a:bodyPr wrap="square" lIns="0" tIns="0" rIns="0" bIns="0" rtlCol="0" anchor="ctr"/>
          <a:lstStyle/>
          <a:p>
            <a:pPr indent="0" marL="0">
              <a:lnSpc>
                <a:spcPts val="2100"/>
              </a:lnSpc>
              <a:buNone/>
            </a:pPr>
            <a:r>
              <a:rPr lang="en-US" sz="1400" i="1" dirty="0">
                <a:solidFill>
                  <a:srgbClr val="E8D6C8"/>
                </a:solidFill>
                <a:latin typeface="Calibri" pitchFamily="34" charset="0"/>
                <a:ea typeface="Calibri" pitchFamily="34" charset="-122"/>
                <a:cs typeface="Calibri" pitchFamily="34" charset="-120"/>
              </a:rPr>
              <a:t>Steak and seafood descriptions, allergens, presentation, alterations, serving utensils, tableside service and wagyu, off-menu items, and how to talk about specials.</a:t>
            </a:r>
            <a:endParaRPr lang="en-US" sz="1400" dirty="0"/>
          </a:p>
        </p:txBody>
      </p:sp>
      <p:sp>
        <p:nvSpPr>
          <p:cNvPr id="6" name="Text 4"/>
          <p:cNvSpPr/>
          <p:nvPr/>
        </p:nvSpPr>
        <p:spPr>
          <a:xfrm>
            <a:off x="566928" y="6199632"/>
            <a:ext cx="11057839" cy="274320"/>
          </a:xfrm>
          <a:prstGeom prst="rect">
            <a:avLst/>
          </a:prstGeom>
          <a:noFill/>
          <a:ln/>
        </p:spPr>
        <p:txBody>
          <a:bodyPr wrap="square" lIns="0" tIns="0" rIns="0" bIns="0" rtlCol="0" anchor="ctr"/>
          <a:lstStyle/>
          <a:p>
            <a:pPr indent="0" marL="0">
              <a:buNone/>
            </a:pPr>
            <a:r>
              <a:rPr lang="en-US" sz="1050" dirty="0">
                <a:solidFill>
                  <a:srgbClr val="C9A99A"/>
                </a:solidFill>
                <a:latin typeface="Calibri" pitchFamily="34" charset="0"/>
                <a:ea typeface="Calibri" pitchFamily="34" charset="-122"/>
                <a:cs typeface="Calibri" pitchFamily="34" charset="-120"/>
              </a:rPr>
              <a:t>From the original Mo's Training Itinerary</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Temperatures</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The language of doneness</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3 — Surf and Turf and the Prime Cuts</a:t>
            </a:r>
            <a:endParaRPr lang="en-US" sz="950" dirty="0"/>
          </a:p>
        </p:txBody>
      </p:sp>
      <p:sp>
        <p:nvSpPr>
          <p:cNvPr id="5" name="Shape 3"/>
          <p:cNvSpPr/>
          <p:nvPr/>
        </p:nvSpPr>
        <p:spPr>
          <a:xfrm>
            <a:off x="566928" y="1572768"/>
            <a:ext cx="1705813" cy="1371600"/>
          </a:xfrm>
          <a:prstGeom prst="roundRect">
            <a:avLst>
              <a:gd name="adj" fmla="val 4000"/>
            </a:avLst>
          </a:prstGeom>
          <a:solidFill>
            <a:srgbClr val="F2E9D8"/>
          </a:solidFill>
          <a:ln w="12700">
            <a:solidFill>
              <a:srgbClr val="E4D8C0"/>
            </a:solidFill>
            <a:prstDash val="solid"/>
          </a:ln>
        </p:spPr>
      </p:sp>
      <p:sp>
        <p:nvSpPr>
          <p:cNvPr id="6" name="Text 4"/>
          <p:cNvSpPr/>
          <p:nvPr/>
        </p:nvSpPr>
        <p:spPr>
          <a:xfrm>
            <a:off x="676656" y="1737360"/>
            <a:ext cx="1486357" cy="548640"/>
          </a:xfrm>
          <a:prstGeom prst="rect">
            <a:avLst/>
          </a:prstGeom>
          <a:noFill/>
          <a:ln/>
        </p:spPr>
        <p:txBody>
          <a:bodyPr wrap="square" lIns="0" tIns="0" rIns="0" bIns="0" rtlCol="0" anchor="ctr"/>
          <a:lstStyle/>
          <a:p>
            <a:pPr algn="ctr" indent="0" marL="0">
              <a:buNone/>
            </a:pPr>
            <a:r>
              <a:rPr lang="en-US" sz="1400" b="1" dirty="0">
                <a:solidFill>
                  <a:srgbClr val="59201C"/>
                </a:solidFill>
                <a:latin typeface="Cambria" pitchFamily="34" charset="0"/>
                <a:ea typeface="Cambria" pitchFamily="34" charset="-122"/>
                <a:cs typeface="Cambria" pitchFamily="34" charset="-120"/>
              </a:rPr>
              <a:t>Blue</a:t>
            </a:r>
            <a:endParaRPr lang="en-US" sz="1400" dirty="0"/>
          </a:p>
        </p:txBody>
      </p:sp>
      <p:sp>
        <p:nvSpPr>
          <p:cNvPr id="7" name="Text 5"/>
          <p:cNvSpPr/>
          <p:nvPr/>
        </p:nvSpPr>
        <p:spPr>
          <a:xfrm>
            <a:off x="676656" y="2249424"/>
            <a:ext cx="1486357" cy="566928"/>
          </a:xfrm>
          <a:prstGeom prst="rect">
            <a:avLst/>
          </a:prstGeom>
          <a:noFill/>
          <a:ln/>
        </p:spPr>
        <p:txBody>
          <a:bodyPr wrap="square" lIns="0" tIns="0" rIns="0" bIns="0" rtlCol="0" anchor="t"/>
          <a:lstStyle/>
          <a:p>
            <a:pPr algn="ctr" indent="0" marL="0">
              <a:lnSpc>
                <a:spcPts val="1300"/>
              </a:lnSpc>
              <a:buNone/>
            </a:pPr>
            <a:r>
              <a:rPr lang="en-US" sz="1050" dirty="0">
                <a:solidFill>
                  <a:srgbClr val="2B2118"/>
                </a:solidFill>
                <a:latin typeface="Calibri" pitchFamily="34" charset="0"/>
                <a:ea typeface="Calibri" pitchFamily="34" charset="-122"/>
                <a:cs typeface="Calibri" pitchFamily="34" charset="-120"/>
              </a:rPr>
              <a:t>very red and very cold</a:t>
            </a:r>
            <a:endParaRPr lang="en-US" sz="1050" dirty="0"/>
          </a:p>
        </p:txBody>
      </p:sp>
      <p:sp>
        <p:nvSpPr>
          <p:cNvPr id="8" name="Shape 6"/>
          <p:cNvSpPr/>
          <p:nvPr/>
        </p:nvSpPr>
        <p:spPr>
          <a:xfrm>
            <a:off x="2437333" y="1572768"/>
            <a:ext cx="1705813" cy="1371600"/>
          </a:xfrm>
          <a:prstGeom prst="roundRect">
            <a:avLst>
              <a:gd name="adj" fmla="val 4000"/>
            </a:avLst>
          </a:prstGeom>
          <a:solidFill>
            <a:srgbClr val="F2E9D8"/>
          </a:solidFill>
          <a:ln w="12700">
            <a:solidFill>
              <a:srgbClr val="E4D8C0"/>
            </a:solidFill>
            <a:prstDash val="solid"/>
          </a:ln>
        </p:spPr>
      </p:sp>
      <p:sp>
        <p:nvSpPr>
          <p:cNvPr id="9" name="Text 7"/>
          <p:cNvSpPr/>
          <p:nvPr/>
        </p:nvSpPr>
        <p:spPr>
          <a:xfrm>
            <a:off x="2547061" y="1737360"/>
            <a:ext cx="1486357" cy="548640"/>
          </a:xfrm>
          <a:prstGeom prst="rect">
            <a:avLst/>
          </a:prstGeom>
          <a:noFill/>
          <a:ln/>
        </p:spPr>
        <p:txBody>
          <a:bodyPr wrap="square" lIns="0" tIns="0" rIns="0" bIns="0" rtlCol="0" anchor="ctr"/>
          <a:lstStyle/>
          <a:p>
            <a:pPr algn="ctr" indent="0" marL="0">
              <a:buNone/>
            </a:pPr>
            <a:r>
              <a:rPr lang="en-US" sz="1400" b="1" dirty="0">
                <a:solidFill>
                  <a:srgbClr val="59201C"/>
                </a:solidFill>
                <a:latin typeface="Cambria" pitchFamily="34" charset="0"/>
                <a:ea typeface="Cambria" pitchFamily="34" charset="-122"/>
                <a:cs typeface="Cambria" pitchFamily="34" charset="-120"/>
              </a:rPr>
              <a:t>Center Rare</a:t>
            </a:r>
            <a:endParaRPr lang="en-US" sz="1400" dirty="0"/>
          </a:p>
        </p:txBody>
      </p:sp>
      <p:sp>
        <p:nvSpPr>
          <p:cNvPr id="10" name="Text 8"/>
          <p:cNvSpPr/>
          <p:nvPr/>
        </p:nvSpPr>
        <p:spPr>
          <a:xfrm>
            <a:off x="2547061" y="2249424"/>
            <a:ext cx="1486357" cy="566928"/>
          </a:xfrm>
          <a:prstGeom prst="rect">
            <a:avLst/>
          </a:prstGeom>
          <a:noFill/>
          <a:ln/>
        </p:spPr>
        <p:txBody>
          <a:bodyPr wrap="square" lIns="0" tIns="0" rIns="0" bIns="0" rtlCol="0" anchor="t"/>
          <a:lstStyle/>
          <a:p>
            <a:pPr algn="ctr" indent="0" marL="0">
              <a:lnSpc>
                <a:spcPts val="1300"/>
              </a:lnSpc>
              <a:buNone/>
            </a:pPr>
            <a:r>
              <a:rPr lang="en-US" sz="1050" dirty="0">
                <a:solidFill>
                  <a:srgbClr val="2B2118"/>
                </a:solidFill>
                <a:latin typeface="Calibri" pitchFamily="34" charset="0"/>
                <a:ea typeface="Calibri" pitchFamily="34" charset="-122"/>
                <a:cs typeface="Calibri" pitchFamily="34" charset="-120"/>
              </a:rPr>
              <a:t>cold red center</a:t>
            </a:r>
            <a:endParaRPr lang="en-US" sz="1050" dirty="0"/>
          </a:p>
        </p:txBody>
      </p:sp>
      <p:sp>
        <p:nvSpPr>
          <p:cNvPr id="11" name="Shape 9"/>
          <p:cNvSpPr/>
          <p:nvPr/>
        </p:nvSpPr>
        <p:spPr>
          <a:xfrm>
            <a:off x="4307738" y="1572768"/>
            <a:ext cx="1705813" cy="1371600"/>
          </a:xfrm>
          <a:prstGeom prst="roundRect">
            <a:avLst>
              <a:gd name="adj" fmla="val 4000"/>
            </a:avLst>
          </a:prstGeom>
          <a:solidFill>
            <a:srgbClr val="F3E7E4"/>
          </a:solidFill>
          <a:ln w="25400">
            <a:solidFill>
              <a:srgbClr val="59201C"/>
            </a:solidFill>
            <a:prstDash val="solid"/>
          </a:ln>
        </p:spPr>
      </p:sp>
      <p:sp>
        <p:nvSpPr>
          <p:cNvPr id="12" name="Text 10"/>
          <p:cNvSpPr/>
          <p:nvPr/>
        </p:nvSpPr>
        <p:spPr>
          <a:xfrm>
            <a:off x="4417466" y="1737360"/>
            <a:ext cx="1486357" cy="548640"/>
          </a:xfrm>
          <a:prstGeom prst="rect">
            <a:avLst/>
          </a:prstGeom>
          <a:noFill/>
          <a:ln/>
        </p:spPr>
        <p:txBody>
          <a:bodyPr wrap="square" lIns="0" tIns="0" rIns="0" bIns="0" rtlCol="0" anchor="ctr"/>
          <a:lstStyle/>
          <a:p>
            <a:pPr algn="ctr" indent="0" marL="0">
              <a:buNone/>
            </a:pPr>
            <a:r>
              <a:rPr lang="en-US" sz="1400" b="1" dirty="0">
                <a:solidFill>
                  <a:srgbClr val="59201C"/>
                </a:solidFill>
                <a:latin typeface="Cambria" pitchFamily="34" charset="0"/>
                <a:ea typeface="Cambria" pitchFamily="34" charset="-122"/>
                <a:cs typeface="Cambria" pitchFamily="34" charset="-120"/>
              </a:rPr>
              <a:t>Medium Rare</a:t>
            </a:r>
            <a:endParaRPr lang="en-US" sz="1400" dirty="0"/>
          </a:p>
        </p:txBody>
      </p:sp>
      <p:sp>
        <p:nvSpPr>
          <p:cNvPr id="13" name="Text 11"/>
          <p:cNvSpPr/>
          <p:nvPr/>
        </p:nvSpPr>
        <p:spPr>
          <a:xfrm>
            <a:off x="4417466" y="2249424"/>
            <a:ext cx="1486357" cy="566928"/>
          </a:xfrm>
          <a:prstGeom prst="rect">
            <a:avLst/>
          </a:prstGeom>
          <a:noFill/>
          <a:ln/>
        </p:spPr>
        <p:txBody>
          <a:bodyPr wrap="square" lIns="0" tIns="0" rIns="0" bIns="0" rtlCol="0" anchor="t"/>
          <a:lstStyle/>
          <a:p>
            <a:pPr algn="ctr" indent="0" marL="0">
              <a:lnSpc>
                <a:spcPts val="1300"/>
              </a:lnSpc>
              <a:buNone/>
            </a:pPr>
            <a:r>
              <a:rPr lang="en-US" sz="1050" dirty="0">
                <a:solidFill>
                  <a:srgbClr val="2B2118"/>
                </a:solidFill>
                <a:latin typeface="Calibri" pitchFamily="34" charset="0"/>
                <a:ea typeface="Calibri" pitchFamily="34" charset="-122"/>
                <a:cs typeface="Calibri" pitchFamily="34" charset="-120"/>
              </a:rPr>
              <a:t>cool red center — the house sweet spot</a:t>
            </a:r>
            <a:endParaRPr lang="en-US" sz="1050" dirty="0"/>
          </a:p>
        </p:txBody>
      </p:sp>
      <p:sp>
        <p:nvSpPr>
          <p:cNvPr id="14" name="Shape 12"/>
          <p:cNvSpPr/>
          <p:nvPr/>
        </p:nvSpPr>
        <p:spPr>
          <a:xfrm>
            <a:off x="6178144" y="1572768"/>
            <a:ext cx="1705813" cy="1371600"/>
          </a:xfrm>
          <a:prstGeom prst="roundRect">
            <a:avLst>
              <a:gd name="adj" fmla="val 4000"/>
            </a:avLst>
          </a:prstGeom>
          <a:solidFill>
            <a:srgbClr val="F2E9D8"/>
          </a:solidFill>
          <a:ln w="12700">
            <a:solidFill>
              <a:srgbClr val="E4D8C0"/>
            </a:solidFill>
            <a:prstDash val="solid"/>
          </a:ln>
        </p:spPr>
      </p:sp>
      <p:sp>
        <p:nvSpPr>
          <p:cNvPr id="15" name="Text 13"/>
          <p:cNvSpPr/>
          <p:nvPr/>
        </p:nvSpPr>
        <p:spPr>
          <a:xfrm>
            <a:off x="6287872" y="1737360"/>
            <a:ext cx="1486357" cy="548640"/>
          </a:xfrm>
          <a:prstGeom prst="rect">
            <a:avLst/>
          </a:prstGeom>
          <a:noFill/>
          <a:ln/>
        </p:spPr>
        <p:txBody>
          <a:bodyPr wrap="square" lIns="0" tIns="0" rIns="0" bIns="0" rtlCol="0" anchor="ctr"/>
          <a:lstStyle/>
          <a:p>
            <a:pPr algn="ctr" indent="0" marL="0">
              <a:buNone/>
            </a:pPr>
            <a:r>
              <a:rPr lang="en-US" sz="1400" b="1" dirty="0">
                <a:solidFill>
                  <a:srgbClr val="59201C"/>
                </a:solidFill>
                <a:latin typeface="Cambria" pitchFamily="34" charset="0"/>
                <a:ea typeface="Cambria" pitchFamily="34" charset="-122"/>
                <a:cs typeface="Cambria" pitchFamily="34" charset="-120"/>
              </a:rPr>
              <a:t>Medium</a:t>
            </a:r>
            <a:endParaRPr lang="en-US" sz="1400" dirty="0"/>
          </a:p>
        </p:txBody>
      </p:sp>
      <p:sp>
        <p:nvSpPr>
          <p:cNvPr id="16" name="Text 14"/>
          <p:cNvSpPr/>
          <p:nvPr/>
        </p:nvSpPr>
        <p:spPr>
          <a:xfrm>
            <a:off x="6287872" y="2249424"/>
            <a:ext cx="1486357" cy="566928"/>
          </a:xfrm>
          <a:prstGeom prst="rect">
            <a:avLst/>
          </a:prstGeom>
          <a:noFill/>
          <a:ln/>
        </p:spPr>
        <p:txBody>
          <a:bodyPr wrap="square" lIns="0" tIns="0" rIns="0" bIns="0" rtlCol="0" anchor="t"/>
          <a:lstStyle/>
          <a:p>
            <a:pPr algn="ctr" indent="0" marL="0">
              <a:lnSpc>
                <a:spcPts val="1300"/>
              </a:lnSpc>
              <a:buNone/>
            </a:pPr>
            <a:r>
              <a:rPr lang="en-US" sz="1050" dirty="0">
                <a:solidFill>
                  <a:srgbClr val="2B2118"/>
                </a:solidFill>
                <a:latin typeface="Calibri" pitchFamily="34" charset="0"/>
                <a:ea typeface="Calibri" pitchFamily="34" charset="-122"/>
                <a:cs typeface="Calibri" pitchFamily="34" charset="-120"/>
              </a:rPr>
              <a:t>warm to hot red center</a:t>
            </a:r>
            <a:endParaRPr lang="en-US" sz="1050" dirty="0"/>
          </a:p>
        </p:txBody>
      </p:sp>
      <p:sp>
        <p:nvSpPr>
          <p:cNvPr id="17" name="Shape 15"/>
          <p:cNvSpPr/>
          <p:nvPr/>
        </p:nvSpPr>
        <p:spPr>
          <a:xfrm>
            <a:off x="8048549" y="1572768"/>
            <a:ext cx="1705813" cy="1371600"/>
          </a:xfrm>
          <a:prstGeom prst="roundRect">
            <a:avLst>
              <a:gd name="adj" fmla="val 4000"/>
            </a:avLst>
          </a:prstGeom>
          <a:solidFill>
            <a:srgbClr val="F2E9D8"/>
          </a:solidFill>
          <a:ln w="12700">
            <a:solidFill>
              <a:srgbClr val="E4D8C0"/>
            </a:solidFill>
            <a:prstDash val="solid"/>
          </a:ln>
        </p:spPr>
      </p:sp>
      <p:sp>
        <p:nvSpPr>
          <p:cNvPr id="18" name="Text 16"/>
          <p:cNvSpPr/>
          <p:nvPr/>
        </p:nvSpPr>
        <p:spPr>
          <a:xfrm>
            <a:off x="8158277" y="1737360"/>
            <a:ext cx="1486357" cy="548640"/>
          </a:xfrm>
          <a:prstGeom prst="rect">
            <a:avLst/>
          </a:prstGeom>
          <a:noFill/>
          <a:ln/>
        </p:spPr>
        <p:txBody>
          <a:bodyPr wrap="square" lIns="0" tIns="0" rIns="0" bIns="0" rtlCol="0" anchor="ctr"/>
          <a:lstStyle/>
          <a:p>
            <a:pPr algn="ctr" indent="0" marL="0">
              <a:buNone/>
            </a:pPr>
            <a:r>
              <a:rPr lang="en-US" sz="1400" b="1" dirty="0">
                <a:solidFill>
                  <a:srgbClr val="59201C"/>
                </a:solidFill>
                <a:latin typeface="Cambria" pitchFamily="34" charset="0"/>
                <a:ea typeface="Cambria" pitchFamily="34" charset="-122"/>
                <a:cs typeface="Cambria" pitchFamily="34" charset="-120"/>
              </a:rPr>
              <a:t>Medium Well</a:t>
            </a:r>
            <a:endParaRPr lang="en-US" sz="1400" dirty="0"/>
          </a:p>
        </p:txBody>
      </p:sp>
      <p:sp>
        <p:nvSpPr>
          <p:cNvPr id="19" name="Text 17"/>
          <p:cNvSpPr/>
          <p:nvPr/>
        </p:nvSpPr>
        <p:spPr>
          <a:xfrm>
            <a:off x="8158277" y="2249424"/>
            <a:ext cx="1486357" cy="566928"/>
          </a:xfrm>
          <a:prstGeom prst="rect">
            <a:avLst/>
          </a:prstGeom>
          <a:noFill/>
          <a:ln/>
        </p:spPr>
        <p:txBody>
          <a:bodyPr wrap="square" lIns="0" tIns="0" rIns="0" bIns="0" rtlCol="0" anchor="t"/>
          <a:lstStyle/>
          <a:p>
            <a:pPr algn="ctr" indent="0" marL="0">
              <a:lnSpc>
                <a:spcPts val="1300"/>
              </a:lnSpc>
              <a:buNone/>
            </a:pPr>
            <a:r>
              <a:rPr lang="en-US" sz="1050" dirty="0">
                <a:solidFill>
                  <a:srgbClr val="2B2118"/>
                </a:solidFill>
                <a:latin typeface="Calibri" pitchFamily="34" charset="0"/>
                <a:ea typeface="Calibri" pitchFamily="34" charset="-122"/>
                <a:cs typeface="Calibri" pitchFamily="34" charset="-120"/>
              </a:rPr>
              <a:t>hot pink center</a:t>
            </a:r>
            <a:endParaRPr lang="en-US" sz="1050" dirty="0"/>
          </a:p>
        </p:txBody>
      </p:sp>
      <p:sp>
        <p:nvSpPr>
          <p:cNvPr id="20" name="Shape 18"/>
          <p:cNvSpPr/>
          <p:nvPr/>
        </p:nvSpPr>
        <p:spPr>
          <a:xfrm>
            <a:off x="9918954" y="1572768"/>
            <a:ext cx="1705813" cy="1371600"/>
          </a:xfrm>
          <a:prstGeom prst="roundRect">
            <a:avLst>
              <a:gd name="adj" fmla="val 4000"/>
            </a:avLst>
          </a:prstGeom>
          <a:solidFill>
            <a:srgbClr val="F2E9D8"/>
          </a:solidFill>
          <a:ln w="12700">
            <a:solidFill>
              <a:srgbClr val="E4D8C0"/>
            </a:solidFill>
            <a:prstDash val="solid"/>
          </a:ln>
        </p:spPr>
      </p:sp>
      <p:sp>
        <p:nvSpPr>
          <p:cNvPr id="21" name="Text 19"/>
          <p:cNvSpPr/>
          <p:nvPr/>
        </p:nvSpPr>
        <p:spPr>
          <a:xfrm>
            <a:off x="10028682" y="1737360"/>
            <a:ext cx="1486357" cy="548640"/>
          </a:xfrm>
          <a:prstGeom prst="rect">
            <a:avLst/>
          </a:prstGeom>
          <a:noFill/>
          <a:ln/>
        </p:spPr>
        <p:txBody>
          <a:bodyPr wrap="square" lIns="0" tIns="0" rIns="0" bIns="0" rtlCol="0" anchor="ctr"/>
          <a:lstStyle/>
          <a:p>
            <a:pPr algn="ctr" indent="0" marL="0">
              <a:buNone/>
            </a:pPr>
            <a:r>
              <a:rPr lang="en-US" sz="1400" b="1" dirty="0">
                <a:solidFill>
                  <a:srgbClr val="59201C"/>
                </a:solidFill>
                <a:latin typeface="Cambria" pitchFamily="34" charset="0"/>
                <a:ea typeface="Cambria" pitchFamily="34" charset="-122"/>
                <a:cs typeface="Cambria" pitchFamily="34" charset="-120"/>
              </a:rPr>
              <a:t>Well</a:t>
            </a:r>
            <a:endParaRPr lang="en-US" sz="1400" dirty="0"/>
          </a:p>
        </p:txBody>
      </p:sp>
      <p:sp>
        <p:nvSpPr>
          <p:cNvPr id="22" name="Text 20"/>
          <p:cNvSpPr/>
          <p:nvPr/>
        </p:nvSpPr>
        <p:spPr>
          <a:xfrm>
            <a:off x="10028682" y="2249424"/>
            <a:ext cx="1486357" cy="566928"/>
          </a:xfrm>
          <a:prstGeom prst="rect">
            <a:avLst/>
          </a:prstGeom>
          <a:noFill/>
          <a:ln/>
        </p:spPr>
        <p:txBody>
          <a:bodyPr wrap="square" lIns="0" tIns="0" rIns="0" bIns="0" rtlCol="0" anchor="t"/>
          <a:lstStyle/>
          <a:p>
            <a:pPr algn="ctr" indent="0" marL="0">
              <a:lnSpc>
                <a:spcPts val="1300"/>
              </a:lnSpc>
              <a:buNone/>
            </a:pPr>
            <a:r>
              <a:rPr lang="en-US" sz="1050" dirty="0">
                <a:solidFill>
                  <a:srgbClr val="2B2118"/>
                </a:solidFill>
                <a:latin typeface="Calibri" pitchFamily="34" charset="0"/>
                <a:ea typeface="Calibri" pitchFamily="34" charset="-122"/>
                <a:cs typeface="Calibri" pitchFamily="34" charset="-120"/>
              </a:rPr>
              <a:t>hot center, little to no pink</a:t>
            </a:r>
            <a:endParaRPr lang="en-US" sz="1050" dirty="0"/>
          </a:p>
        </p:txBody>
      </p:sp>
      <p:sp>
        <p:nvSpPr>
          <p:cNvPr id="23" name="Shape 21"/>
          <p:cNvSpPr/>
          <p:nvPr/>
        </p:nvSpPr>
        <p:spPr>
          <a:xfrm>
            <a:off x="566928" y="3227832"/>
            <a:ext cx="365760" cy="365760"/>
          </a:xfrm>
          <a:prstGeom prst="ellipse">
            <a:avLst/>
          </a:prstGeom>
          <a:solidFill>
            <a:srgbClr val="59201C"/>
          </a:solidFill>
          <a:ln w="12700">
            <a:solidFill>
              <a:srgbClr val="59201C"/>
            </a:solidFill>
            <a:prstDash val="solid"/>
          </a:ln>
        </p:spPr>
      </p:sp>
      <p:sp>
        <p:nvSpPr>
          <p:cNvPr id="24" name="Text 22"/>
          <p:cNvSpPr/>
          <p:nvPr/>
        </p:nvSpPr>
        <p:spPr>
          <a:xfrm>
            <a:off x="566928" y="3227832"/>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25" name="Text 23"/>
          <p:cNvSpPr/>
          <p:nvPr/>
        </p:nvSpPr>
        <p:spPr>
          <a:xfrm>
            <a:off x="1069848" y="3200400"/>
            <a:ext cx="10554919" cy="640080"/>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Well-done filets get butterflied.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Offer it every time — it cooks faster and comes out juicier, and the guest hears you protecting their dinner instead of judging their order.</a:t>
            </a:r>
            <a:endParaRPr lang="en-US" sz="1300" dirty="0"/>
          </a:p>
        </p:txBody>
      </p:sp>
      <p:sp>
        <p:nvSpPr>
          <p:cNvPr id="26" name="Shape 24"/>
          <p:cNvSpPr/>
          <p:nvPr/>
        </p:nvSpPr>
        <p:spPr>
          <a:xfrm>
            <a:off x="566928" y="3922776"/>
            <a:ext cx="365760" cy="365760"/>
          </a:xfrm>
          <a:prstGeom prst="ellipse">
            <a:avLst/>
          </a:prstGeom>
          <a:solidFill>
            <a:srgbClr val="59201C"/>
          </a:solidFill>
          <a:ln w="12700">
            <a:solidFill>
              <a:srgbClr val="59201C"/>
            </a:solidFill>
            <a:prstDash val="solid"/>
          </a:ln>
        </p:spPr>
      </p:sp>
      <p:sp>
        <p:nvSpPr>
          <p:cNvPr id="27" name="Text 25"/>
          <p:cNvSpPr/>
          <p:nvPr/>
        </p:nvSpPr>
        <p:spPr>
          <a:xfrm>
            <a:off x="566928" y="3922776"/>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28" name="Text 26"/>
          <p:cNvSpPr/>
          <p:nvPr/>
        </p:nvSpPr>
        <p:spPr>
          <a:xfrm>
            <a:off x="1069848" y="3895344"/>
            <a:ext cx="10554919" cy="640080"/>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Butter by default.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The kitchen can cook any steak completely butter-free for a dairy allergy. The guest just has to ask.</a:t>
            </a:r>
            <a:endParaRPr lang="en-US" sz="1300" dirty="0"/>
          </a:p>
        </p:txBody>
      </p:sp>
      <p:sp>
        <p:nvSpPr>
          <p:cNvPr id="29" name="Shape 27"/>
          <p:cNvSpPr/>
          <p:nvPr/>
        </p:nvSpPr>
        <p:spPr>
          <a:xfrm>
            <a:off x="566928" y="4617720"/>
            <a:ext cx="365760" cy="365760"/>
          </a:xfrm>
          <a:prstGeom prst="ellipse">
            <a:avLst/>
          </a:prstGeom>
          <a:solidFill>
            <a:srgbClr val="59201C"/>
          </a:solidFill>
          <a:ln w="12700">
            <a:solidFill>
              <a:srgbClr val="59201C"/>
            </a:solidFill>
            <a:prstDash val="solid"/>
          </a:ln>
        </p:spPr>
      </p:sp>
      <p:sp>
        <p:nvSpPr>
          <p:cNvPr id="30" name="Text 28"/>
          <p:cNvSpPr/>
          <p:nvPr/>
        </p:nvSpPr>
        <p:spPr>
          <a:xfrm>
            <a:off x="566928" y="461772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31" name="Text 29"/>
          <p:cNvSpPr/>
          <p:nvPr/>
        </p:nvSpPr>
        <p:spPr>
          <a:xfrm>
            <a:off x="1069848" y="4590288"/>
            <a:ext cx="10554919" cy="640080"/>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Flashlight first.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Our dim dining room creates illusions of undercooked steak. Look before you carry it back.</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Place a picture here</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Day 3 — Surf and Turf and the Prime Cuts</a:t>
            </a:r>
            <a:endParaRPr lang="en-US" sz="1350" dirty="0"/>
          </a:p>
        </p:txBody>
      </p:sp>
      <p:sp>
        <p:nvSpPr>
          <p:cNvPr id="4" name="Shape 2"/>
          <p:cNvSpPr/>
          <p:nvPr/>
        </p:nvSpPr>
        <p:spPr>
          <a:xfrm>
            <a:off x="566928" y="1481328"/>
            <a:ext cx="11057839" cy="3310128"/>
          </a:xfrm>
          <a:prstGeom prst="roundRect">
            <a:avLst>
              <a:gd name="adj" fmla="val 2210"/>
            </a:avLst>
          </a:prstGeom>
          <a:solidFill>
            <a:srgbClr val="FBF3E2"/>
          </a:solidFill>
          <a:ln w="28575">
            <a:solidFill>
              <a:srgbClr val="B0812F"/>
            </a:solidFill>
            <a:prstDash val="dash"/>
          </a:ln>
        </p:spPr>
      </p:sp>
      <p:sp>
        <p:nvSpPr>
          <p:cNvPr id="5" name="Text 3"/>
          <p:cNvSpPr/>
          <p:nvPr/>
        </p:nvSpPr>
        <p:spPr>
          <a:xfrm>
            <a:off x="566928" y="1847088"/>
            <a:ext cx="11057839" cy="329184"/>
          </a:xfrm>
          <a:prstGeom prst="rect">
            <a:avLst/>
          </a:prstGeom>
          <a:noFill/>
          <a:ln/>
        </p:spPr>
        <p:txBody>
          <a:bodyPr wrap="square" lIns="0" tIns="0" rIns="0" bIns="0" rtlCol="0" anchor="ctr"/>
          <a:lstStyle/>
          <a:p>
            <a:pPr algn="ctr" indent="0" marL="0">
              <a:buNone/>
            </a:pPr>
            <a:r>
              <a:rPr lang="en-US" sz="1300" b="1" spc="300" kern="0" dirty="0">
                <a:solidFill>
                  <a:srgbClr val="B0812F"/>
                </a:solidFill>
                <a:latin typeface="Calibri" pitchFamily="34" charset="0"/>
                <a:ea typeface="Calibri" pitchFamily="34" charset="-122"/>
                <a:cs typeface="Calibri" pitchFamily="34" charset="-120"/>
              </a:rPr>
              <a:t>PLACE PICTURE OF</a:t>
            </a:r>
            <a:endParaRPr lang="en-US" sz="1300" dirty="0"/>
          </a:p>
        </p:txBody>
      </p:sp>
      <p:sp>
        <p:nvSpPr>
          <p:cNvPr id="6" name="Text 4"/>
          <p:cNvSpPr/>
          <p:nvPr/>
        </p:nvSpPr>
        <p:spPr>
          <a:xfrm>
            <a:off x="1207008" y="2212848"/>
            <a:ext cx="9777679" cy="1371600"/>
          </a:xfrm>
          <a:prstGeom prst="rect">
            <a:avLst/>
          </a:prstGeom>
          <a:noFill/>
          <a:ln/>
        </p:spPr>
        <p:txBody>
          <a:bodyPr wrap="square" lIns="0" tIns="0" rIns="0" bIns="0" rtlCol="0" anchor="ctr"/>
          <a:lstStyle/>
          <a:p>
            <a:pPr algn="ctr" indent="0" marL="0">
              <a:lnSpc>
                <a:spcPts val="3800"/>
              </a:lnSpc>
              <a:buNone/>
            </a:pPr>
            <a:r>
              <a:rPr lang="en-US" sz="3100" b="1" dirty="0">
                <a:solidFill>
                  <a:srgbClr val="59201C"/>
                </a:solidFill>
                <a:latin typeface="Cambria" pitchFamily="34" charset="0"/>
                <a:ea typeface="Cambria" pitchFamily="34" charset="-122"/>
                <a:cs typeface="Cambria" pitchFamily="34" charset="-120"/>
              </a:rPr>
              <a:t>EACH TEMPERATURE, CUT OPEN</a:t>
            </a:r>
            <a:endParaRPr lang="en-US" sz="3100" dirty="0"/>
          </a:p>
        </p:txBody>
      </p:sp>
      <p:sp>
        <p:nvSpPr>
          <p:cNvPr id="7" name="Text 5"/>
          <p:cNvSpPr/>
          <p:nvPr/>
        </p:nvSpPr>
        <p:spPr>
          <a:xfrm>
            <a:off x="566928" y="3657600"/>
            <a:ext cx="11057839" cy="329184"/>
          </a:xfrm>
          <a:prstGeom prst="rect">
            <a:avLst/>
          </a:prstGeom>
          <a:noFill/>
          <a:ln/>
        </p:spPr>
        <p:txBody>
          <a:bodyPr wrap="square" lIns="0" tIns="0" rIns="0" bIns="0" rtlCol="0" anchor="ctr"/>
          <a:lstStyle/>
          <a:p>
            <a:pPr algn="ctr" indent="0" marL="0">
              <a:buNone/>
            </a:pPr>
            <a:r>
              <a:rPr lang="en-US" sz="1300" b="1" spc="300" kern="0" dirty="0">
                <a:solidFill>
                  <a:srgbClr val="B0812F"/>
                </a:solidFill>
                <a:latin typeface="Calibri" pitchFamily="34" charset="0"/>
                <a:ea typeface="Calibri" pitchFamily="34" charset="-122"/>
                <a:cs typeface="Calibri" pitchFamily="34" charset="-120"/>
              </a:rPr>
              <a:t>HERE</a:t>
            </a:r>
            <a:endParaRPr lang="en-US" sz="1300" dirty="0"/>
          </a:p>
        </p:txBody>
      </p:sp>
      <p:sp>
        <p:nvSpPr>
          <p:cNvPr id="8" name="Text 6"/>
          <p:cNvSpPr/>
          <p:nvPr/>
        </p:nvSpPr>
        <p:spPr>
          <a:xfrm>
            <a:off x="1481328" y="4041648"/>
            <a:ext cx="9229039" cy="566928"/>
          </a:xfrm>
          <a:prstGeom prst="rect">
            <a:avLst/>
          </a:prstGeom>
          <a:noFill/>
          <a:ln/>
        </p:spPr>
        <p:txBody>
          <a:bodyPr wrap="square" lIns="0" tIns="0" rIns="0" bIns="0" rtlCol="0" anchor="t"/>
          <a:lstStyle/>
          <a:p>
            <a:pPr algn="ctr" indent="0" marL="0">
              <a:lnSpc>
                <a:spcPts val="1600"/>
              </a:lnSpc>
              <a:buNone/>
            </a:pPr>
            <a:r>
              <a:rPr lang="en-US" sz="1200" i="1" dirty="0">
                <a:solidFill>
                  <a:srgbClr val="6B5B4B"/>
                </a:solidFill>
                <a:latin typeface="Calibri" pitchFamily="34" charset="0"/>
                <a:ea typeface="Calibri" pitchFamily="34" charset="-122"/>
                <a:cs typeface="Calibri" pitchFamily="34" charset="-120"/>
              </a:rPr>
              <a:t>Six cross-sections side by side, same cut, same lighting. Nothing teaches temps like a photo lineup.</a:t>
            </a:r>
            <a:endParaRPr lang="en-US" sz="1200" dirty="0"/>
          </a:p>
        </p:txBody>
      </p:sp>
      <p:sp>
        <p:nvSpPr>
          <p:cNvPr id="9" name="Text 7"/>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3 — Surf and Turf and the Prime Cuts</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The Prime Cuts</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Filet through Australian Wagyu</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3 — Surf and Turf and the Prime Cuts</a:t>
            </a:r>
            <a:endParaRPr lang="en-US" sz="950" dirty="0"/>
          </a:p>
        </p:txBody>
      </p:sp>
      <p:sp>
        <p:nvSpPr>
          <p:cNvPr id="5" name="Shape 3"/>
          <p:cNvSpPr/>
          <p:nvPr/>
        </p:nvSpPr>
        <p:spPr>
          <a:xfrm>
            <a:off x="566928" y="1508760"/>
            <a:ext cx="365760" cy="365760"/>
          </a:xfrm>
          <a:prstGeom prst="ellipse">
            <a:avLst/>
          </a:prstGeom>
          <a:solidFill>
            <a:srgbClr val="59201C"/>
          </a:solidFill>
          <a:ln w="12700">
            <a:solidFill>
              <a:srgbClr val="59201C"/>
            </a:solidFill>
            <a:prstDash val="solid"/>
          </a:ln>
        </p:spPr>
      </p:sp>
      <p:sp>
        <p:nvSpPr>
          <p:cNvPr id="6" name="Text 4"/>
          <p:cNvSpPr/>
          <p:nvPr/>
        </p:nvSpPr>
        <p:spPr>
          <a:xfrm>
            <a:off x="566928" y="150876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7" name="Text 5"/>
          <p:cNvSpPr/>
          <p:nvPr/>
        </p:nvSpPr>
        <p:spPr>
          <a:xfrm>
            <a:off x="1069848" y="1481328"/>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Filet Mignon  6 oz $54 / 10 oz $79.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Center cut, almost no marbling — you order it for pure tenderness. At medium rare it practically cuts with a fork. Rosemary Maldon salt to finish.</a:t>
            </a:r>
            <a:endParaRPr lang="en-US" sz="1250" dirty="0"/>
          </a:p>
        </p:txBody>
      </p:sp>
      <p:sp>
        <p:nvSpPr>
          <p:cNvPr id="8" name="Shape 6"/>
          <p:cNvSpPr/>
          <p:nvPr/>
        </p:nvSpPr>
        <p:spPr>
          <a:xfrm>
            <a:off x="566928" y="2290572"/>
            <a:ext cx="365760" cy="365760"/>
          </a:xfrm>
          <a:prstGeom prst="ellipse">
            <a:avLst/>
          </a:prstGeom>
          <a:solidFill>
            <a:srgbClr val="59201C"/>
          </a:solidFill>
          <a:ln w="12700">
            <a:solidFill>
              <a:srgbClr val="59201C"/>
            </a:solidFill>
            <a:prstDash val="solid"/>
          </a:ln>
        </p:spPr>
      </p:sp>
      <p:sp>
        <p:nvSpPr>
          <p:cNvPr id="9" name="Text 7"/>
          <p:cNvSpPr/>
          <p:nvPr/>
        </p:nvSpPr>
        <p:spPr>
          <a:xfrm>
            <a:off x="566928" y="2290572"/>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0" name="Text 8"/>
          <p:cNvSpPr/>
          <p:nvPr/>
        </p:nvSpPr>
        <p:spPr>
          <a:xfrm>
            <a:off x="1069848" y="2263140"/>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Farbuckle Filet  6 oz $63 / 10 oz $87.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The show filet, seared and finished at the table. Any cut can be Farbuckled for roughly a $9 upcharge.</a:t>
            </a:r>
            <a:endParaRPr lang="en-US" sz="1250" dirty="0"/>
          </a:p>
        </p:txBody>
      </p:sp>
      <p:sp>
        <p:nvSpPr>
          <p:cNvPr id="11" name="Shape 9"/>
          <p:cNvSpPr/>
          <p:nvPr/>
        </p:nvSpPr>
        <p:spPr>
          <a:xfrm>
            <a:off x="566928" y="3072384"/>
            <a:ext cx="365760" cy="365760"/>
          </a:xfrm>
          <a:prstGeom prst="ellipse">
            <a:avLst/>
          </a:prstGeom>
          <a:solidFill>
            <a:srgbClr val="59201C"/>
          </a:solidFill>
          <a:ln w="12700">
            <a:solidFill>
              <a:srgbClr val="59201C"/>
            </a:solidFill>
            <a:prstDash val="solid"/>
          </a:ln>
        </p:spPr>
      </p:sp>
      <p:sp>
        <p:nvSpPr>
          <p:cNvPr id="12" name="Text 10"/>
          <p:cNvSpPr/>
          <p:nvPr/>
        </p:nvSpPr>
        <p:spPr>
          <a:xfrm>
            <a:off x="566928" y="3072384"/>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3" name="Text 11"/>
          <p:cNvSpPr/>
          <p:nvPr/>
        </p:nvSpPr>
        <p:spPr>
          <a:xfrm>
            <a:off x="1069848" y="3044952"/>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The PD  15 oz hand-cut filet, $115.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On the printed menu; the house calls it the PD.</a:t>
            </a:r>
            <a:endParaRPr lang="en-US" sz="1250" dirty="0"/>
          </a:p>
        </p:txBody>
      </p:sp>
      <p:sp>
        <p:nvSpPr>
          <p:cNvPr id="14" name="Shape 12"/>
          <p:cNvSpPr/>
          <p:nvPr/>
        </p:nvSpPr>
        <p:spPr>
          <a:xfrm>
            <a:off x="566928" y="3854196"/>
            <a:ext cx="365760" cy="365760"/>
          </a:xfrm>
          <a:prstGeom prst="ellipse">
            <a:avLst/>
          </a:prstGeom>
          <a:solidFill>
            <a:srgbClr val="59201C"/>
          </a:solidFill>
          <a:ln w="12700">
            <a:solidFill>
              <a:srgbClr val="59201C"/>
            </a:solidFill>
            <a:prstDash val="solid"/>
          </a:ln>
        </p:spPr>
      </p:sp>
      <p:sp>
        <p:nvSpPr>
          <p:cNvPr id="15" name="Text 13"/>
          <p:cNvSpPr/>
          <p:nvPr/>
        </p:nvSpPr>
        <p:spPr>
          <a:xfrm>
            <a:off x="566928" y="3854196"/>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6" name="Text 14"/>
          <p:cNvSpPr/>
          <p:nvPr/>
        </p:nvSpPr>
        <p:spPr>
          <a:xfrm>
            <a:off x="1069848" y="3826764"/>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Filet Duo  $47.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Two 3 oz end-cut medallions — a touch more fat, and really ordered for the toppings: Crab Oscar on one, horseradish bleu cheese crust on the other.</a:t>
            </a:r>
            <a:endParaRPr lang="en-US" sz="1250" dirty="0"/>
          </a:p>
        </p:txBody>
      </p:sp>
      <p:sp>
        <p:nvSpPr>
          <p:cNvPr id="17" name="Shape 15"/>
          <p:cNvSpPr/>
          <p:nvPr/>
        </p:nvSpPr>
        <p:spPr>
          <a:xfrm>
            <a:off x="566928" y="4636008"/>
            <a:ext cx="365760" cy="365760"/>
          </a:xfrm>
          <a:prstGeom prst="ellipse">
            <a:avLst/>
          </a:prstGeom>
          <a:solidFill>
            <a:srgbClr val="59201C"/>
          </a:solidFill>
          <a:ln w="12700">
            <a:solidFill>
              <a:srgbClr val="59201C"/>
            </a:solidFill>
            <a:prstDash val="solid"/>
          </a:ln>
        </p:spPr>
      </p:sp>
      <p:sp>
        <p:nvSpPr>
          <p:cNvPr id="18" name="Text 16"/>
          <p:cNvSpPr/>
          <p:nvPr/>
        </p:nvSpPr>
        <p:spPr>
          <a:xfrm>
            <a:off x="566928" y="4636008"/>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9" name="Text 17"/>
          <p:cNvSpPr/>
          <p:nvPr/>
        </p:nvSpPr>
        <p:spPr>
          <a:xfrm>
            <a:off x="1069848" y="4608576"/>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Dry Aged New York Strip  14 oz $58.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The middle ground between ribeye and filet, with a fat cap that bastes as it renders. Dry aging concentrates a rich, nutty, beefy umami — tell the guest, it is the whole point of the steak.</a:t>
            </a:r>
            <a:endParaRPr lang="en-US" sz="1250" dirty="0"/>
          </a:p>
        </p:txBody>
      </p:sp>
      <p:sp>
        <p:nvSpPr>
          <p:cNvPr id="20" name="Shape 18"/>
          <p:cNvSpPr/>
          <p:nvPr/>
        </p:nvSpPr>
        <p:spPr>
          <a:xfrm>
            <a:off x="566928" y="5417820"/>
            <a:ext cx="365760" cy="365760"/>
          </a:xfrm>
          <a:prstGeom prst="ellipse">
            <a:avLst/>
          </a:prstGeom>
          <a:solidFill>
            <a:srgbClr val="59201C"/>
          </a:solidFill>
          <a:ln w="12700">
            <a:solidFill>
              <a:srgbClr val="59201C"/>
            </a:solidFill>
            <a:prstDash val="solid"/>
          </a:ln>
        </p:spPr>
      </p:sp>
      <p:sp>
        <p:nvSpPr>
          <p:cNvPr id="21" name="Text 19"/>
          <p:cNvSpPr/>
          <p:nvPr/>
        </p:nvSpPr>
        <p:spPr>
          <a:xfrm>
            <a:off x="566928" y="541782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22" name="Text 20"/>
          <p:cNvSpPr/>
          <p:nvPr/>
        </p:nvSpPr>
        <p:spPr>
          <a:xfrm>
            <a:off x="1069848" y="5390388"/>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Delmonico Ribeye  16 oz $80.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Named for the old New York steakhouse that made the style famous. Our most marbled prime cut. If they want an old-school steakhouse ribeye, this is it.</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The Prime Cuts</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The big ones</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3 — Surf and Turf and the Prime Cuts</a:t>
            </a:r>
            <a:endParaRPr lang="en-US" sz="950" dirty="0"/>
          </a:p>
        </p:txBody>
      </p:sp>
      <p:sp>
        <p:nvSpPr>
          <p:cNvPr id="5" name="Shape 3"/>
          <p:cNvSpPr/>
          <p:nvPr/>
        </p:nvSpPr>
        <p:spPr>
          <a:xfrm>
            <a:off x="566928" y="1508760"/>
            <a:ext cx="365760" cy="365760"/>
          </a:xfrm>
          <a:prstGeom prst="ellipse">
            <a:avLst/>
          </a:prstGeom>
          <a:solidFill>
            <a:srgbClr val="59201C"/>
          </a:solidFill>
          <a:ln w="12700">
            <a:solidFill>
              <a:srgbClr val="59201C"/>
            </a:solidFill>
            <a:prstDash val="solid"/>
          </a:ln>
        </p:spPr>
      </p:sp>
      <p:sp>
        <p:nvSpPr>
          <p:cNvPr id="6" name="Text 4"/>
          <p:cNvSpPr/>
          <p:nvPr/>
        </p:nvSpPr>
        <p:spPr>
          <a:xfrm>
            <a:off x="566928" y="150876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7" name="Text 5"/>
          <p:cNvSpPr/>
          <p:nvPr/>
        </p:nvSpPr>
        <p:spPr>
          <a:xfrm>
            <a:off x="1069848" y="1481328"/>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Australian Wagyu  32 oz $140.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A ribeye that keeps the whole rib bone. The bone lets marrow render into the meat, a butteriness you can only get this way.</a:t>
            </a:r>
            <a:endParaRPr lang="en-US" sz="1250" dirty="0"/>
          </a:p>
        </p:txBody>
      </p:sp>
      <p:sp>
        <p:nvSpPr>
          <p:cNvPr id="8" name="Shape 6"/>
          <p:cNvSpPr/>
          <p:nvPr/>
        </p:nvSpPr>
        <p:spPr>
          <a:xfrm>
            <a:off x="566928" y="2290572"/>
            <a:ext cx="365760" cy="365760"/>
          </a:xfrm>
          <a:prstGeom prst="ellipse">
            <a:avLst/>
          </a:prstGeom>
          <a:solidFill>
            <a:srgbClr val="59201C"/>
          </a:solidFill>
          <a:ln w="12700">
            <a:solidFill>
              <a:srgbClr val="59201C"/>
            </a:solidFill>
            <a:prstDash val="solid"/>
          </a:ln>
        </p:spPr>
      </p:sp>
      <p:sp>
        <p:nvSpPr>
          <p:cNvPr id="9" name="Text 7"/>
          <p:cNvSpPr/>
          <p:nvPr/>
        </p:nvSpPr>
        <p:spPr>
          <a:xfrm>
            <a:off x="566928" y="2290572"/>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0" name="Text 8"/>
          <p:cNvSpPr/>
          <p:nvPr/>
        </p:nvSpPr>
        <p:spPr>
          <a:xfrm>
            <a:off x="1069848" y="2263140"/>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Australian Wagyu Filet  6 oz $95 / 10 oz $135.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Australian cattle crossbred with Japanese wagyu — even one generation lifts the marbling. Wagyu fat melts lower, so it runs juicy at rare. The easy level-up for a filet person.</a:t>
            </a:r>
            <a:endParaRPr lang="en-US" sz="1250" dirty="0"/>
          </a:p>
        </p:txBody>
      </p:sp>
      <p:sp>
        <p:nvSpPr>
          <p:cNvPr id="11" name="Shape 9"/>
          <p:cNvSpPr/>
          <p:nvPr/>
        </p:nvSpPr>
        <p:spPr>
          <a:xfrm>
            <a:off x="566928" y="3072384"/>
            <a:ext cx="365760" cy="365760"/>
          </a:xfrm>
          <a:prstGeom prst="ellipse">
            <a:avLst/>
          </a:prstGeom>
          <a:solidFill>
            <a:srgbClr val="59201C"/>
          </a:solidFill>
          <a:ln w="12700">
            <a:solidFill>
              <a:srgbClr val="59201C"/>
            </a:solidFill>
            <a:prstDash val="solid"/>
          </a:ln>
        </p:spPr>
      </p:sp>
      <p:sp>
        <p:nvSpPr>
          <p:cNvPr id="12" name="Text 10"/>
          <p:cNvSpPr/>
          <p:nvPr/>
        </p:nvSpPr>
        <p:spPr>
          <a:xfrm>
            <a:off x="566928" y="3072384"/>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3" name="Text 11"/>
          <p:cNvSpPr/>
          <p:nvPr/>
        </p:nvSpPr>
        <p:spPr>
          <a:xfrm>
            <a:off x="1069848" y="3044952"/>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Japanese A5 Wagyu  $25 an ounce.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Kagoshima Prefecture. Learn it as a story, not a spec sheet — see the next slide.</a:t>
            </a:r>
            <a:endParaRPr lang="en-US" sz="1250" dirty="0"/>
          </a:p>
        </p:txBody>
      </p:sp>
      <p:sp>
        <p:nvSpPr>
          <p:cNvPr id="14" name="Shape 12"/>
          <p:cNvSpPr/>
          <p:nvPr/>
        </p:nvSpPr>
        <p:spPr>
          <a:xfrm>
            <a:off x="566928" y="3854196"/>
            <a:ext cx="365760" cy="365760"/>
          </a:xfrm>
          <a:prstGeom prst="ellipse">
            <a:avLst/>
          </a:prstGeom>
          <a:solidFill>
            <a:srgbClr val="59201C"/>
          </a:solidFill>
          <a:ln w="12700">
            <a:solidFill>
              <a:srgbClr val="59201C"/>
            </a:solidFill>
            <a:prstDash val="solid"/>
          </a:ln>
        </p:spPr>
      </p:sp>
      <p:sp>
        <p:nvSpPr>
          <p:cNvPr id="15" name="Text 13"/>
          <p:cNvSpPr/>
          <p:nvPr/>
        </p:nvSpPr>
        <p:spPr>
          <a:xfrm>
            <a:off x="566928" y="3854196"/>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6" name="Text 14"/>
          <p:cNvSpPr/>
          <p:nvPr/>
        </p:nvSpPr>
        <p:spPr>
          <a:xfrm>
            <a:off x="1069848" y="3826764"/>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48 oz USDA Choice Porterhouse  $170.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Not wagyu, and honest about it. About 22 oz of strip, 12 oz of filet, roughly a 10 oz bone. Two people split it for a manager-cut experience at a great value.</a:t>
            </a:r>
            <a:endParaRPr lang="en-US" sz="1250" dirty="0"/>
          </a:p>
        </p:txBody>
      </p:sp>
      <p:sp>
        <p:nvSpPr>
          <p:cNvPr id="17" name="Shape 15"/>
          <p:cNvSpPr/>
          <p:nvPr/>
        </p:nvSpPr>
        <p:spPr>
          <a:xfrm>
            <a:off x="566928" y="4636008"/>
            <a:ext cx="365760" cy="365760"/>
          </a:xfrm>
          <a:prstGeom prst="ellipse">
            <a:avLst/>
          </a:prstGeom>
          <a:solidFill>
            <a:srgbClr val="59201C"/>
          </a:solidFill>
          <a:ln w="12700">
            <a:solidFill>
              <a:srgbClr val="59201C"/>
            </a:solidFill>
            <a:prstDash val="solid"/>
          </a:ln>
        </p:spPr>
      </p:sp>
      <p:sp>
        <p:nvSpPr>
          <p:cNvPr id="18" name="Text 16"/>
          <p:cNvSpPr/>
          <p:nvPr/>
        </p:nvSpPr>
        <p:spPr>
          <a:xfrm>
            <a:off x="566928" y="4636008"/>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9" name="Text 17"/>
          <p:cNvSpPr/>
          <p:nvPr/>
        </p:nvSpPr>
        <p:spPr>
          <a:xfrm>
            <a:off x="1069848" y="4608576"/>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Spinalis / Ribeye Cap  $14 an ounce, 6 oz minimum.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The cap of the ribeye — rivals filet tenderness while keeping ribeye richness. Spinalis Sunday runs it at $10 an ounce.</a:t>
            </a:r>
            <a:endParaRPr lang="en-US" sz="1250" dirty="0"/>
          </a:p>
        </p:txBody>
      </p:sp>
      <p:sp>
        <p:nvSpPr>
          <p:cNvPr id="20" name="Shape 18"/>
          <p:cNvSpPr/>
          <p:nvPr/>
        </p:nvSpPr>
        <p:spPr>
          <a:xfrm>
            <a:off x="566928" y="5417820"/>
            <a:ext cx="365760" cy="365760"/>
          </a:xfrm>
          <a:prstGeom prst="ellipse">
            <a:avLst/>
          </a:prstGeom>
          <a:solidFill>
            <a:srgbClr val="59201C"/>
          </a:solidFill>
          <a:ln w="12700">
            <a:solidFill>
              <a:srgbClr val="59201C"/>
            </a:solidFill>
            <a:prstDash val="solid"/>
          </a:ln>
        </p:spPr>
      </p:sp>
      <p:sp>
        <p:nvSpPr>
          <p:cNvPr id="21" name="Text 19"/>
          <p:cNvSpPr/>
          <p:nvPr/>
        </p:nvSpPr>
        <p:spPr>
          <a:xfrm>
            <a:off x="566928" y="541782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22" name="Text 20"/>
          <p:cNvSpPr/>
          <p:nvPr/>
        </p:nvSpPr>
        <p:spPr>
          <a:xfrm>
            <a:off x="1069848" y="5390388"/>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45-Day 22 oz Dry-Aged Bone-In Ribeye.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Forty-five days of cold moving air pulls moisture out and concentrates the beef while enzymes soften the connective tissue. Deep, nutty, brown-butter richness.</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The A5 story</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This one you tell, you do not describe</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3 — Surf and Turf and the Prime Cuts</a:t>
            </a:r>
            <a:endParaRPr lang="en-US" sz="950" dirty="0"/>
          </a:p>
        </p:txBody>
      </p:sp>
      <p:sp>
        <p:nvSpPr>
          <p:cNvPr id="5" name="Text 3"/>
          <p:cNvSpPr/>
          <p:nvPr/>
        </p:nvSpPr>
        <p:spPr>
          <a:xfrm>
            <a:off x="566928" y="1554480"/>
            <a:ext cx="5300320" cy="292608"/>
          </a:xfrm>
          <a:prstGeom prst="rect">
            <a:avLst/>
          </a:prstGeom>
          <a:noFill/>
          <a:ln/>
        </p:spPr>
        <p:txBody>
          <a:bodyPr wrap="square" lIns="0" tIns="0" rIns="0" bIns="0" rtlCol="0" anchor="ctr"/>
          <a:lstStyle/>
          <a:p>
            <a:pPr indent="0" marL="0">
              <a:buNone/>
            </a:pPr>
            <a:r>
              <a:rPr lang="en-US" sz="1500" b="1" dirty="0">
                <a:solidFill>
                  <a:srgbClr val="59201C"/>
                </a:solidFill>
                <a:latin typeface="Cambria" pitchFamily="34" charset="0"/>
                <a:ea typeface="Cambria" pitchFamily="34" charset="-122"/>
                <a:cs typeface="Cambria" pitchFamily="34" charset="-120"/>
              </a:rPr>
              <a:t>What makes it A5</a:t>
            </a:r>
            <a:endParaRPr lang="en-US" sz="1500" dirty="0"/>
          </a:p>
        </p:txBody>
      </p:sp>
      <p:sp>
        <p:nvSpPr>
          <p:cNvPr id="6" name="Text 4"/>
          <p:cNvSpPr/>
          <p:nvPr/>
        </p:nvSpPr>
        <p:spPr>
          <a:xfrm>
            <a:off x="566928" y="1938528"/>
            <a:ext cx="5300320" cy="4187952"/>
          </a:xfrm>
          <a:prstGeom prst="rect">
            <a:avLst/>
          </a:prstGeom>
          <a:noFill/>
          <a:ln/>
        </p:spPr>
        <p:txBody>
          <a:bodyPr wrap="square" lIns="0" tIns="0" rIns="0" bIns="0" rtlCol="0" anchor="t"/>
          <a:lstStyle/>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Japanese farmers can spend a lifetime chasing A5 grade. Generations of breeding go into cattle this rich.</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The stories are real selling points — cows kept calm and unstressed, classical music, no roaming so no fat burns off.</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But the diet is the real secret: grain only in the final months, rich in oleic acid.</a:t>
            </a:r>
            <a:endParaRPr lang="en-US" sz="1250" dirty="0"/>
          </a:p>
        </p:txBody>
      </p:sp>
      <p:sp>
        <p:nvSpPr>
          <p:cNvPr id="7" name="Text 5"/>
          <p:cNvSpPr/>
          <p:nvPr/>
        </p:nvSpPr>
        <p:spPr>
          <a:xfrm>
            <a:off x="6324448" y="1554480"/>
            <a:ext cx="5300320" cy="292608"/>
          </a:xfrm>
          <a:prstGeom prst="rect">
            <a:avLst/>
          </a:prstGeom>
          <a:noFill/>
          <a:ln/>
        </p:spPr>
        <p:txBody>
          <a:bodyPr wrap="square" lIns="0" tIns="0" rIns="0" bIns="0" rtlCol="0" anchor="ctr"/>
          <a:lstStyle/>
          <a:p>
            <a:pPr indent="0" marL="0">
              <a:buNone/>
            </a:pPr>
            <a:r>
              <a:rPr lang="en-US" sz="1500" b="1" dirty="0">
                <a:solidFill>
                  <a:srgbClr val="59201C"/>
                </a:solidFill>
                <a:latin typeface="Cambria" pitchFamily="34" charset="0"/>
                <a:ea typeface="Cambria" pitchFamily="34" charset="-122"/>
                <a:cs typeface="Cambria" pitchFamily="34" charset="-120"/>
              </a:rPr>
              <a:t>What it is like to eat</a:t>
            </a:r>
            <a:endParaRPr lang="en-US" sz="1500" dirty="0"/>
          </a:p>
        </p:txBody>
      </p:sp>
      <p:sp>
        <p:nvSpPr>
          <p:cNvPr id="8" name="Text 6"/>
          <p:cNvSpPr/>
          <p:nvPr/>
        </p:nvSpPr>
        <p:spPr>
          <a:xfrm>
            <a:off x="6324448" y="1938528"/>
            <a:ext cx="5300320" cy="4187952"/>
          </a:xfrm>
          <a:prstGeom prst="rect">
            <a:avLst/>
          </a:prstGeom>
          <a:noFill/>
          <a:ln/>
        </p:spPr>
        <p:txBody>
          <a:bodyPr wrap="square" lIns="0" tIns="0" rIns="0" bIns="0" rtlCol="0" anchor="t"/>
          <a:lstStyle/>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The fat is so ready to melt that a fingertip drawn across the steak leaves a shine on your skin from body heat alone. That is why it is served rare to medium rare.</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Closer to bone marrow or butter than to steak — extremely soft, juices with every bite, a beefy richness unmatched by any cut in the city.</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A manager slices it tableside on a butcher's block with a Japanese knife, torch-finishes it with rosemary salt, and tells that story. Your job: a flawless setup and the Hanzo knives preset.</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Surf and Turf</a:t>
            </a:r>
            <a:endParaRPr lang="en-US" sz="3400" dirty="0"/>
          </a:p>
        </p:txBody>
      </p:sp>
      <p:sp>
        <p:nvSpPr>
          <p:cNvPr id="3" name="Text 1"/>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3 — Surf and Turf and the Prime Cuts</a:t>
            </a:r>
            <a:endParaRPr lang="en-US" sz="950" dirty="0"/>
          </a:p>
        </p:txBody>
      </p:sp>
      <p:sp>
        <p:nvSpPr>
          <p:cNvPr id="4" name="Shape 2"/>
          <p:cNvSpPr/>
          <p:nvPr/>
        </p:nvSpPr>
        <p:spPr>
          <a:xfrm>
            <a:off x="566928" y="1572768"/>
            <a:ext cx="3551834" cy="2194560"/>
          </a:xfrm>
          <a:prstGeom prst="roundRect">
            <a:avLst>
              <a:gd name="adj" fmla="val 2500"/>
            </a:avLst>
          </a:prstGeom>
          <a:solidFill>
            <a:srgbClr val="F2E9D8"/>
          </a:solidFill>
          <a:ln w="12700">
            <a:solidFill>
              <a:srgbClr val="E4D8C0"/>
            </a:solidFill>
            <a:prstDash val="solid"/>
          </a:ln>
        </p:spPr>
      </p:sp>
      <p:sp>
        <p:nvSpPr>
          <p:cNvPr id="5" name="Text 3"/>
          <p:cNvSpPr/>
          <p:nvPr/>
        </p:nvSpPr>
        <p:spPr>
          <a:xfrm>
            <a:off x="749808" y="1719072"/>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Steak 47</a:t>
            </a:r>
            <a:endParaRPr lang="en-US" sz="1450" dirty="0"/>
          </a:p>
        </p:txBody>
      </p:sp>
      <p:sp>
        <p:nvSpPr>
          <p:cNvPr id="6" name="Text 4"/>
          <p:cNvSpPr/>
          <p:nvPr/>
        </p:nvSpPr>
        <p:spPr>
          <a:xfrm>
            <a:off x="749808"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$58</a:t>
            </a:r>
            <a:endParaRPr lang="en-US" sz="1100" dirty="0"/>
          </a:p>
        </p:txBody>
      </p:sp>
      <p:sp>
        <p:nvSpPr>
          <p:cNvPr id="7" name="Text 5"/>
          <p:cNvSpPr/>
          <p:nvPr/>
        </p:nvSpPr>
        <p:spPr>
          <a:xfrm>
            <a:off x="749808" y="2286000"/>
            <a:ext cx="3186074" cy="1335024"/>
          </a:xfrm>
          <a:prstGeom prst="rect">
            <a:avLst/>
          </a:prstGeom>
          <a:noFill/>
          <a:ln/>
        </p:spPr>
        <p:txBody>
          <a:bodyPr wrap="square" lIns="0" tIns="0" rIns="0" bIns="0" rtlCol="0" anchor="t"/>
          <a:lstStyle/>
          <a:p>
            <a:pPr indent="0" marL="0">
              <a:lnSpc>
                <a:spcPts val="1400"/>
              </a:lnSpc>
              <a:buNone/>
            </a:pPr>
            <a:r>
              <a:rPr lang="en-US" sz="1150" dirty="0">
                <a:solidFill>
                  <a:srgbClr val="2B2118"/>
                </a:solidFill>
                <a:latin typeface="Calibri" pitchFamily="34" charset="0"/>
                <a:ea typeface="Calibri" pitchFamily="34" charset="-122"/>
                <a:cs typeface="Calibri" pitchFamily="34" charset="-120"/>
              </a:rPr>
              <a:t>A 4 oz filet base topped with a scallop and a shrimp, chopped asparagus and lobster meat around the plate, hollandaise drizzled by expo. Upgrade math: any filet goes 47 style for its price plus the $25 topping — 6 oz is $79, 10 oz is $104.</a:t>
            </a:r>
            <a:endParaRPr lang="en-US" sz="1150" dirty="0"/>
          </a:p>
        </p:txBody>
      </p:sp>
      <p:sp>
        <p:nvSpPr>
          <p:cNvPr id="8" name="Shape 6"/>
          <p:cNvSpPr/>
          <p:nvPr/>
        </p:nvSpPr>
        <p:spPr>
          <a:xfrm>
            <a:off x="4319930" y="1572768"/>
            <a:ext cx="3551834" cy="2194560"/>
          </a:xfrm>
          <a:prstGeom prst="roundRect">
            <a:avLst>
              <a:gd name="adj" fmla="val 2500"/>
            </a:avLst>
          </a:prstGeom>
          <a:solidFill>
            <a:srgbClr val="F2E9D8"/>
          </a:solidFill>
          <a:ln w="12700">
            <a:solidFill>
              <a:srgbClr val="E4D8C0"/>
            </a:solidFill>
            <a:prstDash val="solid"/>
          </a:ln>
        </p:spPr>
      </p:sp>
      <p:sp>
        <p:nvSpPr>
          <p:cNvPr id="9" name="Text 7"/>
          <p:cNvSpPr/>
          <p:nvPr/>
        </p:nvSpPr>
        <p:spPr>
          <a:xfrm>
            <a:off x="4502810" y="1719072"/>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Filet &amp; Lobster</a:t>
            </a:r>
            <a:endParaRPr lang="en-US" sz="1450" dirty="0"/>
          </a:p>
        </p:txBody>
      </p:sp>
      <p:sp>
        <p:nvSpPr>
          <p:cNvPr id="10" name="Text 8"/>
          <p:cNvSpPr/>
          <p:nvPr/>
        </p:nvSpPr>
        <p:spPr>
          <a:xfrm>
            <a:off x="4502810"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$105</a:t>
            </a:r>
            <a:endParaRPr lang="en-US" sz="1100" dirty="0"/>
          </a:p>
        </p:txBody>
      </p:sp>
      <p:sp>
        <p:nvSpPr>
          <p:cNvPr id="11" name="Text 9"/>
          <p:cNvSpPr/>
          <p:nvPr/>
        </p:nvSpPr>
        <p:spPr>
          <a:xfrm>
            <a:off x="4502810" y="2286000"/>
            <a:ext cx="3186074" cy="1335024"/>
          </a:xfrm>
          <a:prstGeom prst="rect">
            <a:avLst/>
          </a:prstGeom>
          <a:noFill/>
          <a:ln/>
        </p:spPr>
        <p:txBody>
          <a:bodyPr wrap="square" lIns="0" tIns="0" rIns="0" bIns="0" rtlCol="0" anchor="t"/>
          <a:lstStyle/>
          <a:p>
            <a:pPr indent="0" marL="0">
              <a:lnSpc>
                <a:spcPts val="1400"/>
              </a:lnSpc>
              <a:buNone/>
            </a:pPr>
            <a:r>
              <a:rPr lang="en-US" sz="1150" dirty="0">
                <a:solidFill>
                  <a:srgbClr val="2B2118"/>
                </a:solidFill>
                <a:latin typeface="Calibri" pitchFamily="34" charset="0"/>
                <a:ea typeface="Calibri" pitchFamily="34" charset="-122"/>
                <a:cs typeface="Calibri" pitchFamily="34" charset="-120"/>
              </a:rPr>
              <a:t>A 6 oz filet off the charbroiler, upgradeable to 10 oz, with a 5 oz South African lobster tail steamed gently so it never turns chewy. Menu marks GF.</a:t>
            </a:r>
            <a:endParaRPr lang="en-US" sz="1150" dirty="0"/>
          </a:p>
        </p:txBody>
      </p:sp>
      <p:sp>
        <p:nvSpPr>
          <p:cNvPr id="12" name="Shape 10"/>
          <p:cNvSpPr/>
          <p:nvPr/>
        </p:nvSpPr>
        <p:spPr>
          <a:xfrm>
            <a:off x="8072933" y="1572768"/>
            <a:ext cx="3551834" cy="2194560"/>
          </a:xfrm>
          <a:prstGeom prst="roundRect">
            <a:avLst>
              <a:gd name="adj" fmla="val 2500"/>
            </a:avLst>
          </a:prstGeom>
          <a:solidFill>
            <a:srgbClr val="F2E9D8"/>
          </a:solidFill>
          <a:ln w="12700">
            <a:solidFill>
              <a:srgbClr val="E4D8C0"/>
            </a:solidFill>
            <a:prstDash val="solid"/>
          </a:ln>
        </p:spPr>
      </p:sp>
      <p:sp>
        <p:nvSpPr>
          <p:cNvPr id="13" name="Text 11"/>
          <p:cNvSpPr/>
          <p:nvPr/>
        </p:nvSpPr>
        <p:spPr>
          <a:xfrm>
            <a:off x="8255813" y="1719072"/>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Filet &amp; Scallops</a:t>
            </a:r>
            <a:endParaRPr lang="en-US" sz="1450" dirty="0"/>
          </a:p>
        </p:txBody>
      </p:sp>
      <p:sp>
        <p:nvSpPr>
          <p:cNvPr id="14" name="Text 12"/>
          <p:cNvSpPr/>
          <p:nvPr/>
        </p:nvSpPr>
        <p:spPr>
          <a:xfrm>
            <a:off x="8255813"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$82</a:t>
            </a:r>
            <a:endParaRPr lang="en-US" sz="1100" dirty="0"/>
          </a:p>
        </p:txBody>
      </p:sp>
      <p:sp>
        <p:nvSpPr>
          <p:cNvPr id="15" name="Text 13"/>
          <p:cNvSpPr/>
          <p:nvPr/>
        </p:nvSpPr>
        <p:spPr>
          <a:xfrm>
            <a:off x="8255813" y="2286000"/>
            <a:ext cx="3186074" cy="1335024"/>
          </a:xfrm>
          <a:prstGeom prst="rect">
            <a:avLst/>
          </a:prstGeom>
          <a:noFill/>
          <a:ln/>
        </p:spPr>
        <p:txBody>
          <a:bodyPr wrap="square" lIns="0" tIns="0" rIns="0" bIns="0" rtlCol="0" anchor="t"/>
          <a:lstStyle/>
          <a:p>
            <a:pPr indent="0" marL="0">
              <a:lnSpc>
                <a:spcPts val="1400"/>
              </a:lnSpc>
              <a:buNone/>
            </a:pPr>
            <a:r>
              <a:rPr lang="en-US" sz="1150" dirty="0">
                <a:solidFill>
                  <a:srgbClr val="2B2118"/>
                </a:solidFill>
                <a:latin typeface="Calibri" pitchFamily="34" charset="0"/>
                <a:ea typeface="Calibri" pitchFamily="34" charset="-122"/>
                <a:cs typeface="Calibri" pitchFamily="34" charset="-120"/>
              </a:rPr>
              <a:t>A 6 oz filet with two U-10 prosciutto-wrapped scallops, flash-seared hot and fast so they stay tender. The prosciutto means pork rides this plate.</a:t>
            </a:r>
            <a:endParaRPr lang="en-US" sz="1150" dirty="0"/>
          </a:p>
        </p:txBody>
      </p:sp>
      <p:sp>
        <p:nvSpPr>
          <p:cNvPr id="16" name="Shape 14"/>
          <p:cNvSpPr/>
          <p:nvPr/>
        </p:nvSpPr>
        <p:spPr>
          <a:xfrm>
            <a:off x="566928" y="4041648"/>
            <a:ext cx="11057839" cy="749808"/>
          </a:xfrm>
          <a:prstGeom prst="roundRect">
            <a:avLst>
              <a:gd name="adj" fmla="val 7317"/>
            </a:avLst>
          </a:prstGeom>
          <a:solidFill>
            <a:srgbClr val="F3E7E4"/>
          </a:solidFill>
          <a:ln w="12700">
            <a:solidFill>
              <a:srgbClr val="E2CCC7"/>
            </a:solidFill>
            <a:prstDash val="solid"/>
          </a:ln>
        </p:spPr>
      </p:sp>
      <p:sp>
        <p:nvSpPr>
          <p:cNvPr id="17" name="Text 15"/>
          <p:cNvSpPr/>
          <p:nvPr/>
        </p:nvSpPr>
        <p:spPr>
          <a:xfrm>
            <a:off x="768096" y="4114800"/>
            <a:ext cx="10655503" cy="603504"/>
          </a:xfrm>
          <a:prstGeom prst="rect">
            <a:avLst/>
          </a:prstGeom>
          <a:noFill/>
          <a:ln/>
        </p:spPr>
        <p:txBody>
          <a:bodyPr wrap="square" lIns="0" tIns="0" rIns="0" bIns="0" rtlCol="0" anchor="ctr"/>
          <a:lstStyle/>
          <a:p>
            <a:pPr indent="0" marL="0">
              <a:lnSpc>
                <a:spcPts val="1600"/>
              </a:lnSpc>
              <a:buNone/>
            </a:pPr>
            <a:r>
              <a:rPr lang="en-US" sz="1250" b="1" dirty="0">
                <a:solidFill>
                  <a:srgbClr val="59201C"/>
                </a:solidFill>
                <a:latin typeface="Calibri" pitchFamily="34" charset="0"/>
                <a:ea typeface="Calibri" pitchFamily="34" charset="-122"/>
                <a:cs typeface="Calibri" pitchFamily="34" charset="-120"/>
              </a:rPr>
              <a:t>Every steak order is an enhancement conversation:  </a:t>
            </a:r>
            <a:pPr indent="0" marL="0">
              <a:lnSpc>
                <a:spcPts val="1600"/>
              </a:lnSpc>
              <a:buNone/>
            </a:pPr>
            <a:r>
              <a:rPr lang="en-US" sz="1250" dirty="0">
                <a:solidFill>
                  <a:srgbClr val="2B2118"/>
                </a:solidFill>
                <a:latin typeface="Calibri" pitchFamily="34" charset="0"/>
                <a:ea typeface="Calibri" pitchFamily="34" charset="-122"/>
                <a:cs typeface="Calibri" pitchFamily="34" charset="-120"/>
              </a:rPr>
              <a:t>Oscar it, 47 it, tail it, butter it, mushroom it. Asked warmly, it reads as generosity, not sales.</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Enhancements</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The check builders</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3 — Surf and Turf and the Prime Cuts</a:t>
            </a:r>
            <a:endParaRPr lang="en-US" sz="950" dirty="0"/>
          </a:p>
        </p:txBody>
      </p:sp>
      <p:sp>
        <p:nvSpPr>
          <p:cNvPr id="5" name="Shape 3"/>
          <p:cNvSpPr/>
          <p:nvPr/>
        </p:nvSpPr>
        <p:spPr>
          <a:xfrm>
            <a:off x="566928" y="1572768"/>
            <a:ext cx="3551834" cy="1481328"/>
          </a:xfrm>
          <a:prstGeom prst="roundRect">
            <a:avLst>
              <a:gd name="adj" fmla="val 3704"/>
            </a:avLst>
          </a:prstGeom>
          <a:solidFill>
            <a:srgbClr val="F2E9D8"/>
          </a:solidFill>
          <a:ln w="12700">
            <a:solidFill>
              <a:srgbClr val="E4D8C0"/>
            </a:solidFill>
            <a:prstDash val="solid"/>
          </a:ln>
        </p:spPr>
      </p:sp>
      <p:sp>
        <p:nvSpPr>
          <p:cNvPr id="6" name="Text 4"/>
          <p:cNvSpPr/>
          <p:nvPr/>
        </p:nvSpPr>
        <p:spPr>
          <a:xfrm>
            <a:off x="749808" y="1719072"/>
            <a:ext cx="3186074" cy="310896"/>
          </a:xfrm>
          <a:prstGeom prst="rect">
            <a:avLst/>
          </a:prstGeom>
          <a:noFill/>
          <a:ln/>
        </p:spPr>
        <p:txBody>
          <a:bodyPr wrap="square" lIns="0" tIns="0" rIns="0" bIns="0" rtlCol="0" anchor="ctr"/>
          <a:lstStyle/>
          <a:p>
            <a:pPr indent="0" marL="0">
              <a:buNone/>
            </a:pPr>
            <a:r>
              <a:rPr lang="en-US" sz="1350" b="1" dirty="0">
                <a:solidFill>
                  <a:srgbClr val="59201C"/>
                </a:solidFill>
                <a:latin typeface="Cambria" pitchFamily="34" charset="0"/>
                <a:ea typeface="Cambria" pitchFamily="34" charset="-122"/>
                <a:cs typeface="Cambria" pitchFamily="34" charset="-120"/>
              </a:rPr>
              <a:t>Crab Oscar</a:t>
            </a:r>
            <a:endParaRPr lang="en-US" sz="1350" dirty="0"/>
          </a:p>
        </p:txBody>
      </p:sp>
      <p:sp>
        <p:nvSpPr>
          <p:cNvPr id="7" name="Text 5"/>
          <p:cNvSpPr/>
          <p:nvPr/>
        </p:nvSpPr>
        <p:spPr>
          <a:xfrm>
            <a:off x="749808"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$14</a:t>
            </a:r>
            <a:endParaRPr lang="en-US" sz="1100" dirty="0"/>
          </a:p>
        </p:txBody>
      </p:sp>
      <p:sp>
        <p:nvSpPr>
          <p:cNvPr id="8" name="Text 6"/>
          <p:cNvSpPr/>
          <p:nvPr/>
        </p:nvSpPr>
        <p:spPr>
          <a:xfrm>
            <a:off x="749808" y="2286000"/>
            <a:ext cx="3186074" cy="621792"/>
          </a:xfrm>
          <a:prstGeom prst="rect">
            <a:avLst/>
          </a:prstGeom>
          <a:noFill/>
          <a:ln/>
        </p:spPr>
        <p:txBody>
          <a:bodyPr wrap="square" lIns="0" tIns="0" rIns="0" bIns="0" rtlCol="0" anchor="t"/>
          <a:lstStyle/>
          <a:p>
            <a:pPr indent="0" marL="0">
              <a:lnSpc>
                <a:spcPts val="1400"/>
              </a:lnSpc>
              <a:buNone/>
            </a:pPr>
            <a:r>
              <a:rPr lang="en-US" sz="1050" dirty="0">
                <a:solidFill>
                  <a:srgbClr val="2B2118"/>
                </a:solidFill>
                <a:latin typeface="Calibri" pitchFamily="34" charset="0"/>
                <a:ea typeface="Calibri" pitchFamily="34" charset="-122"/>
                <a:cs typeface="Calibri" pitchFamily="34" charset="-120"/>
              </a:rPr>
              <a:t>Snow crab, asparagus, hollandaise. GF-marked.</a:t>
            </a:r>
            <a:endParaRPr lang="en-US" sz="1050" dirty="0"/>
          </a:p>
        </p:txBody>
      </p:sp>
      <p:sp>
        <p:nvSpPr>
          <p:cNvPr id="9" name="Shape 7"/>
          <p:cNvSpPr/>
          <p:nvPr/>
        </p:nvSpPr>
        <p:spPr>
          <a:xfrm>
            <a:off x="4319930" y="1572768"/>
            <a:ext cx="3551834" cy="1481328"/>
          </a:xfrm>
          <a:prstGeom prst="roundRect">
            <a:avLst>
              <a:gd name="adj" fmla="val 3704"/>
            </a:avLst>
          </a:prstGeom>
          <a:solidFill>
            <a:srgbClr val="F2E9D8"/>
          </a:solidFill>
          <a:ln w="12700">
            <a:solidFill>
              <a:srgbClr val="E4D8C0"/>
            </a:solidFill>
            <a:prstDash val="solid"/>
          </a:ln>
        </p:spPr>
      </p:sp>
      <p:sp>
        <p:nvSpPr>
          <p:cNvPr id="10" name="Text 8"/>
          <p:cNvSpPr/>
          <p:nvPr/>
        </p:nvSpPr>
        <p:spPr>
          <a:xfrm>
            <a:off x="4502810" y="1719072"/>
            <a:ext cx="3186074" cy="310896"/>
          </a:xfrm>
          <a:prstGeom prst="rect">
            <a:avLst/>
          </a:prstGeom>
          <a:noFill/>
          <a:ln/>
        </p:spPr>
        <p:txBody>
          <a:bodyPr wrap="square" lIns="0" tIns="0" rIns="0" bIns="0" rtlCol="0" anchor="ctr"/>
          <a:lstStyle/>
          <a:p>
            <a:pPr indent="0" marL="0">
              <a:buNone/>
            </a:pPr>
            <a:r>
              <a:rPr lang="en-US" sz="1350" b="1" dirty="0">
                <a:solidFill>
                  <a:srgbClr val="59201C"/>
                </a:solidFill>
                <a:latin typeface="Cambria" pitchFamily="34" charset="0"/>
                <a:ea typeface="Cambria" pitchFamily="34" charset="-122"/>
                <a:cs typeface="Cambria" pitchFamily="34" charset="-120"/>
              </a:rPr>
              <a:t>Steak 47 topping</a:t>
            </a:r>
            <a:endParaRPr lang="en-US" sz="1350" dirty="0"/>
          </a:p>
        </p:txBody>
      </p:sp>
      <p:sp>
        <p:nvSpPr>
          <p:cNvPr id="11" name="Text 9"/>
          <p:cNvSpPr/>
          <p:nvPr/>
        </p:nvSpPr>
        <p:spPr>
          <a:xfrm>
            <a:off x="4502810"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$25</a:t>
            </a:r>
            <a:endParaRPr lang="en-US" sz="1100" dirty="0"/>
          </a:p>
        </p:txBody>
      </p:sp>
      <p:sp>
        <p:nvSpPr>
          <p:cNvPr id="12" name="Text 10"/>
          <p:cNvSpPr/>
          <p:nvPr/>
        </p:nvSpPr>
        <p:spPr>
          <a:xfrm>
            <a:off x="4502810" y="2286000"/>
            <a:ext cx="3186074" cy="621792"/>
          </a:xfrm>
          <a:prstGeom prst="rect">
            <a:avLst/>
          </a:prstGeom>
          <a:noFill/>
          <a:ln/>
        </p:spPr>
        <p:txBody>
          <a:bodyPr wrap="square" lIns="0" tIns="0" rIns="0" bIns="0" rtlCol="0" anchor="t"/>
          <a:lstStyle/>
          <a:p>
            <a:pPr indent="0" marL="0">
              <a:lnSpc>
                <a:spcPts val="1400"/>
              </a:lnSpc>
              <a:buNone/>
            </a:pPr>
            <a:r>
              <a:rPr lang="en-US" sz="1050" dirty="0">
                <a:solidFill>
                  <a:srgbClr val="2B2118"/>
                </a:solidFill>
                <a:latin typeface="Calibri" pitchFamily="34" charset="0"/>
                <a:ea typeface="Calibri" pitchFamily="34" charset="-122"/>
                <a:cs typeface="Calibri" pitchFamily="34" charset="-120"/>
              </a:rPr>
              <a:t>The answer to “what does the topping cost” is always $25.</a:t>
            </a:r>
            <a:endParaRPr lang="en-US" sz="1050" dirty="0"/>
          </a:p>
        </p:txBody>
      </p:sp>
      <p:sp>
        <p:nvSpPr>
          <p:cNvPr id="13" name="Shape 11"/>
          <p:cNvSpPr/>
          <p:nvPr/>
        </p:nvSpPr>
        <p:spPr>
          <a:xfrm>
            <a:off x="8072933" y="1572768"/>
            <a:ext cx="3551834" cy="1481328"/>
          </a:xfrm>
          <a:prstGeom prst="roundRect">
            <a:avLst>
              <a:gd name="adj" fmla="val 3704"/>
            </a:avLst>
          </a:prstGeom>
          <a:solidFill>
            <a:srgbClr val="F2E9D8"/>
          </a:solidFill>
          <a:ln w="12700">
            <a:solidFill>
              <a:srgbClr val="E4D8C0"/>
            </a:solidFill>
            <a:prstDash val="solid"/>
          </a:ln>
        </p:spPr>
      </p:sp>
      <p:sp>
        <p:nvSpPr>
          <p:cNvPr id="14" name="Text 12"/>
          <p:cNvSpPr/>
          <p:nvPr/>
        </p:nvSpPr>
        <p:spPr>
          <a:xfrm>
            <a:off x="8255813" y="1719072"/>
            <a:ext cx="3186074" cy="310896"/>
          </a:xfrm>
          <a:prstGeom prst="rect">
            <a:avLst/>
          </a:prstGeom>
          <a:noFill/>
          <a:ln/>
        </p:spPr>
        <p:txBody>
          <a:bodyPr wrap="square" lIns="0" tIns="0" rIns="0" bIns="0" rtlCol="0" anchor="ctr"/>
          <a:lstStyle/>
          <a:p>
            <a:pPr indent="0" marL="0">
              <a:buNone/>
            </a:pPr>
            <a:r>
              <a:rPr lang="en-US" sz="1350" b="1" dirty="0">
                <a:solidFill>
                  <a:srgbClr val="59201C"/>
                </a:solidFill>
                <a:latin typeface="Cambria" pitchFamily="34" charset="0"/>
                <a:ea typeface="Cambria" pitchFamily="34" charset="-122"/>
                <a:cs typeface="Cambria" pitchFamily="34" charset="-120"/>
              </a:rPr>
              <a:t>Horseradish-bleu crust</a:t>
            </a:r>
            <a:endParaRPr lang="en-US" sz="1350" dirty="0"/>
          </a:p>
        </p:txBody>
      </p:sp>
      <p:sp>
        <p:nvSpPr>
          <p:cNvPr id="15" name="Text 13"/>
          <p:cNvSpPr/>
          <p:nvPr/>
        </p:nvSpPr>
        <p:spPr>
          <a:xfrm>
            <a:off x="8255813"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$4</a:t>
            </a:r>
            <a:endParaRPr lang="en-US" sz="1100" dirty="0"/>
          </a:p>
        </p:txBody>
      </p:sp>
      <p:sp>
        <p:nvSpPr>
          <p:cNvPr id="16" name="Text 14"/>
          <p:cNvSpPr/>
          <p:nvPr/>
        </p:nvSpPr>
        <p:spPr>
          <a:xfrm>
            <a:off x="8255813" y="2286000"/>
            <a:ext cx="3186074" cy="621792"/>
          </a:xfrm>
          <a:prstGeom prst="rect">
            <a:avLst/>
          </a:prstGeom>
          <a:noFill/>
          <a:ln/>
        </p:spPr>
        <p:txBody>
          <a:bodyPr wrap="square" lIns="0" tIns="0" rIns="0" bIns="0" rtlCol="0" anchor="t"/>
          <a:lstStyle/>
          <a:p>
            <a:pPr indent="0" marL="0">
              <a:lnSpc>
                <a:spcPts val="1400"/>
              </a:lnSpc>
              <a:buNone/>
            </a:pPr>
            <a:r>
              <a:rPr lang="en-US" sz="1050" dirty="0">
                <a:solidFill>
                  <a:srgbClr val="2B2118"/>
                </a:solidFill>
                <a:latin typeface="Calibri" pitchFamily="34" charset="0"/>
                <a:ea typeface="Calibri" pitchFamily="34" charset="-122"/>
                <a:cs typeface="Calibri" pitchFamily="34" charset="-120"/>
              </a:rPr>
              <a:t>Melted bleu cheese crumbles, horseradish, herbs.</a:t>
            </a:r>
            <a:endParaRPr lang="en-US" sz="1050" dirty="0"/>
          </a:p>
        </p:txBody>
      </p:sp>
      <p:sp>
        <p:nvSpPr>
          <p:cNvPr id="17" name="Shape 15"/>
          <p:cNvSpPr/>
          <p:nvPr/>
        </p:nvSpPr>
        <p:spPr>
          <a:xfrm>
            <a:off x="566928" y="3255264"/>
            <a:ext cx="3551834" cy="1481328"/>
          </a:xfrm>
          <a:prstGeom prst="roundRect">
            <a:avLst>
              <a:gd name="adj" fmla="val 3704"/>
            </a:avLst>
          </a:prstGeom>
          <a:solidFill>
            <a:srgbClr val="F2E9D8"/>
          </a:solidFill>
          <a:ln w="12700">
            <a:solidFill>
              <a:srgbClr val="E4D8C0"/>
            </a:solidFill>
            <a:prstDash val="solid"/>
          </a:ln>
        </p:spPr>
      </p:sp>
      <p:sp>
        <p:nvSpPr>
          <p:cNvPr id="18" name="Text 16"/>
          <p:cNvSpPr/>
          <p:nvPr/>
        </p:nvSpPr>
        <p:spPr>
          <a:xfrm>
            <a:off x="749808" y="3401568"/>
            <a:ext cx="3186074" cy="310896"/>
          </a:xfrm>
          <a:prstGeom prst="rect">
            <a:avLst/>
          </a:prstGeom>
          <a:noFill/>
          <a:ln/>
        </p:spPr>
        <p:txBody>
          <a:bodyPr wrap="square" lIns="0" tIns="0" rIns="0" bIns="0" rtlCol="0" anchor="ctr"/>
          <a:lstStyle/>
          <a:p>
            <a:pPr indent="0" marL="0">
              <a:buNone/>
            </a:pPr>
            <a:r>
              <a:rPr lang="en-US" sz="1350" b="1" dirty="0">
                <a:solidFill>
                  <a:srgbClr val="59201C"/>
                </a:solidFill>
                <a:latin typeface="Cambria" pitchFamily="34" charset="0"/>
                <a:ea typeface="Cambria" pitchFamily="34" charset="-122"/>
                <a:cs typeface="Cambria" pitchFamily="34" charset="-120"/>
              </a:rPr>
              <a:t>Bearnaise</a:t>
            </a:r>
            <a:endParaRPr lang="en-US" sz="1350" dirty="0"/>
          </a:p>
        </p:txBody>
      </p:sp>
      <p:sp>
        <p:nvSpPr>
          <p:cNvPr id="19" name="Text 17"/>
          <p:cNvSpPr/>
          <p:nvPr/>
        </p:nvSpPr>
        <p:spPr>
          <a:xfrm>
            <a:off x="749808" y="3712464"/>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$2</a:t>
            </a:r>
            <a:endParaRPr lang="en-US" sz="1100" dirty="0"/>
          </a:p>
        </p:txBody>
      </p:sp>
      <p:sp>
        <p:nvSpPr>
          <p:cNvPr id="20" name="Text 18"/>
          <p:cNvSpPr/>
          <p:nvPr/>
        </p:nvSpPr>
        <p:spPr>
          <a:xfrm>
            <a:off x="749808" y="3968496"/>
            <a:ext cx="3186074" cy="621792"/>
          </a:xfrm>
          <a:prstGeom prst="rect">
            <a:avLst/>
          </a:prstGeom>
          <a:noFill/>
          <a:ln/>
        </p:spPr>
        <p:txBody>
          <a:bodyPr wrap="square" lIns="0" tIns="0" rIns="0" bIns="0" rtlCol="0" anchor="t"/>
          <a:lstStyle/>
          <a:p>
            <a:pPr indent="0" marL="0">
              <a:lnSpc>
                <a:spcPts val="1400"/>
              </a:lnSpc>
              <a:buNone/>
            </a:pPr>
            <a:r>
              <a:rPr lang="en-US" sz="1050" dirty="0">
                <a:solidFill>
                  <a:srgbClr val="2B2118"/>
                </a:solidFill>
                <a:latin typeface="Calibri" pitchFamily="34" charset="0"/>
                <a:ea typeface="Calibri" pitchFamily="34" charset="-122"/>
                <a:cs typeface="Calibri" pitchFamily="34" charset="-120"/>
              </a:rPr>
              <a:t>Egg and butter with a tarragon-shallot reduction. Herbier than hollandaise — and yes, really two dollars.</a:t>
            </a:r>
            <a:endParaRPr lang="en-US" sz="1050" dirty="0"/>
          </a:p>
        </p:txBody>
      </p:sp>
      <p:sp>
        <p:nvSpPr>
          <p:cNvPr id="21" name="Shape 19"/>
          <p:cNvSpPr/>
          <p:nvPr/>
        </p:nvSpPr>
        <p:spPr>
          <a:xfrm>
            <a:off x="4319930" y="3255264"/>
            <a:ext cx="3551834" cy="1481328"/>
          </a:xfrm>
          <a:prstGeom prst="roundRect">
            <a:avLst>
              <a:gd name="adj" fmla="val 3704"/>
            </a:avLst>
          </a:prstGeom>
          <a:solidFill>
            <a:srgbClr val="F2E9D8"/>
          </a:solidFill>
          <a:ln w="12700">
            <a:solidFill>
              <a:srgbClr val="E4D8C0"/>
            </a:solidFill>
            <a:prstDash val="solid"/>
          </a:ln>
        </p:spPr>
      </p:sp>
      <p:sp>
        <p:nvSpPr>
          <p:cNvPr id="22" name="Text 20"/>
          <p:cNvSpPr/>
          <p:nvPr/>
        </p:nvSpPr>
        <p:spPr>
          <a:xfrm>
            <a:off x="4502810" y="3401568"/>
            <a:ext cx="3186074" cy="310896"/>
          </a:xfrm>
          <a:prstGeom prst="rect">
            <a:avLst/>
          </a:prstGeom>
          <a:noFill/>
          <a:ln/>
        </p:spPr>
        <p:txBody>
          <a:bodyPr wrap="square" lIns="0" tIns="0" rIns="0" bIns="0" rtlCol="0" anchor="ctr"/>
          <a:lstStyle/>
          <a:p>
            <a:pPr indent="0" marL="0">
              <a:buNone/>
            </a:pPr>
            <a:r>
              <a:rPr lang="en-US" sz="1350" b="1" dirty="0">
                <a:solidFill>
                  <a:srgbClr val="59201C"/>
                </a:solidFill>
                <a:latin typeface="Cambria" pitchFamily="34" charset="0"/>
                <a:ea typeface="Cambria" pitchFamily="34" charset="-122"/>
                <a:cs typeface="Cambria" pitchFamily="34" charset="-120"/>
              </a:rPr>
              <a:t>5 oz Lobster Tail</a:t>
            </a:r>
            <a:endParaRPr lang="en-US" sz="1350" dirty="0"/>
          </a:p>
        </p:txBody>
      </p:sp>
      <p:sp>
        <p:nvSpPr>
          <p:cNvPr id="23" name="Text 21"/>
          <p:cNvSpPr/>
          <p:nvPr/>
        </p:nvSpPr>
        <p:spPr>
          <a:xfrm>
            <a:off x="4502810" y="3712464"/>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$50</a:t>
            </a:r>
            <a:endParaRPr lang="en-US" sz="1100" dirty="0"/>
          </a:p>
        </p:txBody>
      </p:sp>
      <p:sp>
        <p:nvSpPr>
          <p:cNvPr id="24" name="Text 22"/>
          <p:cNvSpPr/>
          <p:nvPr/>
        </p:nvSpPr>
        <p:spPr>
          <a:xfrm>
            <a:off x="4502810" y="3968496"/>
            <a:ext cx="3186074" cy="621792"/>
          </a:xfrm>
          <a:prstGeom prst="rect">
            <a:avLst/>
          </a:prstGeom>
          <a:noFill/>
          <a:ln/>
        </p:spPr>
        <p:txBody>
          <a:bodyPr wrap="square" lIns="0" tIns="0" rIns="0" bIns="0" rtlCol="0" anchor="t"/>
          <a:lstStyle/>
          <a:p>
            <a:pPr indent="0" marL="0">
              <a:lnSpc>
                <a:spcPts val="1400"/>
              </a:lnSpc>
              <a:buNone/>
            </a:pPr>
            <a:r>
              <a:rPr lang="en-US" sz="1050" dirty="0">
                <a:solidFill>
                  <a:srgbClr val="2B2118"/>
                </a:solidFill>
                <a:latin typeface="Calibri" pitchFamily="34" charset="0"/>
                <a:ea typeface="Calibri" pitchFamily="34" charset="-122"/>
                <a:cs typeface="Calibri" pitchFamily="34" charset="-120"/>
              </a:rPr>
              <a:t>Add to anything.</a:t>
            </a:r>
            <a:endParaRPr lang="en-US" sz="1050" dirty="0"/>
          </a:p>
        </p:txBody>
      </p:sp>
      <p:sp>
        <p:nvSpPr>
          <p:cNvPr id="25" name="Shape 23"/>
          <p:cNvSpPr/>
          <p:nvPr/>
        </p:nvSpPr>
        <p:spPr>
          <a:xfrm>
            <a:off x="8072933" y="3255264"/>
            <a:ext cx="3551834" cy="1481328"/>
          </a:xfrm>
          <a:prstGeom prst="roundRect">
            <a:avLst>
              <a:gd name="adj" fmla="val 3704"/>
            </a:avLst>
          </a:prstGeom>
          <a:solidFill>
            <a:srgbClr val="F2E9D8"/>
          </a:solidFill>
          <a:ln w="12700">
            <a:solidFill>
              <a:srgbClr val="E4D8C0"/>
            </a:solidFill>
            <a:prstDash val="solid"/>
          </a:ln>
        </p:spPr>
      </p:sp>
      <p:sp>
        <p:nvSpPr>
          <p:cNvPr id="26" name="Text 24"/>
          <p:cNvSpPr/>
          <p:nvPr/>
        </p:nvSpPr>
        <p:spPr>
          <a:xfrm>
            <a:off x="8255813" y="3401568"/>
            <a:ext cx="3186074" cy="310896"/>
          </a:xfrm>
          <a:prstGeom prst="rect">
            <a:avLst/>
          </a:prstGeom>
          <a:noFill/>
          <a:ln/>
        </p:spPr>
        <p:txBody>
          <a:bodyPr wrap="square" lIns="0" tIns="0" rIns="0" bIns="0" rtlCol="0" anchor="ctr"/>
          <a:lstStyle/>
          <a:p>
            <a:pPr indent="0" marL="0">
              <a:buNone/>
            </a:pPr>
            <a:r>
              <a:rPr lang="en-US" sz="1350" b="1" dirty="0">
                <a:solidFill>
                  <a:srgbClr val="59201C"/>
                </a:solidFill>
                <a:latin typeface="Cambria" pitchFamily="34" charset="0"/>
                <a:ea typeface="Cambria" pitchFamily="34" charset="-122"/>
                <a:cs typeface="Cambria" pitchFamily="34" charset="-120"/>
              </a:rPr>
              <a:t>Two Scallops</a:t>
            </a:r>
            <a:endParaRPr lang="en-US" sz="1350" dirty="0"/>
          </a:p>
        </p:txBody>
      </p:sp>
      <p:sp>
        <p:nvSpPr>
          <p:cNvPr id="27" name="Text 25"/>
          <p:cNvSpPr/>
          <p:nvPr/>
        </p:nvSpPr>
        <p:spPr>
          <a:xfrm>
            <a:off x="8255813" y="3712464"/>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$14</a:t>
            </a:r>
            <a:endParaRPr lang="en-US" sz="1100" dirty="0"/>
          </a:p>
        </p:txBody>
      </p:sp>
      <p:sp>
        <p:nvSpPr>
          <p:cNvPr id="28" name="Text 26"/>
          <p:cNvSpPr/>
          <p:nvPr/>
        </p:nvSpPr>
        <p:spPr>
          <a:xfrm>
            <a:off x="8255813" y="3968496"/>
            <a:ext cx="3186074" cy="621792"/>
          </a:xfrm>
          <a:prstGeom prst="rect">
            <a:avLst/>
          </a:prstGeom>
          <a:noFill/>
          <a:ln/>
        </p:spPr>
        <p:txBody>
          <a:bodyPr wrap="square" lIns="0" tIns="0" rIns="0" bIns="0" rtlCol="0" anchor="t"/>
          <a:lstStyle/>
          <a:p>
            <a:pPr indent="0" marL="0">
              <a:lnSpc>
                <a:spcPts val="1400"/>
              </a:lnSpc>
              <a:buNone/>
            </a:pPr>
            <a:r>
              <a:rPr lang="en-US" sz="1050" dirty="0">
                <a:solidFill>
                  <a:srgbClr val="2B2118"/>
                </a:solidFill>
                <a:latin typeface="Calibri" pitchFamily="34" charset="0"/>
                <a:ea typeface="Calibri" pitchFamily="34" charset="-122"/>
                <a:cs typeface="Calibri" pitchFamily="34" charset="-120"/>
              </a:rPr>
              <a:t>Added to any entree.</a:t>
            </a:r>
            <a:endParaRPr lang="en-US" sz="1050" dirty="0"/>
          </a:p>
        </p:txBody>
      </p:sp>
      <p:sp>
        <p:nvSpPr>
          <p:cNvPr id="29" name="Shape 27"/>
          <p:cNvSpPr/>
          <p:nvPr/>
        </p:nvSpPr>
        <p:spPr>
          <a:xfrm>
            <a:off x="566928" y="4937760"/>
            <a:ext cx="3551834" cy="1481328"/>
          </a:xfrm>
          <a:prstGeom prst="roundRect">
            <a:avLst>
              <a:gd name="adj" fmla="val 3704"/>
            </a:avLst>
          </a:prstGeom>
          <a:solidFill>
            <a:srgbClr val="F2E9D8"/>
          </a:solidFill>
          <a:ln w="12700">
            <a:solidFill>
              <a:srgbClr val="E4D8C0"/>
            </a:solidFill>
            <a:prstDash val="solid"/>
          </a:ln>
        </p:spPr>
      </p:sp>
      <p:sp>
        <p:nvSpPr>
          <p:cNvPr id="30" name="Text 28"/>
          <p:cNvSpPr/>
          <p:nvPr/>
        </p:nvSpPr>
        <p:spPr>
          <a:xfrm>
            <a:off x="749808" y="5084064"/>
            <a:ext cx="3186074" cy="310896"/>
          </a:xfrm>
          <a:prstGeom prst="rect">
            <a:avLst/>
          </a:prstGeom>
          <a:noFill/>
          <a:ln/>
        </p:spPr>
        <p:txBody>
          <a:bodyPr wrap="square" lIns="0" tIns="0" rIns="0" bIns="0" rtlCol="0" anchor="ctr"/>
          <a:lstStyle/>
          <a:p>
            <a:pPr indent="0" marL="0">
              <a:buNone/>
            </a:pPr>
            <a:r>
              <a:rPr lang="en-US" sz="1350" b="1" dirty="0">
                <a:solidFill>
                  <a:srgbClr val="59201C"/>
                </a:solidFill>
                <a:latin typeface="Cambria" pitchFamily="34" charset="0"/>
                <a:ea typeface="Cambria" pitchFamily="34" charset="-122"/>
                <a:cs typeface="Cambria" pitchFamily="34" charset="-120"/>
              </a:rPr>
              <a:t>Brandy Peppercorn</a:t>
            </a:r>
            <a:endParaRPr lang="en-US" sz="1350" dirty="0"/>
          </a:p>
        </p:txBody>
      </p:sp>
      <p:sp>
        <p:nvSpPr>
          <p:cNvPr id="31" name="Text 29"/>
          <p:cNvSpPr/>
          <p:nvPr/>
        </p:nvSpPr>
        <p:spPr>
          <a:xfrm>
            <a:off x="749808" y="5394960"/>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$6</a:t>
            </a:r>
            <a:endParaRPr lang="en-US" sz="1100" dirty="0"/>
          </a:p>
        </p:txBody>
      </p:sp>
      <p:sp>
        <p:nvSpPr>
          <p:cNvPr id="32" name="Text 30"/>
          <p:cNvSpPr/>
          <p:nvPr/>
        </p:nvSpPr>
        <p:spPr>
          <a:xfrm>
            <a:off x="749808" y="5650992"/>
            <a:ext cx="3186074" cy="621792"/>
          </a:xfrm>
          <a:prstGeom prst="rect">
            <a:avLst/>
          </a:prstGeom>
          <a:noFill/>
          <a:ln/>
        </p:spPr>
        <p:txBody>
          <a:bodyPr wrap="square" lIns="0" tIns="0" rIns="0" bIns="0" rtlCol="0" anchor="t"/>
          <a:lstStyle/>
          <a:p>
            <a:pPr indent="0" marL="0">
              <a:lnSpc>
                <a:spcPts val="1400"/>
              </a:lnSpc>
              <a:buNone/>
            </a:pPr>
            <a:r>
              <a:rPr lang="en-US" sz="1050" dirty="0">
                <a:solidFill>
                  <a:srgbClr val="2B2118"/>
                </a:solidFill>
                <a:latin typeface="Calibri" pitchFamily="34" charset="0"/>
                <a:ea typeface="Calibri" pitchFamily="34" charset="-122"/>
                <a:cs typeface="Calibri" pitchFamily="34" charset="-120"/>
              </a:rPr>
              <a:t>Demi-glace and brandy peppercorns.</a:t>
            </a:r>
            <a:endParaRPr lang="en-US" sz="1050" dirty="0"/>
          </a:p>
        </p:txBody>
      </p:sp>
      <p:sp>
        <p:nvSpPr>
          <p:cNvPr id="33" name="Shape 31"/>
          <p:cNvSpPr/>
          <p:nvPr/>
        </p:nvSpPr>
        <p:spPr>
          <a:xfrm>
            <a:off x="4319930" y="4937760"/>
            <a:ext cx="3551834" cy="1481328"/>
          </a:xfrm>
          <a:prstGeom prst="roundRect">
            <a:avLst>
              <a:gd name="adj" fmla="val 3704"/>
            </a:avLst>
          </a:prstGeom>
          <a:solidFill>
            <a:srgbClr val="F2E9D8"/>
          </a:solidFill>
          <a:ln w="12700">
            <a:solidFill>
              <a:srgbClr val="E4D8C0"/>
            </a:solidFill>
            <a:prstDash val="solid"/>
          </a:ln>
        </p:spPr>
      </p:sp>
      <p:sp>
        <p:nvSpPr>
          <p:cNvPr id="34" name="Text 32"/>
          <p:cNvSpPr/>
          <p:nvPr/>
        </p:nvSpPr>
        <p:spPr>
          <a:xfrm>
            <a:off x="4502810" y="5084064"/>
            <a:ext cx="3186074" cy="310896"/>
          </a:xfrm>
          <a:prstGeom prst="rect">
            <a:avLst/>
          </a:prstGeom>
          <a:noFill/>
          <a:ln/>
        </p:spPr>
        <p:txBody>
          <a:bodyPr wrap="square" lIns="0" tIns="0" rIns="0" bIns="0" rtlCol="0" anchor="ctr"/>
          <a:lstStyle/>
          <a:p>
            <a:pPr indent="0" marL="0">
              <a:buNone/>
            </a:pPr>
            <a:r>
              <a:rPr lang="en-US" sz="1350" b="1" dirty="0">
                <a:solidFill>
                  <a:srgbClr val="59201C"/>
                </a:solidFill>
                <a:latin typeface="Cambria" pitchFamily="34" charset="0"/>
                <a:ea typeface="Cambria" pitchFamily="34" charset="-122"/>
                <a:cs typeface="Cambria" pitchFamily="34" charset="-120"/>
              </a:rPr>
              <a:t>Black Truffle Butter</a:t>
            </a:r>
            <a:endParaRPr lang="en-US" sz="1350" dirty="0"/>
          </a:p>
        </p:txBody>
      </p:sp>
      <p:sp>
        <p:nvSpPr>
          <p:cNvPr id="35" name="Text 33"/>
          <p:cNvSpPr/>
          <p:nvPr/>
        </p:nvSpPr>
        <p:spPr>
          <a:xfrm>
            <a:off x="4502810" y="5394960"/>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$6</a:t>
            </a:r>
            <a:endParaRPr lang="en-US" sz="1100" dirty="0"/>
          </a:p>
        </p:txBody>
      </p:sp>
      <p:sp>
        <p:nvSpPr>
          <p:cNvPr id="36" name="Text 34"/>
          <p:cNvSpPr/>
          <p:nvPr/>
        </p:nvSpPr>
        <p:spPr>
          <a:xfrm>
            <a:off x="4502810" y="5650992"/>
            <a:ext cx="3186074" cy="621792"/>
          </a:xfrm>
          <a:prstGeom prst="rect">
            <a:avLst/>
          </a:prstGeom>
          <a:noFill/>
          <a:ln/>
        </p:spPr>
        <p:txBody>
          <a:bodyPr wrap="square" lIns="0" tIns="0" rIns="0" bIns="0" rtlCol="0" anchor="t"/>
          <a:lstStyle/>
          <a:p>
            <a:pPr indent="0" marL="0">
              <a:lnSpc>
                <a:spcPts val="1400"/>
              </a:lnSpc>
              <a:buNone/>
            </a:pPr>
            <a:r>
              <a:rPr lang="en-US" sz="1050" dirty="0">
                <a:solidFill>
                  <a:srgbClr val="2B2118"/>
                </a:solidFill>
                <a:latin typeface="Calibri" pitchFamily="34" charset="0"/>
                <a:ea typeface="Calibri" pitchFamily="34" charset="-122"/>
                <a:cs typeface="Calibri" pitchFamily="34" charset="-120"/>
              </a:rPr>
              <a:t>Steak finish.</a:t>
            </a:r>
            <a:endParaRPr lang="en-US" sz="1050" dirty="0"/>
          </a:p>
        </p:txBody>
      </p:sp>
      <p:sp>
        <p:nvSpPr>
          <p:cNvPr id="37" name="Shape 35"/>
          <p:cNvSpPr/>
          <p:nvPr/>
        </p:nvSpPr>
        <p:spPr>
          <a:xfrm>
            <a:off x="8072933" y="4937760"/>
            <a:ext cx="3551834" cy="1481328"/>
          </a:xfrm>
          <a:prstGeom prst="roundRect">
            <a:avLst>
              <a:gd name="adj" fmla="val 3704"/>
            </a:avLst>
          </a:prstGeom>
          <a:solidFill>
            <a:srgbClr val="F2E9D8"/>
          </a:solidFill>
          <a:ln w="12700">
            <a:solidFill>
              <a:srgbClr val="E4D8C0"/>
            </a:solidFill>
            <a:prstDash val="solid"/>
          </a:ln>
        </p:spPr>
      </p:sp>
      <p:sp>
        <p:nvSpPr>
          <p:cNvPr id="38" name="Text 36"/>
          <p:cNvSpPr/>
          <p:nvPr/>
        </p:nvSpPr>
        <p:spPr>
          <a:xfrm>
            <a:off x="8255813" y="5084064"/>
            <a:ext cx="3186074" cy="310896"/>
          </a:xfrm>
          <a:prstGeom prst="rect">
            <a:avLst/>
          </a:prstGeom>
          <a:noFill/>
          <a:ln/>
        </p:spPr>
        <p:txBody>
          <a:bodyPr wrap="square" lIns="0" tIns="0" rIns="0" bIns="0" rtlCol="0" anchor="ctr"/>
          <a:lstStyle/>
          <a:p>
            <a:pPr indent="0" marL="0">
              <a:buNone/>
            </a:pPr>
            <a:r>
              <a:rPr lang="en-US" sz="1350" b="1" dirty="0">
                <a:solidFill>
                  <a:srgbClr val="59201C"/>
                </a:solidFill>
                <a:latin typeface="Cambria" pitchFamily="34" charset="0"/>
                <a:ea typeface="Cambria" pitchFamily="34" charset="-122"/>
                <a:cs typeface="Cambria" pitchFamily="34" charset="-120"/>
              </a:rPr>
              <a:t>Roasted Mushrooms</a:t>
            </a:r>
            <a:endParaRPr lang="en-US" sz="1350" dirty="0"/>
          </a:p>
        </p:txBody>
      </p:sp>
      <p:sp>
        <p:nvSpPr>
          <p:cNvPr id="39" name="Text 37"/>
          <p:cNvSpPr/>
          <p:nvPr/>
        </p:nvSpPr>
        <p:spPr>
          <a:xfrm>
            <a:off x="8255813" y="5394960"/>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$8</a:t>
            </a:r>
            <a:endParaRPr lang="en-US" sz="1100" dirty="0"/>
          </a:p>
        </p:txBody>
      </p:sp>
      <p:sp>
        <p:nvSpPr>
          <p:cNvPr id="40" name="Text 38"/>
          <p:cNvSpPr/>
          <p:nvPr/>
        </p:nvSpPr>
        <p:spPr>
          <a:xfrm>
            <a:off x="8255813" y="5650992"/>
            <a:ext cx="3186074" cy="621792"/>
          </a:xfrm>
          <a:prstGeom prst="rect">
            <a:avLst/>
          </a:prstGeom>
          <a:noFill/>
          <a:ln/>
        </p:spPr>
        <p:txBody>
          <a:bodyPr wrap="square" lIns="0" tIns="0" rIns="0" bIns="0" rtlCol="0" anchor="t"/>
          <a:lstStyle/>
          <a:p>
            <a:pPr indent="0" marL="0">
              <a:lnSpc>
                <a:spcPts val="1400"/>
              </a:lnSpc>
              <a:buNone/>
            </a:pPr>
            <a:r>
              <a:rPr lang="en-US" sz="1050" dirty="0">
                <a:solidFill>
                  <a:srgbClr val="2B2118"/>
                </a:solidFill>
                <a:latin typeface="Calibri" pitchFamily="34" charset="0"/>
                <a:ea typeface="Calibri" pitchFamily="34" charset="-122"/>
                <a:cs typeface="Calibri" pitchFamily="34" charset="-120"/>
              </a:rPr>
              <a:t>Arrive in a small bowl with a big spoon — confirm with the guest, then scoop them over the steak.</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Tableside service</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The shows</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3 — Surf and Turf and the Prime Cuts</a:t>
            </a:r>
            <a:endParaRPr lang="en-US" sz="950" dirty="0"/>
          </a:p>
        </p:txBody>
      </p:sp>
      <p:sp>
        <p:nvSpPr>
          <p:cNvPr id="5" name="Shape 3"/>
          <p:cNvSpPr/>
          <p:nvPr/>
        </p:nvSpPr>
        <p:spPr>
          <a:xfrm>
            <a:off x="566928" y="1572768"/>
            <a:ext cx="3551834" cy="2468880"/>
          </a:xfrm>
          <a:prstGeom prst="roundRect">
            <a:avLst>
              <a:gd name="adj" fmla="val 2222"/>
            </a:avLst>
          </a:prstGeom>
          <a:solidFill>
            <a:srgbClr val="F2E9D8"/>
          </a:solidFill>
          <a:ln w="12700">
            <a:solidFill>
              <a:srgbClr val="E4D8C0"/>
            </a:solidFill>
            <a:prstDash val="solid"/>
          </a:ln>
        </p:spPr>
      </p:sp>
      <p:sp>
        <p:nvSpPr>
          <p:cNvPr id="6" name="Text 4"/>
          <p:cNvSpPr/>
          <p:nvPr/>
        </p:nvSpPr>
        <p:spPr>
          <a:xfrm>
            <a:off x="749808" y="1719072"/>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The Farbuckle</a:t>
            </a:r>
            <a:endParaRPr lang="en-US" sz="1450" dirty="0"/>
          </a:p>
        </p:txBody>
      </p:sp>
      <p:sp>
        <p:nvSpPr>
          <p:cNvPr id="7" name="Text 5"/>
          <p:cNvSpPr/>
          <p:nvPr/>
        </p:nvSpPr>
        <p:spPr>
          <a:xfrm>
            <a:off x="749808"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front and back run it together</a:t>
            </a:r>
            <a:endParaRPr lang="en-US" sz="1100" dirty="0"/>
          </a:p>
        </p:txBody>
      </p:sp>
      <p:sp>
        <p:nvSpPr>
          <p:cNvPr id="8" name="Text 6"/>
          <p:cNvSpPr/>
          <p:nvPr/>
        </p:nvSpPr>
        <p:spPr>
          <a:xfrm>
            <a:off x="749808" y="2286000"/>
            <a:ext cx="3186074" cy="160934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Ring the steak at the guest's temperature. Bring the sizzling skillet, tongs, gloves, tray, rosemary salt, beef tallow, warm butter. At the table: steaks into the skillet, let them work while you talk, butter them, tallow before pulling, finish with rosemary salt, serve.</a:t>
            </a:r>
            <a:endParaRPr lang="en-US" sz="1100" dirty="0"/>
          </a:p>
        </p:txBody>
      </p:sp>
      <p:sp>
        <p:nvSpPr>
          <p:cNvPr id="9" name="Shape 7"/>
          <p:cNvSpPr/>
          <p:nvPr/>
        </p:nvSpPr>
        <p:spPr>
          <a:xfrm>
            <a:off x="4319930" y="1572768"/>
            <a:ext cx="3551834" cy="2468880"/>
          </a:xfrm>
          <a:prstGeom prst="roundRect">
            <a:avLst>
              <a:gd name="adj" fmla="val 2222"/>
            </a:avLst>
          </a:prstGeom>
          <a:solidFill>
            <a:srgbClr val="F2E9D8"/>
          </a:solidFill>
          <a:ln w="12700">
            <a:solidFill>
              <a:srgbClr val="E4D8C0"/>
            </a:solidFill>
            <a:prstDash val="solid"/>
          </a:ln>
        </p:spPr>
      </p:sp>
      <p:sp>
        <p:nvSpPr>
          <p:cNvPr id="10" name="Text 8"/>
          <p:cNvSpPr/>
          <p:nvPr/>
        </p:nvSpPr>
        <p:spPr>
          <a:xfrm>
            <a:off x="4502810" y="1719072"/>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A5 and Porterhouse</a:t>
            </a:r>
            <a:endParaRPr lang="en-US" sz="1450" dirty="0"/>
          </a:p>
        </p:txBody>
      </p:sp>
      <p:sp>
        <p:nvSpPr>
          <p:cNvPr id="11" name="Text 9"/>
          <p:cNvSpPr/>
          <p:nvPr/>
        </p:nvSpPr>
        <p:spPr>
          <a:xfrm>
            <a:off x="4502810"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the manager slices</a:t>
            </a:r>
            <a:endParaRPr lang="en-US" sz="1100" dirty="0"/>
          </a:p>
        </p:txBody>
      </p:sp>
      <p:sp>
        <p:nvSpPr>
          <p:cNvPr id="12" name="Text 10"/>
          <p:cNvSpPr/>
          <p:nvPr/>
        </p:nvSpPr>
        <p:spPr>
          <a:xfrm>
            <a:off x="4502810" y="2286000"/>
            <a:ext cx="3186074" cy="160934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Butcher block, Japanese knife, honing iron, gloves, rosemary salt. The manager slices and tells the story. Your job is a flawless setup and the Hanzo knives preset. The porterhouse, the spinalis, the Australian Wagyu and the A5 are all manager-cut tableside.</a:t>
            </a:r>
            <a:endParaRPr lang="en-US" sz="1100" dirty="0"/>
          </a:p>
        </p:txBody>
      </p:sp>
      <p:sp>
        <p:nvSpPr>
          <p:cNvPr id="13" name="Shape 11"/>
          <p:cNvSpPr/>
          <p:nvPr/>
        </p:nvSpPr>
        <p:spPr>
          <a:xfrm>
            <a:off x="8072933" y="1572768"/>
            <a:ext cx="3551834" cy="2468880"/>
          </a:xfrm>
          <a:prstGeom prst="roundRect">
            <a:avLst>
              <a:gd name="adj" fmla="val 2222"/>
            </a:avLst>
          </a:prstGeom>
          <a:solidFill>
            <a:srgbClr val="F2E9D8"/>
          </a:solidFill>
          <a:ln w="12700">
            <a:solidFill>
              <a:srgbClr val="E4D8C0"/>
            </a:solidFill>
            <a:prstDash val="solid"/>
          </a:ln>
        </p:spPr>
      </p:sp>
      <p:sp>
        <p:nvSpPr>
          <p:cNvPr id="14" name="Text 12"/>
          <p:cNvSpPr/>
          <p:nvPr/>
        </p:nvSpPr>
        <p:spPr>
          <a:xfrm>
            <a:off x="8255813" y="1719072"/>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The smoke show</a:t>
            </a:r>
            <a:endParaRPr lang="en-US" sz="1450" dirty="0"/>
          </a:p>
        </p:txBody>
      </p:sp>
      <p:sp>
        <p:nvSpPr>
          <p:cNvPr id="15" name="Text 13"/>
          <p:cNvSpPr/>
          <p:nvPr/>
        </p:nvSpPr>
        <p:spPr>
          <a:xfrm>
            <a:off x="8255813"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+$3, huge reaction</a:t>
            </a:r>
            <a:endParaRPr lang="en-US" sz="1100" dirty="0"/>
          </a:p>
        </p:txBody>
      </p:sp>
      <p:sp>
        <p:nvSpPr>
          <p:cNvPr id="16" name="Text 14"/>
          <p:cNvSpPr/>
          <p:nvPr/>
        </p:nvSpPr>
        <p:spPr>
          <a:xfrm>
            <a:off x="8255813" y="2286000"/>
            <a:ext cx="3186074" cy="160934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The Smoked Draft Old Fashioned and the Pittsburghed Peach can be smoked. The bartender builds it, you smoke it under the lid on your tray, and you lift the lid at the table. Cheap theater, big payoff.</a:t>
            </a:r>
            <a:endParaRPr lang="en-US" sz="1100" dirty="0"/>
          </a:p>
        </p:txBody>
      </p:sp>
      <p:sp>
        <p:nvSpPr>
          <p:cNvPr id="17" name="Shape 15"/>
          <p:cNvSpPr/>
          <p:nvPr/>
        </p:nvSpPr>
        <p:spPr>
          <a:xfrm>
            <a:off x="566928" y="4315968"/>
            <a:ext cx="11057839" cy="749808"/>
          </a:xfrm>
          <a:prstGeom prst="roundRect">
            <a:avLst>
              <a:gd name="adj" fmla="val 7317"/>
            </a:avLst>
          </a:prstGeom>
          <a:solidFill>
            <a:srgbClr val="F3E7E4"/>
          </a:solidFill>
          <a:ln w="12700">
            <a:solidFill>
              <a:srgbClr val="E2CCC7"/>
            </a:solidFill>
            <a:prstDash val="solid"/>
          </a:ln>
        </p:spPr>
      </p:sp>
      <p:sp>
        <p:nvSpPr>
          <p:cNvPr id="18" name="Text 16"/>
          <p:cNvSpPr/>
          <p:nvPr/>
        </p:nvSpPr>
        <p:spPr>
          <a:xfrm>
            <a:off x="768096" y="4389120"/>
            <a:ext cx="10655503" cy="603504"/>
          </a:xfrm>
          <a:prstGeom prst="rect">
            <a:avLst/>
          </a:prstGeom>
          <a:noFill/>
          <a:ln/>
        </p:spPr>
        <p:txBody>
          <a:bodyPr wrap="square" lIns="0" tIns="0" rIns="0" bIns="0" rtlCol="0" anchor="ctr"/>
          <a:lstStyle/>
          <a:p>
            <a:pPr indent="0" marL="0">
              <a:lnSpc>
                <a:spcPts val="1600"/>
              </a:lnSpc>
              <a:buNone/>
            </a:pPr>
            <a:r>
              <a:rPr lang="en-US" sz="1250" b="1" dirty="0">
                <a:solidFill>
                  <a:srgbClr val="59201C"/>
                </a:solidFill>
                <a:latin typeface="Calibri" pitchFamily="34" charset="0"/>
                <a:ea typeface="Calibri" pitchFamily="34" charset="-122"/>
                <a:cs typeface="Calibri" pitchFamily="34" charset="-120"/>
              </a:rPr>
              <a:t>Mise en place is the whole job here.  </a:t>
            </a:r>
            <a:pPr indent="0" marL="0">
              <a:lnSpc>
                <a:spcPts val="1600"/>
              </a:lnSpc>
              <a:buNone/>
            </a:pPr>
            <a:r>
              <a:rPr lang="en-US" sz="1250" dirty="0">
                <a:solidFill>
                  <a:srgbClr val="2B2118"/>
                </a:solidFill>
                <a:latin typeface="Calibri" pitchFamily="34" charset="0"/>
                <a:ea typeface="Calibri" pitchFamily="34" charset="-122"/>
                <a:cs typeface="Calibri" pitchFamily="34" charset="-120"/>
              </a:rPr>
              <a:t>All the items a guest needs and none they don't. Presetting the next course sets the stage.</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Place a picture here</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Day 3 — Surf and Turf and the Prime Cuts</a:t>
            </a:r>
            <a:endParaRPr lang="en-US" sz="1350" dirty="0"/>
          </a:p>
        </p:txBody>
      </p:sp>
      <p:sp>
        <p:nvSpPr>
          <p:cNvPr id="4" name="Shape 2"/>
          <p:cNvSpPr/>
          <p:nvPr/>
        </p:nvSpPr>
        <p:spPr>
          <a:xfrm>
            <a:off x="566928" y="1481328"/>
            <a:ext cx="11057839" cy="3310128"/>
          </a:xfrm>
          <a:prstGeom prst="roundRect">
            <a:avLst>
              <a:gd name="adj" fmla="val 2210"/>
            </a:avLst>
          </a:prstGeom>
          <a:solidFill>
            <a:srgbClr val="FBF3E2"/>
          </a:solidFill>
          <a:ln w="28575">
            <a:solidFill>
              <a:srgbClr val="B0812F"/>
            </a:solidFill>
            <a:prstDash val="dash"/>
          </a:ln>
        </p:spPr>
      </p:sp>
      <p:sp>
        <p:nvSpPr>
          <p:cNvPr id="5" name="Text 3"/>
          <p:cNvSpPr/>
          <p:nvPr/>
        </p:nvSpPr>
        <p:spPr>
          <a:xfrm>
            <a:off x="566928" y="1847088"/>
            <a:ext cx="11057839" cy="329184"/>
          </a:xfrm>
          <a:prstGeom prst="rect">
            <a:avLst/>
          </a:prstGeom>
          <a:noFill/>
          <a:ln/>
        </p:spPr>
        <p:txBody>
          <a:bodyPr wrap="square" lIns="0" tIns="0" rIns="0" bIns="0" rtlCol="0" anchor="ctr"/>
          <a:lstStyle/>
          <a:p>
            <a:pPr algn="ctr" indent="0" marL="0">
              <a:buNone/>
            </a:pPr>
            <a:r>
              <a:rPr lang="en-US" sz="1300" b="1" spc="300" kern="0" dirty="0">
                <a:solidFill>
                  <a:srgbClr val="B0812F"/>
                </a:solidFill>
                <a:latin typeface="Calibri" pitchFamily="34" charset="0"/>
                <a:ea typeface="Calibri" pitchFamily="34" charset="-122"/>
                <a:cs typeface="Calibri" pitchFamily="34" charset="-120"/>
              </a:rPr>
              <a:t>PLACE PICTURE OF</a:t>
            </a:r>
            <a:endParaRPr lang="en-US" sz="1300" dirty="0"/>
          </a:p>
        </p:txBody>
      </p:sp>
      <p:sp>
        <p:nvSpPr>
          <p:cNvPr id="6" name="Text 4"/>
          <p:cNvSpPr/>
          <p:nvPr/>
        </p:nvSpPr>
        <p:spPr>
          <a:xfrm>
            <a:off x="1207008" y="2212848"/>
            <a:ext cx="9777679" cy="1371600"/>
          </a:xfrm>
          <a:prstGeom prst="rect">
            <a:avLst/>
          </a:prstGeom>
          <a:noFill/>
          <a:ln/>
        </p:spPr>
        <p:txBody>
          <a:bodyPr wrap="square" lIns="0" tIns="0" rIns="0" bIns="0" rtlCol="0" anchor="ctr"/>
          <a:lstStyle/>
          <a:p>
            <a:pPr algn="ctr" indent="0" marL="0">
              <a:lnSpc>
                <a:spcPts val="3800"/>
              </a:lnSpc>
              <a:buNone/>
            </a:pPr>
            <a:r>
              <a:rPr lang="en-US" sz="3100" b="1" dirty="0">
                <a:solidFill>
                  <a:srgbClr val="59201C"/>
                </a:solidFill>
                <a:latin typeface="Cambria" pitchFamily="34" charset="0"/>
                <a:ea typeface="Cambria" pitchFamily="34" charset="-122"/>
                <a:cs typeface="Cambria" pitchFamily="34" charset="-120"/>
              </a:rPr>
              <a:t>EVERY TABLESIDE SETUP, TRAY BY TRAY</a:t>
            </a:r>
            <a:endParaRPr lang="en-US" sz="3100" dirty="0"/>
          </a:p>
        </p:txBody>
      </p:sp>
      <p:sp>
        <p:nvSpPr>
          <p:cNvPr id="7" name="Text 5"/>
          <p:cNvSpPr/>
          <p:nvPr/>
        </p:nvSpPr>
        <p:spPr>
          <a:xfrm>
            <a:off x="566928" y="3657600"/>
            <a:ext cx="11057839" cy="329184"/>
          </a:xfrm>
          <a:prstGeom prst="rect">
            <a:avLst/>
          </a:prstGeom>
          <a:noFill/>
          <a:ln/>
        </p:spPr>
        <p:txBody>
          <a:bodyPr wrap="square" lIns="0" tIns="0" rIns="0" bIns="0" rtlCol="0" anchor="ctr"/>
          <a:lstStyle/>
          <a:p>
            <a:pPr algn="ctr" indent="0" marL="0">
              <a:buNone/>
            </a:pPr>
            <a:r>
              <a:rPr lang="en-US" sz="1300" b="1" spc="300" kern="0" dirty="0">
                <a:solidFill>
                  <a:srgbClr val="B0812F"/>
                </a:solidFill>
                <a:latin typeface="Calibri" pitchFamily="34" charset="0"/>
                <a:ea typeface="Calibri" pitchFamily="34" charset="-122"/>
                <a:cs typeface="Calibri" pitchFamily="34" charset="-120"/>
              </a:rPr>
              <a:t>HERE</a:t>
            </a:r>
            <a:endParaRPr lang="en-US" sz="1300" dirty="0"/>
          </a:p>
        </p:txBody>
      </p:sp>
      <p:sp>
        <p:nvSpPr>
          <p:cNvPr id="8" name="Text 6"/>
          <p:cNvSpPr/>
          <p:nvPr/>
        </p:nvSpPr>
        <p:spPr>
          <a:xfrm>
            <a:off x="1481328" y="4041648"/>
            <a:ext cx="9229039" cy="566928"/>
          </a:xfrm>
          <a:prstGeom prst="rect">
            <a:avLst/>
          </a:prstGeom>
          <a:noFill/>
          <a:ln/>
        </p:spPr>
        <p:txBody>
          <a:bodyPr wrap="square" lIns="0" tIns="0" rIns="0" bIns="0" rtlCol="0" anchor="t"/>
          <a:lstStyle/>
          <a:p>
            <a:pPr algn="ctr" indent="0" marL="0">
              <a:lnSpc>
                <a:spcPts val="1600"/>
              </a:lnSpc>
              <a:buNone/>
            </a:pPr>
            <a:r>
              <a:rPr lang="en-US" sz="1200" i="1" dirty="0">
                <a:solidFill>
                  <a:srgbClr val="6B5B4B"/>
                </a:solidFill>
                <a:latin typeface="Calibri" pitchFamily="34" charset="0"/>
                <a:ea typeface="Calibri" pitchFamily="34" charset="-122"/>
                <a:cs typeface="Calibri" pitchFamily="34" charset="-120"/>
              </a:rPr>
              <a:t>Farbuckle tray, A5 board, smoke lid — shot before it goes to the table, so a new hire can copy it exactly.</a:t>
            </a:r>
            <a:endParaRPr lang="en-US" sz="1200" dirty="0"/>
          </a:p>
        </p:txBody>
      </p:sp>
      <p:sp>
        <p:nvSpPr>
          <p:cNvPr id="9" name="Text 7"/>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3 — Surf and Turf and the Prime Cuts</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Off-menu and specials</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The cut board is not on the printed menu — that is why it works</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3 — Surf and Turf and the Prime Cuts</a:t>
            </a:r>
            <a:endParaRPr lang="en-US" sz="950" dirty="0"/>
          </a:p>
        </p:txBody>
      </p:sp>
      <p:sp>
        <p:nvSpPr>
          <p:cNvPr id="5" name="Text 3"/>
          <p:cNvSpPr/>
          <p:nvPr/>
        </p:nvSpPr>
        <p:spPr>
          <a:xfrm>
            <a:off x="566928" y="1554480"/>
            <a:ext cx="5300320" cy="292608"/>
          </a:xfrm>
          <a:prstGeom prst="rect">
            <a:avLst/>
          </a:prstGeom>
          <a:noFill/>
          <a:ln/>
        </p:spPr>
        <p:txBody>
          <a:bodyPr wrap="square" lIns="0" tIns="0" rIns="0" bIns="0" rtlCol="0" anchor="ctr"/>
          <a:lstStyle/>
          <a:p>
            <a:pPr indent="0" marL="0">
              <a:buNone/>
            </a:pPr>
            <a:r>
              <a:rPr lang="en-US" sz="1500" b="1" dirty="0">
                <a:solidFill>
                  <a:srgbClr val="59201C"/>
                </a:solidFill>
                <a:latin typeface="Cambria" pitchFamily="34" charset="0"/>
                <a:ea typeface="Cambria" pitchFamily="34" charset="-122"/>
                <a:cs typeface="Cambria" pitchFamily="34" charset="-120"/>
              </a:rPr>
              <a:t>The four that typically always run</a:t>
            </a:r>
            <a:endParaRPr lang="en-US" sz="1500" dirty="0"/>
          </a:p>
        </p:txBody>
      </p:sp>
      <p:sp>
        <p:nvSpPr>
          <p:cNvPr id="6" name="Text 4"/>
          <p:cNvSpPr/>
          <p:nvPr/>
        </p:nvSpPr>
        <p:spPr>
          <a:xfrm>
            <a:off x="566928" y="1938528"/>
            <a:ext cx="5300320" cy="4187952"/>
          </a:xfrm>
          <a:prstGeom prst="rect">
            <a:avLst/>
          </a:prstGeom>
          <a:noFill/>
          <a:ln/>
        </p:spPr>
        <p:txBody>
          <a:bodyPr wrap="square" lIns="0" tIns="0" rIns="0" bIns="0" rtlCol="0" anchor="t"/>
          <a:lstStyle/>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48 oz USDA Choice Porterhouse — $170.</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Spinalis / Ribeye Cap — $14 an ounce, $10 on Spinalis Sunday.</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Australian Wagyu — 32 oz, $140.</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45-Day Dry-Aged Bone-In Ribeye — 22 oz.</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They live on the cut board, not the printed menu — mentioning them makes a guest feel like an insider.</a:t>
            </a:r>
            <a:endParaRPr lang="en-US" sz="1250" dirty="0"/>
          </a:p>
        </p:txBody>
      </p:sp>
      <p:sp>
        <p:nvSpPr>
          <p:cNvPr id="7" name="Text 5"/>
          <p:cNvSpPr/>
          <p:nvPr/>
        </p:nvSpPr>
        <p:spPr>
          <a:xfrm>
            <a:off x="6324448" y="1554480"/>
            <a:ext cx="5300320" cy="292608"/>
          </a:xfrm>
          <a:prstGeom prst="rect">
            <a:avLst/>
          </a:prstGeom>
          <a:noFill/>
          <a:ln/>
        </p:spPr>
        <p:txBody>
          <a:bodyPr wrap="square" lIns="0" tIns="0" rIns="0" bIns="0" rtlCol="0" anchor="ctr"/>
          <a:lstStyle/>
          <a:p>
            <a:pPr indent="0" marL="0">
              <a:buNone/>
            </a:pPr>
            <a:r>
              <a:rPr lang="en-US" sz="1500" b="1" dirty="0">
                <a:solidFill>
                  <a:srgbClr val="59201C"/>
                </a:solidFill>
                <a:latin typeface="Cambria" pitchFamily="34" charset="0"/>
                <a:ea typeface="Cambria" pitchFamily="34" charset="-122"/>
                <a:cs typeface="Cambria" pitchFamily="34" charset="-120"/>
              </a:rPr>
              <a:t>How to talk about specials</a:t>
            </a:r>
            <a:endParaRPr lang="en-US" sz="1500" dirty="0"/>
          </a:p>
        </p:txBody>
      </p:sp>
      <p:sp>
        <p:nvSpPr>
          <p:cNvPr id="8" name="Text 6"/>
          <p:cNvSpPr/>
          <p:nvPr/>
        </p:nvSpPr>
        <p:spPr>
          <a:xfrm>
            <a:off x="6324448" y="1938528"/>
            <a:ext cx="5300320" cy="4187952"/>
          </a:xfrm>
          <a:prstGeom prst="rect">
            <a:avLst/>
          </a:prstGeom>
          <a:noFill/>
          <a:ln/>
        </p:spPr>
        <p:txBody>
          <a:bodyPr wrap="square" lIns="0" tIns="0" rIns="0" bIns="0" rtlCol="0" anchor="t"/>
          <a:lstStyle/>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Features go over BEFORE the full order is taken. Every table, every time.</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Lead with the story. Land the price with confidence. Never apologize for a number — describe until the number makes sense.</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Know the soup, the oysters, the 86'd items, the cut specials and the big features before you walk up. That is lineup material.</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Sold through? “We've sold through it tonight — here is what I'd go to instead.” Always arrive with the substitute already chosen.</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Place a picture here</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Day 3 — Surf and Turf and the Prime Cuts</a:t>
            </a:r>
            <a:endParaRPr lang="en-US" sz="1350" dirty="0"/>
          </a:p>
        </p:txBody>
      </p:sp>
      <p:sp>
        <p:nvSpPr>
          <p:cNvPr id="4" name="Shape 2"/>
          <p:cNvSpPr/>
          <p:nvPr/>
        </p:nvSpPr>
        <p:spPr>
          <a:xfrm>
            <a:off x="566928" y="1481328"/>
            <a:ext cx="11057839" cy="3310128"/>
          </a:xfrm>
          <a:prstGeom prst="roundRect">
            <a:avLst>
              <a:gd name="adj" fmla="val 2210"/>
            </a:avLst>
          </a:prstGeom>
          <a:solidFill>
            <a:srgbClr val="FBF3E2"/>
          </a:solidFill>
          <a:ln w="28575">
            <a:solidFill>
              <a:srgbClr val="B0812F"/>
            </a:solidFill>
            <a:prstDash val="dash"/>
          </a:ln>
        </p:spPr>
      </p:sp>
      <p:sp>
        <p:nvSpPr>
          <p:cNvPr id="5" name="Text 3"/>
          <p:cNvSpPr/>
          <p:nvPr/>
        </p:nvSpPr>
        <p:spPr>
          <a:xfrm>
            <a:off x="566928" y="1847088"/>
            <a:ext cx="11057839" cy="329184"/>
          </a:xfrm>
          <a:prstGeom prst="rect">
            <a:avLst/>
          </a:prstGeom>
          <a:noFill/>
          <a:ln/>
        </p:spPr>
        <p:txBody>
          <a:bodyPr wrap="square" lIns="0" tIns="0" rIns="0" bIns="0" rtlCol="0" anchor="ctr"/>
          <a:lstStyle/>
          <a:p>
            <a:pPr algn="ctr" indent="0" marL="0">
              <a:buNone/>
            </a:pPr>
            <a:r>
              <a:rPr lang="en-US" sz="1300" b="1" spc="300" kern="0" dirty="0">
                <a:solidFill>
                  <a:srgbClr val="B0812F"/>
                </a:solidFill>
                <a:latin typeface="Calibri" pitchFamily="34" charset="0"/>
                <a:ea typeface="Calibri" pitchFamily="34" charset="-122"/>
                <a:cs typeface="Calibri" pitchFamily="34" charset="-120"/>
              </a:rPr>
              <a:t>PLACE PICTURE OF</a:t>
            </a:r>
            <a:endParaRPr lang="en-US" sz="1300" dirty="0"/>
          </a:p>
        </p:txBody>
      </p:sp>
      <p:sp>
        <p:nvSpPr>
          <p:cNvPr id="6" name="Text 4"/>
          <p:cNvSpPr/>
          <p:nvPr/>
        </p:nvSpPr>
        <p:spPr>
          <a:xfrm>
            <a:off x="1207008" y="2212848"/>
            <a:ext cx="9777679" cy="1371600"/>
          </a:xfrm>
          <a:prstGeom prst="rect">
            <a:avLst/>
          </a:prstGeom>
          <a:noFill/>
          <a:ln/>
        </p:spPr>
        <p:txBody>
          <a:bodyPr wrap="square" lIns="0" tIns="0" rIns="0" bIns="0" rtlCol="0" anchor="ctr"/>
          <a:lstStyle/>
          <a:p>
            <a:pPr algn="ctr" indent="0" marL="0">
              <a:lnSpc>
                <a:spcPts val="3800"/>
              </a:lnSpc>
              <a:buNone/>
            </a:pPr>
            <a:r>
              <a:rPr lang="en-US" sz="3100" b="1" dirty="0">
                <a:solidFill>
                  <a:srgbClr val="59201C"/>
                </a:solidFill>
                <a:latin typeface="Cambria" pitchFamily="34" charset="0"/>
                <a:ea typeface="Cambria" pitchFamily="34" charset="-122"/>
                <a:cs typeface="Cambria" pitchFamily="34" charset="-120"/>
              </a:rPr>
              <a:t>TONIGHT'S CUT BOARD</a:t>
            </a:r>
            <a:endParaRPr lang="en-US" sz="3100" dirty="0"/>
          </a:p>
        </p:txBody>
      </p:sp>
      <p:sp>
        <p:nvSpPr>
          <p:cNvPr id="7" name="Text 5"/>
          <p:cNvSpPr/>
          <p:nvPr/>
        </p:nvSpPr>
        <p:spPr>
          <a:xfrm>
            <a:off x="566928" y="3657600"/>
            <a:ext cx="11057839" cy="329184"/>
          </a:xfrm>
          <a:prstGeom prst="rect">
            <a:avLst/>
          </a:prstGeom>
          <a:noFill/>
          <a:ln/>
        </p:spPr>
        <p:txBody>
          <a:bodyPr wrap="square" lIns="0" tIns="0" rIns="0" bIns="0" rtlCol="0" anchor="ctr"/>
          <a:lstStyle/>
          <a:p>
            <a:pPr algn="ctr" indent="0" marL="0">
              <a:buNone/>
            </a:pPr>
            <a:r>
              <a:rPr lang="en-US" sz="1300" b="1" spc="300" kern="0" dirty="0">
                <a:solidFill>
                  <a:srgbClr val="B0812F"/>
                </a:solidFill>
                <a:latin typeface="Calibri" pitchFamily="34" charset="0"/>
                <a:ea typeface="Calibri" pitchFamily="34" charset="-122"/>
                <a:cs typeface="Calibri" pitchFamily="34" charset="-120"/>
              </a:rPr>
              <a:t>HERE</a:t>
            </a:r>
            <a:endParaRPr lang="en-US" sz="1300" dirty="0"/>
          </a:p>
        </p:txBody>
      </p:sp>
      <p:sp>
        <p:nvSpPr>
          <p:cNvPr id="8" name="Text 6"/>
          <p:cNvSpPr/>
          <p:nvPr/>
        </p:nvSpPr>
        <p:spPr>
          <a:xfrm>
            <a:off x="1481328" y="4041648"/>
            <a:ext cx="9229039" cy="566928"/>
          </a:xfrm>
          <a:prstGeom prst="rect">
            <a:avLst/>
          </a:prstGeom>
          <a:noFill/>
          <a:ln/>
        </p:spPr>
        <p:txBody>
          <a:bodyPr wrap="square" lIns="0" tIns="0" rIns="0" bIns="0" rtlCol="0" anchor="t"/>
          <a:lstStyle/>
          <a:p>
            <a:pPr algn="ctr" indent="0" marL="0">
              <a:lnSpc>
                <a:spcPts val="1600"/>
              </a:lnSpc>
              <a:buNone/>
            </a:pPr>
            <a:r>
              <a:rPr lang="en-US" sz="1200" i="1" dirty="0">
                <a:solidFill>
                  <a:srgbClr val="6B5B4B"/>
                </a:solidFill>
                <a:latin typeface="Calibri" pitchFamily="34" charset="0"/>
                <a:ea typeface="Calibri" pitchFamily="34" charset="-122"/>
                <a:cs typeface="Calibri" pitchFamily="34" charset="-120"/>
              </a:rPr>
              <a:t>The board as the guest would see it, plus each cut raw on the tray — the shot we re-take whenever the board changes.</a:t>
            </a:r>
            <a:endParaRPr lang="en-US" sz="1200" dirty="0"/>
          </a:p>
        </p:txBody>
      </p:sp>
      <p:sp>
        <p:nvSpPr>
          <p:cNvPr id="9" name="Text 7"/>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3 — Surf and Turf and the Prime Cuts</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59201C"/>
        </a:solidFill>
      </p:bgPr>
    </p:bg>
    <p:spTree>
      <p:nvGrpSpPr>
        <p:cNvPr id="1" name=""/>
        <p:cNvGrpSpPr/>
        <p:nvPr/>
      </p:nvGrpSpPr>
      <p:grpSpPr>
        <a:xfrm>
          <a:off x="0" y="0"/>
          <a:ext cx="0" cy="0"/>
          <a:chOff x="0" y="0"/>
          <a:chExt cx="0" cy="0"/>
        </a:xfrm>
      </p:grpSpPr>
      <p:sp>
        <p:nvSpPr>
          <p:cNvPr id="2" name="Shape 0"/>
          <p:cNvSpPr/>
          <p:nvPr/>
        </p:nvSpPr>
        <p:spPr>
          <a:xfrm>
            <a:off x="566928" y="1737360"/>
            <a:ext cx="1051560" cy="1051560"/>
          </a:xfrm>
          <a:prstGeom prst="ellipse">
            <a:avLst/>
          </a:prstGeom>
          <a:solidFill>
            <a:srgbClr val="F7EFE4"/>
          </a:solidFill>
          <a:ln w="12700">
            <a:solidFill>
              <a:srgbClr val="F7EFE4"/>
            </a:solidFill>
            <a:prstDash val="solid"/>
          </a:ln>
        </p:spPr>
      </p:sp>
      <p:sp>
        <p:nvSpPr>
          <p:cNvPr id="3" name="Text 1"/>
          <p:cNvSpPr/>
          <p:nvPr/>
        </p:nvSpPr>
        <p:spPr>
          <a:xfrm>
            <a:off x="566928" y="1737360"/>
            <a:ext cx="1051560" cy="1051560"/>
          </a:xfrm>
          <a:prstGeom prst="rect">
            <a:avLst/>
          </a:prstGeom>
          <a:noFill/>
          <a:ln/>
        </p:spPr>
        <p:txBody>
          <a:bodyPr wrap="square" lIns="0" tIns="0" rIns="0" bIns="0" rtlCol="0" anchor="ctr"/>
          <a:lstStyle/>
          <a:p>
            <a:pPr algn="ctr" indent="0" marL="0">
              <a:buNone/>
            </a:pPr>
            <a:r>
              <a:rPr lang="en-US" sz="4000" b="1" dirty="0">
                <a:solidFill>
                  <a:srgbClr val="59201C"/>
                </a:solidFill>
                <a:latin typeface="Cambria" pitchFamily="34" charset="0"/>
                <a:ea typeface="Cambria" pitchFamily="34" charset="-122"/>
                <a:cs typeface="Cambria" pitchFamily="34" charset="-120"/>
              </a:rPr>
              <a:t>4</a:t>
            </a:r>
            <a:endParaRPr lang="en-US" sz="4000" dirty="0"/>
          </a:p>
        </p:txBody>
      </p:sp>
      <p:sp>
        <p:nvSpPr>
          <p:cNvPr id="4" name="Text 2"/>
          <p:cNvSpPr/>
          <p:nvPr/>
        </p:nvSpPr>
        <p:spPr>
          <a:xfrm>
            <a:off x="1938528" y="1700784"/>
            <a:ext cx="9686239" cy="786384"/>
          </a:xfrm>
          <a:prstGeom prst="rect">
            <a:avLst/>
          </a:prstGeom>
          <a:noFill/>
          <a:ln/>
        </p:spPr>
        <p:txBody>
          <a:bodyPr wrap="square" lIns="0" tIns="0" rIns="0" bIns="0" rtlCol="0" anchor="ctr"/>
          <a:lstStyle/>
          <a:p>
            <a:pPr indent="0" marL="0">
              <a:buNone/>
            </a:pPr>
            <a:r>
              <a:rPr lang="en-US" sz="4000" b="1" dirty="0">
                <a:solidFill>
                  <a:srgbClr val="F7EFE4"/>
                </a:solidFill>
                <a:latin typeface="Cambria" pitchFamily="34" charset="0"/>
                <a:ea typeface="Cambria" pitchFamily="34" charset="-122"/>
                <a:cs typeface="Cambria" pitchFamily="34" charset="-120"/>
              </a:rPr>
              <a:t>Alternatives, Accessories and Desserts</a:t>
            </a:r>
            <a:endParaRPr lang="en-US" sz="4000" dirty="0"/>
          </a:p>
        </p:txBody>
      </p:sp>
      <p:sp>
        <p:nvSpPr>
          <p:cNvPr id="5" name="Text 3"/>
          <p:cNvSpPr/>
          <p:nvPr/>
        </p:nvSpPr>
        <p:spPr>
          <a:xfrm>
            <a:off x="1938528" y="2542032"/>
            <a:ext cx="9686239" cy="1371600"/>
          </a:xfrm>
          <a:prstGeom prst="rect">
            <a:avLst/>
          </a:prstGeom>
          <a:noFill/>
          <a:ln/>
        </p:spPr>
        <p:txBody>
          <a:bodyPr wrap="square" lIns="0" tIns="0" rIns="0" bIns="0" rtlCol="0" anchor="ctr"/>
          <a:lstStyle/>
          <a:p>
            <a:pPr indent="0" marL="0">
              <a:lnSpc>
                <a:spcPts val="2100"/>
              </a:lnSpc>
              <a:buNone/>
            </a:pPr>
            <a:r>
              <a:rPr lang="en-US" sz="1400" i="1" dirty="0">
                <a:solidFill>
                  <a:srgbClr val="E8D6C8"/>
                </a:solidFill>
                <a:latin typeface="Calibri" pitchFamily="34" charset="0"/>
                <a:ea typeface="Calibri" pitchFamily="34" charset="-122"/>
                <a:cs typeface="Calibri" pitchFamily="34" charset="-120"/>
              </a:rPr>
              <a:t>Dish descriptions, allergens, presentation, common alterations, serving utensils, and the dessert promos.</a:t>
            </a:r>
            <a:endParaRPr lang="en-US" sz="1400" dirty="0"/>
          </a:p>
        </p:txBody>
      </p:sp>
      <p:sp>
        <p:nvSpPr>
          <p:cNvPr id="6" name="Text 4"/>
          <p:cNvSpPr/>
          <p:nvPr/>
        </p:nvSpPr>
        <p:spPr>
          <a:xfrm>
            <a:off x="566928" y="6199632"/>
            <a:ext cx="11057839" cy="274320"/>
          </a:xfrm>
          <a:prstGeom prst="rect">
            <a:avLst/>
          </a:prstGeom>
          <a:noFill/>
          <a:ln/>
        </p:spPr>
        <p:txBody>
          <a:bodyPr wrap="square" lIns="0" tIns="0" rIns="0" bIns="0" rtlCol="0" anchor="ctr"/>
          <a:lstStyle/>
          <a:p>
            <a:pPr indent="0" marL="0">
              <a:buNone/>
            </a:pPr>
            <a:r>
              <a:rPr lang="en-US" sz="1050" dirty="0">
                <a:solidFill>
                  <a:srgbClr val="C9A99A"/>
                </a:solidFill>
                <a:latin typeface="Calibri" pitchFamily="34" charset="0"/>
                <a:ea typeface="Calibri" pitchFamily="34" charset="-122"/>
                <a:cs typeface="Calibri" pitchFamily="34" charset="-120"/>
              </a:rPr>
              <a:t>From the original Mo's Training Itinerary</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Alternatives</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For the guest not having steak</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4 — Alternatives, Accessories and Desserts</a:t>
            </a:r>
            <a:endParaRPr lang="en-US" sz="950" dirty="0"/>
          </a:p>
        </p:txBody>
      </p:sp>
      <p:sp>
        <p:nvSpPr>
          <p:cNvPr id="5" name="Shape 3"/>
          <p:cNvSpPr/>
          <p:nvPr/>
        </p:nvSpPr>
        <p:spPr>
          <a:xfrm>
            <a:off x="566928" y="1508760"/>
            <a:ext cx="365760" cy="365760"/>
          </a:xfrm>
          <a:prstGeom prst="ellipse">
            <a:avLst/>
          </a:prstGeom>
          <a:solidFill>
            <a:srgbClr val="59201C"/>
          </a:solidFill>
          <a:ln w="12700">
            <a:solidFill>
              <a:srgbClr val="59201C"/>
            </a:solidFill>
            <a:prstDash val="solid"/>
          </a:ln>
        </p:spPr>
      </p:sp>
      <p:sp>
        <p:nvSpPr>
          <p:cNvPr id="6" name="Text 4"/>
          <p:cNvSpPr/>
          <p:nvPr/>
        </p:nvSpPr>
        <p:spPr>
          <a:xfrm>
            <a:off x="566928" y="150876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7" name="Text 5"/>
          <p:cNvSpPr/>
          <p:nvPr/>
        </p:nvSpPr>
        <p:spPr>
          <a:xfrm>
            <a:off x="1069848" y="1481328"/>
            <a:ext cx="10554919" cy="726948"/>
          </a:xfrm>
          <a:prstGeom prst="rect">
            <a:avLst/>
          </a:prstGeom>
          <a:noFill/>
          <a:ln/>
        </p:spPr>
        <p:txBody>
          <a:bodyPr wrap="square" lIns="0" tIns="0" rIns="0" bIns="0" rtlCol="0" anchor="t"/>
          <a:lstStyle/>
          <a:p>
            <a:pPr indent="0" marL="0">
              <a:lnSpc>
                <a:spcPts val="1472"/>
              </a:lnSpc>
              <a:buNone/>
            </a:pPr>
            <a:r>
              <a:rPr lang="en-US" sz="1200" b="1" dirty="0">
                <a:solidFill>
                  <a:srgbClr val="59201C"/>
                </a:solidFill>
                <a:latin typeface="Calibri" pitchFamily="34" charset="0"/>
                <a:ea typeface="Calibri" pitchFamily="34" charset="-122"/>
                <a:cs typeface="Calibri" pitchFamily="34" charset="-120"/>
              </a:rPr>
              <a:t>Chicken Parmesan  $39.  </a:t>
            </a:r>
            <a:endParaRPr lang="en-US" sz="1200" dirty="0"/>
          </a:p>
          <a:p>
            <a:pPr indent="0" marL="0">
              <a:lnSpc>
                <a:spcPts val="1472"/>
              </a:lnSpc>
              <a:buNone/>
            </a:pPr>
            <a:r>
              <a:rPr lang="en-US" sz="1150" dirty="0">
                <a:solidFill>
                  <a:srgbClr val="2B2118"/>
                </a:solidFill>
                <a:latin typeface="Calibri" pitchFamily="34" charset="0"/>
                <a:ea typeface="Calibri" pitchFamily="34" charset="-122"/>
                <a:cs typeface="Calibri" pitchFamily="34" charset="-120"/>
              </a:rPr>
              <a:t>Hand-breaded fried breast, linguine, tomato diavolo, melted provolone, garlic bread. Newer, and built to be a crowd-pleaser.</a:t>
            </a:r>
            <a:endParaRPr lang="en-US" sz="1200" dirty="0"/>
          </a:p>
        </p:txBody>
      </p:sp>
      <p:sp>
        <p:nvSpPr>
          <p:cNvPr id="8" name="Shape 6"/>
          <p:cNvSpPr/>
          <p:nvPr/>
        </p:nvSpPr>
        <p:spPr>
          <a:xfrm>
            <a:off x="566928" y="2290572"/>
            <a:ext cx="365760" cy="365760"/>
          </a:xfrm>
          <a:prstGeom prst="ellipse">
            <a:avLst/>
          </a:prstGeom>
          <a:solidFill>
            <a:srgbClr val="59201C"/>
          </a:solidFill>
          <a:ln w="12700">
            <a:solidFill>
              <a:srgbClr val="59201C"/>
            </a:solidFill>
            <a:prstDash val="solid"/>
          </a:ln>
        </p:spPr>
      </p:sp>
      <p:sp>
        <p:nvSpPr>
          <p:cNvPr id="9" name="Text 7"/>
          <p:cNvSpPr/>
          <p:nvPr/>
        </p:nvSpPr>
        <p:spPr>
          <a:xfrm>
            <a:off x="566928" y="2290572"/>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0" name="Text 8"/>
          <p:cNvSpPr/>
          <p:nvPr/>
        </p:nvSpPr>
        <p:spPr>
          <a:xfrm>
            <a:off x="1069848" y="2263140"/>
            <a:ext cx="10554919" cy="726948"/>
          </a:xfrm>
          <a:prstGeom prst="rect">
            <a:avLst/>
          </a:prstGeom>
          <a:noFill/>
          <a:ln/>
        </p:spPr>
        <p:txBody>
          <a:bodyPr wrap="square" lIns="0" tIns="0" rIns="0" bIns="0" rtlCol="0" anchor="t"/>
          <a:lstStyle/>
          <a:p>
            <a:pPr indent="0" marL="0">
              <a:lnSpc>
                <a:spcPts val="1472"/>
              </a:lnSpc>
              <a:buNone/>
            </a:pPr>
            <a:r>
              <a:rPr lang="en-US" sz="1200" b="1" dirty="0">
                <a:solidFill>
                  <a:srgbClr val="59201C"/>
                </a:solidFill>
                <a:latin typeface="Calibri" pitchFamily="34" charset="0"/>
                <a:ea typeface="Calibri" pitchFamily="34" charset="-122"/>
                <a:cs typeface="Calibri" pitchFamily="34" charset="-120"/>
              </a:rPr>
              <a:t>Primavera Pasta  $40.  </a:t>
            </a:r>
            <a:endParaRPr lang="en-US" sz="1200" dirty="0"/>
          </a:p>
          <a:p>
            <a:pPr indent="0" marL="0">
              <a:lnSpc>
                <a:spcPts val="1472"/>
              </a:lnSpc>
              <a:buNone/>
            </a:pPr>
            <a:r>
              <a:rPr lang="en-US" sz="1150" dirty="0">
                <a:solidFill>
                  <a:srgbClr val="2B2118"/>
                </a:solidFill>
                <a:latin typeface="Calibri" pitchFamily="34" charset="0"/>
                <a:ea typeface="Calibri" pitchFamily="34" charset="-122"/>
                <a:cs typeface="Calibri" pitchFamily="34" charset="-120"/>
              </a:rPr>
              <a:t>Linguine, wild mushrooms, spinach, peeled tomatoes, pesto cream. Our main vegetarian-style entree — point here instead of assembling side dishes. Pesto usually means nuts; treat a nut allergy accordingly until the chef clears it.</a:t>
            </a:r>
            <a:endParaRPr lang="en-US" sz="1200" dirty="0"/>
          </a:p>
        </p:txBody>
      </p:sp>
      <p:sp>
        <p:nvSpPr>
          <p:cNvPr id="11" name="Shape 9"/>
          <p:cNvSpPr/>
          <p:nvPr/>
        </p:nvSpPr>
        <p:spPr>
          <a:xfrm>
            <a:off x="566928" y="3072384"/>
            <a:ext cx="365760" cy="365760"/>
          </a:xfrm>
          <a:prstGeom prst="ellipse">
            <a:avLst/>
          </a:prstGeom>
          <a:solidFill>
            <a:srgbClr val="59201C"/>
          </a:solidFill>
          <a:ln w="12700">
            <a:solidFill>
              <a:srgbClr val="59201C"/>
            </a:solidFill>
            <a:prstDash val="solid"/>
          </a:ln>
        </p:spPr>
      </p:sp>
      <p:sp>
        <p:nvSpPr>
          <p:cNvPr id="12" name="Text 10"/>
          <p:cNvSpPr/>
          <p:nvPr/>
        </p:nvSpPr>
        <p:spPr>
          <a:xfrm>
            <a:off x="566928" y="3072384"/>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3" name="Text 11"/>
          <p:cNvSpPr/>
          <p:nvPr/>
        </p:nvSpPr>
        <p:spPr>
          <a:xfrm>
            <a:off x="1069848" y="3044952"/>
            <a:ext cx="10554919" cy="726948"/>
          </a:xfrm>
          <a:prstGeom prst="rect">
            <a:avLst/>
          </a:prstGeom>
          <a:noFill/>
          <a:ln/>
        </p:spPr>
        <p:txBody>
          <a:bodyPr wrap="square" lIns="0" tIns="0" rIns="0" bIns="0" rtlCol="0" anchor="t"/>
          <a:lstStyle/>
          <a:p>
            <a:pPr indent="0" marL="0">
              <a:lnSpc>
                <a:spcPts val="1472"/>
              </a:lnSpc>
              <a:buNone/>
            </a:pPr>
            <a:r>
              <a:rPr lang="en-US" sz="1200" b="1" dirty="0">
                <a:solidFill>
                  <a:srgbClr val="59201C"/>
                </a:solidFill>
                <a:latin typeface="Calibri" pitchFamily="34" charset="0"/>
                <a:ea typeface="Calibri" pitchFamily="34" charset="-122"/>
                <a:cs typeface="Calibri" pitchFamily="34" charset="-120"/>
              </a:rPr>
              <a:t>Miso Seabass  $46.  </a:t>
            </a:r>
            <a:endParaRPr lang="en-US" sz="1200" dirty="0"/>
          </a:p>
          <a:p>
            <a:pPr indent="0" marL="0">
              <a:lnSpc>
                <a:spcPts val="1472"/>
              </a:lnSpc>
              <a:buNone/>
            </a:pPr>
            <a:r>
              <a:rPr lang="en-US" sz="1150" dirty="0">
                <a:solidFill>
                  <a:srgbClr val="2B2118"/>
                </a:solidFill>
                <a:latin typeface="Calibri" pitchFamily="34" charset="0"/>
                <a:ea typeface="Calibri" pitchFamily="34" charset="-122"/>
                <a:cs typeface="Calibri" pitchFamily="34" charset="-120"/>
              </a:rPr>
              <a:t>Patagonian toothfish sealed with white miso, mirin and sake for 48 to 72 hours, pan seared and broiler-finished. Coconut risotto, crispy sprouts. Sweet coconut against tangy miso is the whole pitch.</a:t>
            </a:r>
            <a:endParaRPr lang="en-US" sz="1200" dirty="0"/>
          </a:p>
        </p:txBody>
      </p:sp>
      <p:sp>
        <p:nvSpPr>
          <p:cNvPr id="14" name="Shape 12"/>
          <p:cNvSpPr/>
          <p:nvPr/>
        </p:nvSpPr>
        <p:spPr>
          <a:xfrm>
            <a:off x="566928" y="3854196"/>
            <a:ext cx="365760" cy="365760"/>
          </a:xfrm>
          <a:prstGeom prst="ellipse">
            <a:avLst/>
          </a:prstGeom>
          <a:solidFill>
            <a:srgbClr val="59201C"/>
          </a:solidFill>
          <a:ln w="12700">
            <a:solidFill>
              <a:srgbClr val="59201C"/>
            </a:solidFill>
            <a:prstDash val="solid"/>
          </a:ln>
        </p:spPr>
      </p:sp>
      <p:sp>
        <p:nvSpPr>
          <p:cNvPr id="15" name="Text 13"/>
          <p:cNvSpPr/>
          <p:nvPr/>
        </p:nvSpPr>
        <p:spPr>
          <a:xfrm>
            <a:off x="566928" y="3854196"/>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6" name="Text 14"/>
          <p:cNvSpPr/>
          <p:nvPr/>
        </p:nvSpPr>
        <p:spPr>
          <a:xfrm>
            <a:off x="1069848" y="3826764"/>
            <a:ext cx="10554919" cy="726948"/>
          </a:xfrm>
          <a:prstGeom prst="rect">
            <a:avLst/>
          </a:prstGeom>
          <a:noFill/>
          <a:ln/>
        </p:spPr>
        <p:txBody>
          <a:bodyPr wrap="square" lIns="0" tIns="0" rIns="0" bIns="0" rtlCol="0" anchor="t"/>
          <a:lstStyle/>
          <a:p>
            <a:pPr indent="0" marL="0">
              <a:lnSpc>
                <a:spcPts val="1472"/>
              </a:lnSpc>
              <a:buNone/>
            </a:pPr>
            <a:r>
              <a:rPr lang="en-US" sz="1200" b="1" dirty="0">
                <a:solidFill>
                  <a:srgbClr val="59201C"/>
                </a:solidFill>
                <a:latin typeface="Calibri" pitchFamily="34" charset="0"/>
                <a:ea typeface="Calibri" pitchFamily="34" charset="-122"/>
                <a:cs typeface="Calibri" pitchFamily="34" charset="-120"/>
              </a:rPr>
              <a:t>Chilean Sea Bass  $46.  </a:t>
            </a:r>
            <a:endParaRPr lang="en-US" sz="1200" dirty="0"/>
          </a:p>
          <a:p>
            <a:pPr indent="0" marL="0">
              <a:lnSpc>
                <a:spcPts val="1472"/>
              </a:lnSpc>
              <a:buNone/>
            </a:pPr>
            <a:r>
              <a:rPr lang="en-US" sz="1150" dirty="0">
                <a:solidFill>
                  <a:srgbClr val="2B2118"/>
                </a:solidFill>
                <a:latin typeface="Calibri" pitchFamily="34" charset="0"/>
                <a:ea typeface="Calibri" pitchFamily="34" charset="-122"/>
                <a:cs typeface="Calibri" pitchFamily="34" charset="-120"/>
              </a:rPr>
              <a:t>The same noble fish, classic form: pan seared, lemon-caper white wine butter, asparagus, spinach, cherry tomato. The citrus cuts the richness — that is the idea. Menu marks GF.</a:t>
            </a:r>
            <a:endParaRPr lang="en-US" sz="1200" dirty="0"/>
          </a:p>
        </p:txBody>
      </p:sp>
      <p:sp>
        <p:nvSpPr>
          <p:cNvPr id="17" name="Shape 15"/>
          <p:cNvSpPr/>
          <p:nvPr/>
        </p:nvSpPr>
        <p:spPr>
          <a:xfrm>
            <a:off x="566928" y="4636008"/>
            <a:ext cx="365760" cy="365760"/>
          </a:xfrm>
          <a:prstGeom prst="ellipse">
            <a:avLst/>
          </a:prstGeom>
          <a:solidFill>
            <a:srgbClr val="59201C"/>
          </a:solidFill>
          <a:ln w="12700">
            <a:solidFill>
              <a:srgbClr val="59201C"/>
            </a:solidFill>
            <a:prstDash val="solid"/>
          </a:ln>
        </p:spPr>
      </p:sp>
      <p:sp>
        <p:nvSpPr>
          <p:cNvPr id="18" name="Text 16"/>
          <p:cNvSpPr/>
          <p:nvPr/>
        </p:nvSpPr>
        <p:spPr>
          <a:xfrm>
            <a:off x="566928" y="4636008"/>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9" name="Text 17"/>
          <p:cNvSpPr/>
          <p:nvPr/>
        </p:nvSpPr>
        <p:spPr>
          <a:xfrm>
            <a:off x="1069848" y="4608576"/>
            <a:ext cx="10554919" cy="726948"/>
          </a:xfrm>
          <a:prstGeom prst="rect">
            <a:avLst/>
          </a:prstGeom>
          <a:noFill/>
          <a:ln/>
        </p:spPr>
        <p:txBody>
          <a:bodyPr wrap="square" lIns="0" tIns="0" rIns="0" bIns="0" rtlCol="0" anchor="t"/>
          <a:lstStyle/>
          <a:p>
            <a:pPr indent="0" marL="0">
              <a:lnSpc>
                <a:spcPts val="1472"/>
              </a:lnSpc>
              <a:buNone/>
            </a:pPr>
            <a:r>
              <a:rPr lang="en-US" sz="1200" b="1" dirty="0">
                <a:solidFill>
                  <a:srgbClr val="59201C"/>
                </a:solidFill>
                <a:latin typeface="Calibri" pitchFamily="34" charset="0"/>
                <a:ea typeface="Calibri" pitchFamily="34" charset="-122"/>
                <a:cs typeface="Calibri" pitchFamily="34" charset="-120"/>
              </a:rPr>
              <a:t>Blackened Creole Salmon  $42.  </a:t>
            </a:r>
            <a:endParaRPr lang="en-US" sz="1200" dirty="0"/>
          </a:p>
          <a:p>
            <a:pPr indent="0" marL="0">
              <a:lnSpc>
                <a:spcPts val="1472"/>
              </a:lnSpc>
              <a:buNone/>
            </a:pPr>
            <a:r>
              <a:rPr lang="en-US" sz="1150" dirty="0">
                <a:solidFill>
                  <a:srgbClr val="2B2118"/>
                </a:solidFill>
                <a:latin typeface="Calibri" pitchFamily="34" charset="0"/>
                <a:ea typeface="Calibri" pitchFamily="34" charset="-122"/>
                <a:cs typeface="Calibri" pitchFamily="34" charset="-120"/>
              </a:rPr>
              <a:t>Faroe Island salmon, raised in cold open water with no antibiotics — richer and firmer. Sweet potato puree, Holy Trinity relish, remoulade. Can be broiled or pan seared plain for a milder guest.</a:t>
            </a:r>
            <a:endParaRPr lang="en-US" sz="1200" dirty="0"/>
          </a:p>
        </p:txBody>
      </p:sp>
      <p:sp>
        <p:nvSpPr>
          <p:cNvPr id="20" name="Shape 18"/>
          <p:cNvSpPr/>
          <p:nvPr/>
        </p:nvSpPr>
        <p:spPr>
          <a:xfrm>
            <a:off x="566928" y="5417820"/>
            <a:ext cx="365760" cy="365760"/>
          </a:xfrm>
          <a:prstGeom prst="ellipse">
            <a:avLst/>
          </a:prstGeom>
          <a:solidFill>
            <a:srgbClr val="59201C"/>
          </a:solidFill>
          <a:ln w="12700">
            <a:solidFill>
              <a:srgbClr val="59201C"/>
            </a:solidFill>
            <a:prstDash val="solid"/>
          </a:ln>
        </p:spPr>
      </p:sp>
      <p:sp>
        <p:nvSpPr>
          <p:cNvPr id="21" name="Text 19"/>
          <p:cNvSpPr/>
          <p:nvPr/>
        </p:nvSpPr>
        <p:spPr>
          <a:xfrm>
            <a:off x="566928" y="541782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22" name="Text 20"/>
          <p:cNvSpPr/>
          <p:nvPr/>
        </p:nvSpPr>
        <p:spPr>
          <a:xfrm>
            <a:off x="1069848" y="5390388"/>
            <a:ext cx="10554919" cy="726948"/>
          </a:xfrm>
          <a:prstGeom prst="rect">
            <a:avLst/>
          </a:prstGeom>
          <a:noFill/>
          <a:ln/>
        </p:spPr>
        <p:txBody>
          <a:bodyPr wrap="square" lIns="0" tIns="0" rIns="0" bIns="0" rtlCol="0" anchor="t"/>
          <a:lstStyle/>
          <a:p>
            <a:pPr indent="0" marL="0">
              <a:lnSpc>
                <a:spcPts val="1472"/>
              </a:lnSpc>
              <a:buNone/>
            </a:pPr>
            <a:r>
              <a:rPr lang="en-US" sz="1200" b="1" dirty="0">
                <a:solidFill>
                  <a:srgbClr val="59201C"/>
                </a:solidFill>
                <a:latin typeface="Calibri" pitchFamily="34" charset="0"/>
                <a:ea typeface="Calibri" pitchFamily="34" charset="-122"/>
                <a:cs typeface="Calibri" pitchFamily="34" charset="-120"/>
              </a:rPr>
              <a:t>Twin South African Lobster Tails  $100.  </a:t>
            </a:r>
            <a:endParaRPr lang="en-US" sz="1200" dirty="0"/>
          </a:p>
          <a:p>
            <a:pPr indent="0" marL="0">
              <a:lnSpc>
                <a:spcPts val="1472"/>
              </a:lnSpc>
              <a:buNone/>
            </a:pPr>
            <a:r>
              <a:rPr lang="en-US" sz="1150" dirty="0">
                <a:solidFill>
                  <a:srgbClr val="2B2118"/>
                </a:solidFill>
                <a:latin typeface="Calibri" pitchFamily="34" charset="0"/>
                <a:ea typeface="Calibri" pitchFamily="34" charset="-122"/>
                <a:cs typeface="Calibri" pitchFamily="34" charset="-120"/>
              </a:rPr>
              <a:t>Two 5 oz cold-water tails — colder water means fewer molts, so the meat stays more tender and sweeter. Butter warmer lit with clarified garlic butter, cocktail fork to the right of the silverware.</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Accessories</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Every side is built to share — three to four sides for a table of six</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4 — Alternatives, Accessories and Desserts</a:t>
            </a:r>
            <a:endParaRPr lang="en-US" sz="950" dirty="0"/>
          </a:p>
        </p:txBody>
      </p:sp>
      <p:sp>
        <p:nvSpPr>
          <p:cNvPr id="5" name="Shape 3"/>
          <p:cNvSpPr/>
          <p:nvPr/>
        </p:nvSpPr>
        <p:spPr>
          <a:xfrm>
            <a:off x="566928" y="1517904"/>
            <a:ext cx="2613584" cy="1298448"/>
          </a:xfrm>
          <a:prstGeom prst="roundRect">
            <a:avLst>
              <a:gd name="adj" fmla="val 4225"/>
            </a:avLst>
          </a:prstGeom>
          <a:solidFill>
            <a:srgbClr val="F2E9D8"/>
          </a:solidFill>
          <a:ln w="12700">
            <a:solidFill>
              <a:srgbClr val="E4D8C0"/>
            </a:solidFill>
            <a:prstDash val="solid"/>
          </a:ln>
        </p:spPr>
      </p:sp>
      <p:sp>
        <p:nvSpPr>
          <p:cNvPr id="6" name="Text 4"/>
          <p:cNvSpPr/>
          <p:nvPr/>
        </p:nvSpPr>
        <p:spPr>
          <a:xfrm>
            <a:off x="749808" y="1664208"/>
            <a:ext cx="2247824" cy="310896"/>
          </a:xfrm>
          <a:prstGeom prst="rect">
            <a:avLst/>
          </a:prstGeom>
          <a:noFill/>
          <a:ln/>
        </p:spPr>
        <p:txBody>
          <a:bodyPr wrap="square" lIns="0" tIns="0" rIns="0" bIns="0" rtlCol="0" anchor="ctr"/>
          <a:lstStyle/>
          <a:p>
            <a:pPr indent="0" marL="0">
              <a:buNone/>
            </a:pPr>
            <a:r>
              <a:rPr lang="en-US" sz="1250" b="1" dirty="0">
                <a:solidFill>
                  <a:srgbClr val="59201C"/>
                </a:solidFill>
                <a:latin typeface="Cambria" pitchFamily="34" charset="0"/>
                <a:ea typeface="Cambria" pitchFamily="34" charset="-122"/>
                <a:cs typeface="Cambria" pitchFamily="34" charset="-120"/>
              </a:rPr>
              <a:t>Grilled Asparagus</a:t>
            </a:r>
            <a:endParaRPr lang="en-US" sz="1250" dirty="0"/>
          </a:p>
        </p:txBody>
      </p:sp>
      <p:sp>
        <p:nvSpPr>
          <p:cNvPr id="7" name="Text 5"/>
          <p:cNvSpPr/>
          <p:nvPr/>
        </p:nvSpPr>
        <p:spPr>
          <a:xfrm>
            <a:off x="749808" y="1975104"/>
            <a:ext cx="224782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$15</a:t>
            </a:r>
            <a:endParaRPr lang="en-US" sz="1100" dirty="0"/>
          </a:p>
        </p:txBody>
      </p:sp>
      <p:sp>
        <p:nvSpPr>
          <p:cNvPr id="8" name="Text 6"/>
          <p:cNvSpPr/>
          <p:nvPr/>
        </p:nvSpPr>
        <p:spPr>
          <a:xfrm>
            <a:off x="749808" y="2231136"/>
            <a:ext cx="2247824" cy="438912"/>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Garlic herb butter marinade, light char, hollandaise in a ramekin.</a:t>
            </a:r>
            <a:endParaRPr lang="en-US" sz="1000" dirty="0"/>
          </a:p>
        </p:txBody>
      </p:sp>
      <p:sp>
        <p:nvSpPr>
          <p:cNvPr id="9" name="Shape 7"/>
          <p:cNvSpPr/>
          <p:nvPr/>
        </p:nvSpPr>
        <p:spPr>
          <a:xfrm>
            <a:off x="3381680" y="1517904"/>
            <a:ext cx="2613584" cy="1298448"/>
          </a:xfrm>
          <a:prstGeom prst="roundRect">
            <a:avLst>
              <a:gd name="adj" fmla="val 4225"/>
            </a:avLst>
          </a:prstGeom>
          <a:solidFill>
            <a:srgbClr val="F2E9D8"/>
          </a:solidFill>
          <a:ln w="12700">
            <a:solidFill>
              <a:srgbClr val="E4D8C0"/>
            </a:solidFill>
            <a:prstDash val="solid"/>
          </a:ln>
        </p:spPr>
      </p:sp>
      <p:sp>
        <p:nvSpPr>
          <p:cNvPr id="10" name="Text 8"/>
          <p:cNvSpPr/>
          <p:nvPr/>
        </p:nvSpPr>
        <p:spPr>
          <a:xfrm>
            <a:off x="3564560" y="1664208"/>
            <a:ext cx="2247824" cy="310896"/>
          </a:xfrm>
          <a:prstGeom prst="rect">
            <a:avLst/>
          </a:prstGeom>
          <a:noFill/>
          <a:ln/>
        </p:spPr>
        <p:txBody>
          <a:bodyPr wrap="square" lIns="0" tIns="0" rIns="0" bIns="0" rtlCol="0" anchor="ctr"/>
          <a:lstStyle/>
          <a:p>
            <a:pPr indent="0" marL="0">
              <a:buNone/>
            </a:pPr>
            <a:r>
              <a:rPr lang="en-US" sz="1250" b="1" dirty="0">
                <a:solidFill>
                  <a:srgbClr val="59201C"/>
                </a:solidFill>
                <a:latin typeface="Cambria" pitchFamily="34" charset="0"/>
                <a:ea typeface="Cambria" pitchFamily="34" charset="-122"/>
                <a:cs typeface="Cambria" pitchFamily="34" charset="-120"/>
              </a:rPr>
              <a:t>Creamed Corn</a:t>
            </a:r>
            <a:endParaRPr lang="en-US" sz="1250" dirty="0"/>
          </a:p>
        </p:txBody>
      </p:sp>
      <p:sp>
        <p:nvSpPr>
          <p:cNvPr id="11" name="Text 9"/>
          <p:cNvSpPr/>
          <p:nvPr/>
        </p:nvSpPr>
        <p:spPr>
          <a:xfrm>
            <a:off x="3564560" y="1975104"/>
            <a:ext cx="224782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$12</a:t>
            </a:r>
            <a:endParaRPr lang="en-US" sz="1100" dirty="0"/>
          </a:p>
        </p:txBody>
      </p:sp>
      <p:sp>
        <p:nvSpPr>
          <p:cNvPr id="12" name="Text 10"/>
          <p:cNvSpPr/>
          <p:nvPr/>
        </p:nvSpPr>
        <p:spPr>
          <a:xfrm>
            <a:off x="3564560" y="2231136"/>
            <a:ext cx="2247824" cy="438912"/>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Cream, dijon, horseradish, dill.</a:t>
            </a:r>
            <a:endParaRPr lang="en-US" sz="1000" dirty="0"/>
          </a:p>
        </p:txBody>
      </p:sp>
      <p:sp>
        <p:nvSpPr>
          <p:cNvPr id="13" name="Shape 11"/>
          <p:cNvSpPr/>
          <p:nvPr/>
        </p:nvSpPr>
        <p:spPr>
          <a:xfrm>
            <a:off x="6196432" y="1517904"/>
            <a:ext cx="2613584" cy="1298448"/>
          </a:xfrm>
          <a:prstGeom prst="roundRect">
            <a:avLst>
              <a:gd name="adj" fmla="val 4225"/>
            </a:avLst>
          </a:prstGeom>
          <a:solidFill>
            <a:srgbClr val="F2E9D8"/>
          </a:solidFill>
          <a:ln w="12700">
            <a:solidFill>
              <a:srgbClr val="E4D8C0"/>
            </a:solidFill>
            <a:prstDash val="solid"/>
          </a:ln>
        </p:spPr>
      </p:sp>
      <p:sp>
        <p:nvSpPr>
          <p:cNvPr id="14" name="Text 12"/>
          <p:cNvSpPr/>
          <p:nvPr/>
        </p:nvSpPr>
        <p:spPr>
          <a:xfrm>
            <a:off x="6379312" y="1664208"/>
            <a:ext cx="2247824" cy="310896"/>
          </a:xfrm>
          <a:prstGeom prst="rect">
            <a:avLst/>
          </a:prstGeom>
          <a:noFill/>
          <a:ln/>
        </p:spPr>
        <p:txBody>
          <a:bodyPr wrap="square" lIns="0" tIns="0" rIns="0" bIns="0" rtlCol="0" anchor="ctr"/>
          <a:lstStyle/>
          <a:p>
            <a:pPr indent="0" marL="0">
              <a:buNone/>
            </a:pPr>
            <a:r>
              <a:rPr lang="en-US" sz="1250" b="1" dirty="0">
                <a:solidFill>
                  <a:srgbClr val="59201C"/>
                </a:solidFill>
                <a:latin typeface="Cambria" pitchFamily="34" charset="0"/>
                <a:ea typeface="Cambria" pitchFamily="34" charset="-122"/>
                <a:cs typeface="Cambria" pitchFamily="34" charset="-120"/>
              </a:rPr>
              <a:t>Creamed Spinach</a:t>
            </a:r>
            <a:endParaRPr lang="en-US" sz="1250" dirty="0"/>
          </a:p>
        </p:txBody>
      </p:sp>
      <p:sp>
        <p:nvSpPr>
          <p:cNvPr id="15" name="Text 13"/>
          <p:cNvSpPr/>
          <p:nvPr/>
        </p:nvSpPr>
        <p:spPr>
          <a:xfrm>
            <a:off x="6379312" y="1975104"/>
            <a:ext cx="224782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$16</a:t>
            </a:r>
            <a:endParaRPr lang="en-US" sz="1100" dirty="0"/>
          </a:p>
        </p:txBody>
      </p:sp>
      <p:sp>
        <p:nvSpPr>
          <p:cNvPr id="16" name="Text 14"/>
          <p:cNvSpPr/>
          <p:nvPr/>
        </p:nvSpPr>
        <p:spPr>
          <a:xfrm>
            <a:off x="6379312" y="2231136"/>
            <a:ext cx="2247824" cy="438912"/>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With roasted butternut squash. Marked with a small g — it does contain gluten.</a:t>
            </a:r>
            <a:endParaRPr lang="en-US" sz="1000" dirty="0"/>
          </a:p>
        </p:txBody>
      </p:sp>
      <p:sp>
        <p:nvSpPr>
          <p:cNvPr id="17" name="Shape 15"/>
          <p:cNvSpPr/>
          <p:nvPr/>
        </p:nvSpPr>
        <p:spPr>
          <a:xfrm>
            <a:off x="9011183" y="1517904"/>
            <a:ext cx="2613584" cy="1298448"/>
          </a:xfrm>
          <a:prstGeom prst="roundRect">
            <a:avLst>
              <a:gd name="adj" fmla="val 4225"/>
            </a:avLst>
          </a:prstGeom>
          <a:solidFill>
            <a:srgbClr val="F2E9D8"/>
          </a:solidFill>
          <a:ln w="12700">
            <a:solidFill>
              <a:srgbClr val="E4D8C0"/>
            </a:solidFill>
            <a:prstDash val="solid"/>
          </a:ln>
        </p:spPr>
      </p:sp>
      <p:sp>
        <p:nvSpPr>
          <p:cNvPr id="18" name="Text 16"/>
          <p:cNvSpPr/>
          <p:nvPr/>
        </p:nvSpPr>
        <p:spPr>
          <a:xfrm>
            <a:off x="9194063" y="1664208"/>
            <a:ext cx="2247824" cy="310896"/>
          </a:xfrm>
          <a:prstGeom prst="rect">
            <a:avLst/>
          </a:prstGeom>
          <a:noFill/>
          <a:ln/>
        </p:spPr>
        <p:txBody>
          <a:bodyPr wrap="square" lIns="0" tIns="0" rIns="0" bIns="0" rtlCol="0" anchor="ctr"/>
          <a:lstStyle/>
          <a:p>
            <a:pPr indent="0" marL="0">
              <a:buNone/>
            </a:pPr>
            <a:r>
              <a:rPr lang="en-US" sz="1250" b="1" dirty="0">
                <a:solidFill>
                  <a:srgbClr val="59201C"/>
                </a:solidFill>
                <a:latin typeface="Cambria" pitchFamily="34" charset="0"/>
                <a:ea typeface="Cambria" pitchFamily="34" charset="-122"/>
                <a:cs typeface="Cambria" pitchFamily="34" charset="-120"/>
              </a:rPr>
              <a:t>Creamy Risotto</a:t>
            </a:r>
            <a:endParaRPr lang="en-US" sz="1250" dirty="0"/>
          </a:p>
        </p:txBody>
      </p:sp>
      <p:sp>
        <p:nvSpPr>
          <p:cNvPr id="19" name="Text 17"/>
          <p:cNvSpPr/>
          <p:nvPr/>
        </p:nvSpPr>
        <p:spPr>
          <a:xfrm>
            <a:off x="9194063" y="1975104"/>
            <a:ext cx="224782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$15</a:t>
            </a:r>
            <a:endParaRPr lang="en-US" sz="1100" dirty="0"/>
          </a:p>
        </p:txBody>
      </p:sp>
      <p:sp>
        <p:nvSpPr>
          <p:cNvPr id="20" name="Text 18"/>
          <p:cNvSpPr/>
          <p:nvPr/>
        </p:nvSpPr>
        <p:spPr>
          <a:xfrm>
            <a:off x="9194063" y="2231136"/>
            <a:ext cx="2247824" cy="438912"/>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Chicken stock, cream, Parmesan, crispy prosciutto, sundried tomatoes.</a:t>
            </a:r>
            <a:endParaRPr lang="en-US" sz="1000" dirty="0"/>
          </a:p>
        </p:txBody>
      </p:sp>
      <p:sp>
        <p:nvSpPr>
          <p:cNvPr id="21" name="Shape 19"/>
          <p:cNvSpPr/>
          <p:nvPr/>
        </p:nvSpPr>
        <p:spPr>
          <a:xfrm>
            <a:off x="566928" y="3017520"/>
            <a:ext cx="2613584" cy="1298448"/>
          </a:xfrm>
          <a:prstGeom prst="roundRect">
            <a:avLst>
              <a:gd name="adj" fmla="val 4225"/>
            </a:avLst>
          </a:prstGeom>
          <a:solidFill>
            <a:srgbClr val="F2E9D8"/>
          </a:solidFill>
          <a:ln w="12700">
            <a:solidFill>
              <a:srgbClr val="E4D8C0"/>
            </a:solidFill>
            <a:prstDash val="solid"/>
          </a:ln>
        </p:spPr>
      </p:sp>
      <p:sp>
        <p:nvSpPr>
          <p:cNvPr id="22" name="Text 20"/>
          <p:cNvSpPr/>
          <p:nvPr/>
        </p:nvSpPr>
        <p:spPr>
          <a:xfrm>
            <a:off x="749808" y="3163824"/>
            <a:ext cx="2247824" cy="310896"/>
          </a:xfrm>
          <a:prstGeom prst="rect">
            <a:avLst/>
          </a:prstGeom>
          <a:noFill/>
          <a:ln/>
        </p:spPr>
        <p:txBody>
          <a:bodyPr wrap="square" lIns="0" tIns="0" rIns="0" bIns="0" rtlCol="0" anchor="ctr"/>
          <a:lstStyle/>
          <a:p>
            <a:pPr indent="0" marL="0">
              <a:buNone/>
            </a:pPr>
            <a:r>
              <a:rPr lang="en-US" sz="1250" b="1" dirty="0">
                <a:solidFill>
                  <a:srgbClr val="59201C"/>
                </a:solidFill>
                <a:latin typeface="Cambria" pitchFamily="34" charset="0"/>
                <a:ea typeface="Cambria" pitchFamily="34" charset="-122"/>
                <a:cs typeface="Cambria" pitchFamily="34" charset="-120"/>
              </a:rPr>
              <a:t>Baked Potato</a:t>
            </a:r>
            <a:endParaRPr lang="en-US" sz="1250" dirty="0"/>
          </a:p>
        </p:txBody>
      </p:sp>
      <p:sp>
        <p:nvSpPr>
          <p:cNvPr id="23" name="Text 21"/>
          <p:cNvSpPr/>
          <p:nvPr/>
        </p:nvSpPr>
        <p:spPr>
          <a:xfrm>
            <a:off x="749808" y="3474720"/>
            <a:ext cx="224782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$11</a:t>
            </a:r>
            <a:endParaRPr lang="en-US" sz="1100" dirty="0"/>
          </a:p>
        </p:txBody>
      </p:sp>
      <p:sp>
        <p:nvSpPr>
          <p:cNvPr id="24" name="Text 22"/>
          <p:cNvSpPr/>
          <p:nvPr/>
        </p:nvSpPr>
        <p:spPr>
          <a:xfrm>
            <a:off x="749808" y="3730752"/>
            <a:ext cx="2247824" cy="438912"/>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Salt-crusted russet. Cut it open and press it apart at the plate to show the steam; little knife left in. Loaded adds about $3 — and bacon makes it pork.</a:t>
            </a:r>
            <a:endParaRPr lang="en-US" sz="1000" dirty="0"/>
          </a:p>
        </p:txBody>
      </p:sp>
      <p:sp>
        <p:nvSpPr>
          <p:cNvPr id="25" name="Shape 23"/>
          <p:cNvSpPr/>
          <p:nvPr/>
        </p:nvSpPr>
        <p:spPr>
          <a:xfrm>
            <a:off x="3381680" y="3017520"/>
            <a:ext cx="2613584" cy="1298448"/>
          </a:xfrm>
          <a:prstGeom prst="roundRect">
            <a:avLst>
              <a:gd name="adj" fmla="val 4225"/>
            </a:avLst>
          </a:prstGeom>
          <a:solidFill>
            <a:srgbClr val="F2E9D8"/>
          </a:solidFill>
          <a:ln w="12700">
            <a:solidFill>
              <a:srgbClr val="E4D8C0"/>
            </a:solidFill>
            <a:prstDash val="solid"/>
          </a:ln>
        </p:spPr>
      </p:sp>
      <p:sp>
        <p:nvSpPr>
          <p:cNvPr id="26" name="Text 24"/>
          <p:cNvSpPr/>
          <p:nvPr/>
        </p:nvSpPr>
        <p:spPr>
          <a:xfrm>
            <a:off x="3564560" y="3163824"/>
            <a:ext cx="2247824" cy="310896"/>
          </a:xfrm>
          <a:prstGeom prst="rect">
            <a:avLst/>
          </a:prstGeom>
          <a:noFill/>
          <a:ln/>
        </p:spPr>
        <p:txBody>
          <a:bodyPr wrap="square" lIns="0" tIns="0" rIns="0" bIns="0" rtlCol="0" anchor="ctr"/>
          <a:lstStyle/>
          <a:p>
            <a:pPr indent="0" marL="0">
              <a:buNone/>
            </a:pPr>
            <a:r>
              <a:rPr lang="en-US" sz="1250" b="1" dirty="0">
                <a:solidFill>
                  <a:srgbClr val="59201C"/>
                </a:solidFill>
                <a:latin typeface="Cambria" pitchFamily="34" charset="0"/>
                <a:ea typeface="Cambria" pitchFamily="34" charset="-122"/>
                <a:cs typeface="Cambria" pitchFamily="34" charset="-120"/>
              </a:rPr>
              <a:t>White Cheddar Mash</a:t>
            </a:r>
            <a:endParaRPr lang="en-US" sz="1250" dirty="0"/>
          </a:p>
        </p:txBody>
      </p:sp>
      <p:sp>
        <p:nvSpPr>
          <p:cNvPr id="27" name="Text 25"/>
          <p:cNvSpPr/>
          <p:nvPr/>
        </p:nvSpPr>
        <p:spPr>
          <a:xfrm>
            <a:off x="3564560" y="3474720"/>
            <a:ext cx="224782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$12</a:t>
            </a:r>
            <a:endParaRPr lang="en-US" sz="1100" dirty="0"/>
          </a:p>
        </p:txBody>
      </p:sp>
      <p:sp>
        <p:nvSpPr>
          <p:cNvPr id="28" name="Text 26"/>
          <p:cNvSpPr/>
          <p:nvPr/>
        </p:nvSpPr>
        <p:spPr>
          <a:xfrm>
            <a:off x="3564560" y="3730752"/>
            <a:ext cx="2247824" cy="438912"/>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Nearly equal parts butter — that is the secret. Truffle or wasabi for $3.</a:t>
            </a:r>
            <a:endParaRPr lang="en-US" sz="1000" dirty="0"/>
          </a:p>
        </p:txBody>
      </p:sp>
      <p:sp>
        <p:nvSpPr>
          <p:cNvPr id="29" name="Shape 27"/>
          <p:cNvSpPr/>
          <p:nvPr/>
        </p:nvSpPr>
        <p:spPr>
          <a:xfrm>
            <a:off x="6196432" y="3017520"/>
            <a:ext cx="2613584" cy="1298448"/>
          </a:xfrm>
          <a:prstGeom prst="roundRect">
            <a:avLst>
              <a:gd name="adj" fmla="val 4225"/>
            </a:avLst>
          </a:prstGeom>
          <a:solidFill>
            <a:srgbClr val="F2E9D8"/>
          </a:solidFill>
          <a:ln w="12700">
            <a:solidFill>
              <a:srgbClr val="E4D8C0"/>
            </a:solidFill>
            <a:prstDash val="solid"/>
          </a:ln>
        </p:spPr>
      </p:sp>
      <p:sp>
        <p:nvSpPr>
          <p:cNvPr id="30" name="Text 28"/>
          <p:cNvSpPr/>
          <p:nvPr/>
        </p:nvSpPr>
        <p:spPr>
          <a:xfrm>
            <a:off x="6379312" y="3163824"/>
            <a:ext cx="2247824" cy="310896"/>
          </a:xfrm>
          <a:prstGeom prst="rect">
            <a:avLst/>
          </a:prstGeom>
          <a:noFill/>
          <a:ln/>
        </p:spPr>
        <p:txBody>
          <a:bodyPr wrap="square" lIns="0" tIns="0" rIns="0" bIns="0" rtlCol="0" anchor="ctr"/>
          <a:lstStyle/>
          <a:p>
            <a:pPr indent="0" marL="0">
              <a:buNone/>
            </a:pPr>
            <a:r>
              <a:rPr lang="en-US" sz="1250" b="1" dirty="0">
                <a:solidFill>
                  <a:srgbClr val="59201C"/>
                </a:solidFill>
                <a:latin typeface="Cambria" pitchFamily="34" charset="0"/>
                <a:ea typeface="Cambria" pitchFamily="34" charset="-122"/>
                <a:cs typeface="Cambria" pitchFamily="34" charset="-120"/>
              </a:rPr>
              <a:t>Truffle Cauliflower</a:t>
            </a:r>
            <a:endParaRPr lang="en-US" sz="1250" dirty="0"/>
          </a:p>
        </p:txBody>
      </p:sp>
      <p:sp>
        <p:nvSpPr>
          <p:cNvPr id="31" name="Text 29"/>
          <p:cNvSpPr/>
          <p:nvPr/>
        </p:nvSpPr>
        <p:spPr>
          <a:xfrm>
            <a:off x="6379312" y="3474720"/>
            <a:ext cx="224782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$14</a:t>
            </a:r>
            <a:endParaRPr lang="en-US" sz="1100" dirty="0"/>
          </a:p>
        </p:txBody>
      </p:sp>
      <p:sp>
        <p:nvSpPr>
          <p:cNvPr id="32" name="Text 30"/>
          <p:cNvSpPr/>
          <p:nvPr/>
        </p:nvSpPr>
        <p:spPr>
          <a:xfrm>
            <a:off x="6379312" y="3730752"/>
            <a:ext cx="2247824" cy="438912"/>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Pan-seared with shallots, folded with Alfredo and truffle oil.</a:t>
            </a:r>
            <a:endParaRPr lang="en-US" sz="1000" dirty="0"/>
          </a:p>
        </p:txBody>
      </p:sp>
      <p:sp>
        <p:nvSpPr>
          <p:cNvPr id="33" name="Shape 31"/>
          <p:cNvSpPr/>
          <p:nvPr/>
        </p:nvSpPr>
        <p:spPr>
          <a:xfrm>
            <a:off x="9011183" y="3017520"/>
            <a:ext cx="2613584" cy="1298448"/>
          </a:xfrm>
          <a:prstGeom prst="roundRect">
            <a:avLst>
              <a:gd name="adj" fmla="val 4225"/>
            </a:avLst>
          </a:prstGeom>
          <a:solidFill>
            <a:srgbClr val="F2E9D8"/>
          </a:solidFill>
          <a:ln w="12700">
            <a:solidFill>
              <a:srgbClr val="E4D8C0"/>
            </a:solidFill>
            <a:prstDash val="solid"/>
          </a:ln>
        </p:spPr>
      </p:sp>
      <p:sp>
        <p:nvSpPr>
          <p:cNvPr id="34" name="Text 32"/>
          <p:cNvSpPr/>
          <p:nvPr/>
        </p:nvSpPr>
        <p:spPr>
          <a:xfrm>
            <a:off x="9194063" y="3163824"/>
            <a:ext cx="2247824" cy="310896"/>
          </a:xfrm>
          <a:prstGeom prst="rect">
            <a:avLst/>
          </a:prstGeom>
          <a:noFill/>
          <a:ln/>
        </p:spPr>
        <p:txBody>
          <a:bodyPr wrap="square" lIns="0" tIns="0" rIns="0" bIns="0" rtlCol="0" anchor="ctr"/>
          <a:lstStyle/>
          <a:p>
            <a:pPr indent="0" marL="0">
              <a:buNone/>
            </a:pPr>
            <a:r>
              <a:rPr lang="en-US" sz="1250" b="1" dirty="0">
                <a:solidFill>
                  <a:srgbClr val="59201C"/>
                </a:solidFill>
                <a:latin typeface="Cambria" pitchFamily="34" charset="0"/>
                <a:ea typeface="Cambria" pitchFamily="34" charset="-122"/>
                <a:cs typeface="Cambria" pitchFamily="34" charset="-120"/>
              </a:rPr>
              <a:t>Lobster Mac N' Cheese</a:t>
            </a:r>
            <a:endParaRPr lang="en-US" sz="1250" dirty="0"/>
          </a:p>
        </p:txBody>
      </p:sp>
      <p:sp>
        <p:nvSpPr>
          <p:cNvPr id="35" name="Text 33"/>
          <p:cNvSpPr/>
          <p:nvPr/>
        </p:nvSpPr>
        <p:spPr>
          <a:xfrm>
            <a:off x="9194063" y="3474720"/>
            <a:ext cx="224782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$26</a:t>
            </a:r>
            <a:endParaRPr lang="en-US" sz="1100" dirty="0"/>
          </a:p>
        </p:txBody>
      </p:sp>
      <p:sp>
        <p:nvSpPr>
          <p:cNvPr id="36" name="Text 34"/>
          <p:cNvSpPr/>
          <p:nvPr/>
        </p:nvSpPr>
        <p:spPr>
          <a:xfrm>
            <a:off x="9194063" y="3730752"/>
            <a:ext cx="2247824" cy="438912"/>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A roux built on lobster stock, white cheddar and Parmesan, broiled with panko. The biggest side upsell in the building.</a:t>
            </a:r>
            <a:endParaRPr lang="en-US" sz="1000" dirty="0"/>
          </a:p>
        </p:txBody>
      </p:sp>
      <p:sp>
        <p:nvSpPr>
          <p:cNvPr id="37" name="Shape 35"/>
          <p:cNvSpPr/>
          <p:nvPr/>
        </p:nvSpPr>
        <p:spPr>
          <a:xfrm>
            <a:off x="566928" y="4517136"/>
            <a:ext cx="2613584" cy="1298448"/>
          </a:xfrm>
          <a:prstGeom prst="roundRect">
            <a:avLst>
              <a:gd name="adj" fmla="val 4225"/>
            </a:avLst>
          </a:prstGeom>
          <a:solidFill>
            <a:srgbClr val="F2E9D8"/>
          </a:solidFill>
          <a:ln w="12700">
            <a:solidFill>
              <a:srgbClr val="E4D8C0"/>
            </a:solidFill>
            <a:prstDash val="solid"/>
          </a:ln>
        </p:spPr>
      </p:sp>
      <p:sp>
        <p:nvSpPr>
          <p:cNvPr id="38" name="Text 36"/>
          <p:cNvSpPr/>
          <p:nvPr/>
        </p:nvSpPr>
        <p:spPr>
          <a:xfrm>
            <a:off x="749808" y="4663440"/>
            <a:ext cx="2247824" cy="310896"/>
          </a:xfrm>
          <a:prstGeom prst="rect">
            <a:avLst/>
          </a:prstGeom>
          <a:noFill/>
          <a:ln/>
        </p:spPr>
        <p:txBody>
          <a:bodyPr wrap="square" lIns="0" tIns="0" rIns="0" bIns="0" rtlCol="0" anchor="ctr"/>
          <a:lstStyle/>
          <a:p>
            <a:pPr indent="0" marL="0">
              <a:buNone/>
            </a:pPr>
            <a:r>
              <a:rPr lang="en-US" sz="1250" b="1" dirty="0">
                <a:solidFill>
                  <a:srgbClr val="59201C"/>
                </a:solidFill>
                <a:latin typeface="Cambria" pitchFamily="34" charset="0"/>
                <a:ea typeface="Cambria" pitchFamily="34" charset="-122"/>
                <a:cs typeface="Cambria" pitchFamily="34" charset="-120"/>
              </a:rPr>
              <a:t>Jalapeno Au Gratin</a:t>
            </a:r>
            <a:endParaRPr lang="en-US" sz="1250" dirty="0"/>
          </a:p>
        </p:txBody>
      </p:sp>
      <p:sp>
        <p:nvSpPr>
          <p:cNvPr id="39" name="Text 37"/>
          <p:cNvSpPr/>
          <p:nvPr/>
        </p:nvSpPr>
        <p:spPr>
          <a:xfrm>
            <a:off x="749808" y="4974336"/>
            <a:ext cx="224782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$15</a:t>
            </a:r>
            <a:endParaRPr lang="en-US" sz="1100" dirty="0"/>
          </a:p>
        </p:txBody>
      </p:sp>
      <p:sp>
        <p:nvSpPr>
          <p:cNvPr id="40" name="Text 38"/>
          <p:cNvSpPr/>
          <p:nvPr/>
        </p:nvSpPr>
        <p:spPr>
          <a:xfrm>
            <a:off x="749808" y="5230368"/>
            <a:ext cx="2247824" cy="438912"/>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Seedless jalapenos, russets, bacon, white cheddar. The bacon is mixed in each morning and cannot be removed.</a:t>
            </a:r>
            <a:endParaRPr lang="en-US" sz="1000" dirty="0"/>
          </a:p>
        </p:txBody>
      </p:sp>
      <p:sp>
        <p:nvSpPr>
          <p:cNvPr id="41" name="Shape 39"/>
          <p:cNvSpPr/>
          <p:nvPr/>
        </p:nvSpPr>
        <p:spPr>
          <a:xfrm>
            <a:off x="3381680" y="4517136"/>
            <a:ext cx="2613584" cy="1298448"/>
          </a:xfrm>
          <a:prstGeom prst="roundRect">
            <a:avLst>
              <a:gd name="adj" fmla="val 4225"/>
            </a:avLst>
          </a:prstGeom>
          <a:solidFill>
            <a:srgbClr val="F2E9D8"/>
          </a:solidFill>
          <a:ln w="12700">
            <a:solidFill>
              <a:srgbClr val="E4D8C0"/>
            </a:solidFill>
            <a:prstDash val="solid"/>
          </a:ln>
        </p:spPr>
      </p:sp>
      <p:sp>
        <p:nvSpPr>
          <p:cNvPr id="42" name="Text 40"/>
          <p:cNvSpPr/>
          <p:nvPr/>
        </p:nvSpPr>
        <p:spPr>
          <a:xfrm>
            <a:off x="3564560" y="4663440"/>
            <a:ext cx="2247824" cy="310896"/>
          </a:xfrm>
          <a:prstGeom prst="rect">
            <a:avLst/>
          </a:prstGeom>
          <a:noFill/>
          <a:ln/>
        </p:spPr>
        <p:txBody>
          <a:bodyPr wrap="square" lIns="0" tIns="0" rIns="0" bIns="0" rtlCol="0" anchor="ctr"/>
          <a:lstStyle/>
          <a:p>
            <a:pPr indent="0" marL="0">
              <a:buNone/>
            </a:pPr>
            <a:r>
              <a:rPr lang="en-US" sz="1250" b="1" dirty="0">
                <a:solidFill>
                  <a:srgbClr val="59201C"/>
                </a:solidFill>
                <a:latin typeface="Cambria" pitchFamily="34" charset="0"/>
                <a:ea typeface="Cambria" pitchFamily="34" charset="-122"/>
                <a:cs typeface="Cambria" pitchFamily="34" charset="-120"/>
              </a:rPr>
              <a:t>Brussels Sprouts</a:t>
            </a:r>
            <a:endParaRPr lang="en-US" sz="1250" dirty="0"/>
          </a:p>
        </p:txBody>
      </p:sp>
      <p:sp>
        <p:nvSpPr>
          <p:cNvPr id="43" name="Text 41"/>
          <p:cNvSpPr/>
          <p:nvPr/>
        </p:nvSpPr>
        <p:spPr>
          <a:xfrm>
            <a:off x="3564560" y="4974336"/>
            <a:ext cx="224782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$15</a:t>
            </a:r>
            <a:endParaRPr lang="en-US" sz="1100" dirty="0"/>
          </a:p>
        </p:txBody>
      </p:sp>
      <p:sp>
        <p:nvSpPr>
          <p:cNvPr id="44" name="Text 42"/>
          <p:cNvSpPr/>
          <p:nvPr/>
        </p:nvSpPr>
        <p:spPr>
          <a:xfrm>
            <a:off x="3564560" y="5230368"/>
            <a:ext cx="2247824" cy="438912"/>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Roasted then flash-fried crispy, balsamic glaze. Serving spoon rides in the bowl.</a:t>
            </a:r>
            <a:endParaRPr lang="en-US" sz="1000" dirty="0"/>
          </a:p>
        </p:txBody>
      </p:sp>
      <p:sp>
        <p:nvSpPr>
          <p:cNvPr id="45" name="Shape 43"/>
          <p:cNvSpPr/>
          <p:nvPr/>
        </p:nvSpPr>
        <p:spPr>
          <a:xfrm>
            <a:off x="6196432" y="4517136"/>
            <a:ext cx="2613584" cy="1298448"/>
          </a:xfrm>
          <a:prstGeom prst="roundRect">
            <a:avLst>
              <a:gd name="adj" fmla="val 4225"/>
            </a:avLst>
          </a:prstGeom>
          <a:solidFill>
            <a:srgbClr val="F2E9D8"/>
          </a:solidFill>
          <a:ln w="12700">
            <a:solidFill>
              <a:srgbClr val="E4D8C0"/>
            </a:solidFill>
            <a:prstDash val="solid"/>
          </a:ln>
        </p:spPr>
      </p:sp>
      <p:sp>
        <p:nvSpPr>
          <p:cNvPr id="46" name="Text 44"/>
          <p:cNvSpPr/>
          <p:nvPr/>
        </p:nvSpPr>
        <p:spPr>
          <a:xfrm>
            <a:off x="6379312" y="4663440"/>
            <a:ext cx="2247824" cy="310896"/>
          </a:xfrm>
          <a:prstGeom prst="rect">
            <a:avLst/>
          </a:prstGeom>
          <a:noFill/>
          <a:ln/>
        </p:spPr>
        <p:txBody>
          <a:bodyPr wrap="square" lIns="0" tIns="0" rIns="0" bIns="0" rtlCol="0" anchor="ctr"/>
          <a:lstStyle/>
          <a:p>
            <a:pPr indent="0" marL="0">
              <a:buNone/>
            </a:pPr>
            <a:r>
              <a:rPr lang="en-US" sz="1250" b="1" dirty="0">
                <a:solidFill>
                  <a:srgbClr val="59201C"/>
                </a:solidFill>
                <a:latin typeface="Cambria" pitchFamily="34" charset="0"/>
                <a:ea typeface="Cambria" pitchFamily="34" charset="-122"/>
                <a:cs typeface="Cambria" pitchFamily="34" charset="-120"/>
              </a:rPr>
              <a:t>Truffle Fries</a:t>
            </a:r>
            <a:endParaRPr lang="en-US" sz="1250" dirty="0"/>
          </a:p>
        </p:txBody>
      </p:sp>
      <p:sp>
        <p:nvSpPr>
          <p:cNvPr id="47" name="Text 45"/>
          <p:cNvSpPr/>
          <p:nvPr/>
        </p:nvSpPr>
        <p:spPr>
          <a:xfrm>
            <a:off x="6379312" y="4974336"/>
            <a:ext cx="224782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$11</a:t>
            </a:r>
            <a:endParaRPr lang="en-US" sz="1100" dirty="0"/>
          </a:p>
        </p:txBody>
      </p:sp>
      <p:sp>
        <p:nvSpPr>
          <p:cNvPr id="48" name="Text 46"/>
          <p:cNvSpPr/>
          <p:nvPr/>
        </p:nvSpPr>
        <p:spPr>
          <a:xfrm>
            <a:off x="6379312" y="5230368"/>
            <a:ext cx="2247824" cy="438912"/>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Tossed immediately with flaky salt, Parmesan, parsley, white truffle oil. A guest can get them plain — just ask.</a:t>
            </a:r>
            <a:endParaRPr lang="en-US" sz="1000" dirty="0"/>
          </a:p>
        </p:txBody>
      </p:sp>
      <p:sp>
        <p:nvSpPr>
          <p:cNvPr id="49" name="Shape 47"/>
          <p:cNvSpPr/>
          <p:nvPr/>
        </p:nvSpPr>
        <p:spPr>
          <a:xfrm>
            <a:off x="9011183" y="4517136"/>
            <a:ext cx="2613584" cy="1298448"/>
          </a:xfrm>
          <a:prstGeom prst="roundRect">
            <a:avLst>
              <a:gd name="adj" fmla="val 4225"/>
            </a:avLst>
          </a:prstGeom>
          <a:solidFill>
            <a:srgbClr val="F2E9D8"/>
          </a:solidFill>
          <a:ln w="12700">
            <a:solidFill>
              <a:srgbClr val="E4D8C0"/>
            </a:solidFill>
            <a:prstDash val="solid"/>
          </a:ln>
        </p:spPr>
      </p:sp>
      <p:sp>
        <p:nvSpPr>
          <p:cNvPr id="50" name="Text 48"/>
          <p:cNvSpPr/>
          <p:nvPr/>
        </p:nvSpPr>
        <p:spPr>
          <a:xfrm>
            <a:off x="9194063" y="4663440"/>
            <a:ext cx="2247824" cy="310896"/>
          </a:xfrm>
          <a:prstGeom prst="rect">
            <a:avLst/>
          </a:prstGeom>
          <a:noFill/>
          <a:ln/>
        </p:spPr>
        <p:txBody>
          <a:bodyPr wrap="square" lIns="0" tIns="0" rIns="0" bIns="0" rtlCol="0" anchor="ctr"/>
          <a:lstStyle/>
          <a:p>
            <a:pPr indent="0" marL="0">
              <a:buNone/>
            </a:pPr>
            <a:r>
              <a:rPr lang="en-US" sz="1250" b="1" dirty="0">
                <a:solidFill>
                  <a:srgbClr val="59201C"/>
                </a:solidFill>
                <a:latin typeface="Cambria" pitchFamily="34" charset="0"/>
                <a:ea typeface="Cambria" pitchFamily="34" charset="-122"/>
                <a:cs typeface="Cambria" pitchFamily="34" charset="-120"/>
              </a:rPr>
              <a:t>Our house ranch</a:t>
            </a:r>
            <a:endParaRPr lang="en-US" sz="1250" dirty="0"/>
          </a:p>
        </p:txBody>
      </p:sp>
      <p:sp>
        <p:nvSpPr>
          <p:cNvPr id="51" name="Text 49"/>
          <p:cNvSpPr/>
          <p:nvPr/>
        </p:nvSpPr>
        <p:spPr>
          <a:xfrm>
            <a:off x="9194063" y="4974336"/>
            <a:ext cx="224782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the move</a:t>
            </a:r>
            <a:endParaRPr lang="en-US" sz="1100" dirty="0"/>
          </a:p>
        </p:txBody>
      </p:sp>
      <p:sp>
        <p:nvSpPr>
          <p:cNvPr id="52" name="Text 50"/>
          <p:cNvSpPr/>
          <p:nvPr/>
        </p:nvSpPr>
        <p:spPr>
          <a:xfrm>
            <a:off x="9194063" y="5230368"/>
            <a:ext cx="2247824" cy="438912"/>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Almost necessary on the fries, and maybe the best combination in the restaurant. Offer it.</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Desserts</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Walk up with a dessert menu in your hand — it doubles the yes</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4 — Alternatives, Accessories and Desserts</a:t>
            </a:r>
            <a:endParaRPr lang="en-US" sz="950" dirty="0"/>
          </a:p>
        </p:txBody>
      </p:sp>
      <p:sp>
        <p:nvSpPr>
          <p:cNvPr id="5" name="Shape 3"/>
          <p:cNvSpPr/>
          <p:nvPr/>
        </p:nvSpPr>
        <p:spPr>
          <a:xfrm>
            <a:off x="566928" y="1508760"/>
            <a:ext cx="365760" cy="365760"/>
          </a:xfrm>
          <a:prstGeom prst="ellipse">
            <a:avLst/>
          </a:prstGeom>
          <a:solidFill>
            <a:srgbClr val="59201C"/>
          </a:solidFill>
          <a:ln w="12700">
            <a:solidFill>
              <a:srgbClr val="59201C"/>
            </a:solidFill>
            <a:prstDash val="solid"/>
          </a:ln>
        </p:spPr>
      </p:sp>
      <p:sp>
        <p:nvSpPr>
          <p:cNvPr id="6" name="Text 4"/>
          <p:cNvSpPr/>
          <p:nvPr/>
        </p:nvSpPr>
        <p:spPr>
          <a:xfrm>
            <a:off x="566928" y="150876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7" name="Text 5"/>
          <p:cNvSpPr/>
          <p:nvPr/>
        </p:nvSpPr>
        <p:spPr>
          <a:xfrm>
            <a:off x="1069848" y="1481328"/>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Mo's Cookie  $10.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Cookie dough pressed into its own bowl, baked to order, pulled half-baked so the center stays gooey. Vanilla ice cream, Hershey's syrup over everything.</a:t>
            </a:r>
            <a:endParaRPr lang="en-US" sz="1250" dirty="0"/>
          </a:p>
        </p:txBody>
      </p:sp>
      <p:sp>
        <p:nvSpPr>
          <p:cNvPr id="8" name="Shape 6"/>
          <p:cNvSpPr/>
          <p:nvPr/>
        </p:nvSpPr>
        <p:spPr>
          <a:xfrm>
            <a:off x="566928" y="2290572"/>
            <a:ext cx="365760" cy="365760"/>
          </a:xfrm>
          <a:prstGeom prst="ellipse">
            <a:avLst/>
          </a:prstGeom>
          <a:solidFill>
            <a:srgbClr val="59201C"/>
          </a:solidFill>
          <a:ln w="12700">
            <a:solidFill>
              <a:srgbClr val="59201C"/>
            </a:solidFill>
            <a:prstDash val="solid"/>
          </a:ln>
        </p:spPr>
      </p:sp>
      <p:sp>
        <p:nvSpPr>
          <p:cNvPr id="9" name="Text 7"/>
          <p:cNvSpPr/>
          <p:nvPr/>
        </p:nvSpPr>
        <p:spPr>
          <a:xfrm>
            <a:off x="566928" y="2290572"/>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0" name="Text 8"/>
          <p:cNvSpPr/>
          <p:nvPr/>
        </p:nvSpPr>
        <p:spPr>
          <a:xfrm>
            <a:off x="1069848" y="2263140"/>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Celebration Cake  $14.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Five layers of technicolor vanilla with white chocolate mousse, strawberry drizzle, gummi bears — gelatin, worth a word with vegetarians.</a:t>
            </a:r>
            <a:endParaRPr lang="en-US" sz="1250" dirty="0"/>
          </a:p>
        </p:txBody>
      </p:sp>
      <p:sp>
        <p:nvSpPr>
          <p:cNvPr id="11" name="Shape 9"/>
          <p:cNvSpPr/>
          <p:nvPr/>
        </p:nvSpPr>
        <p:spPr>
          <a:xfrm>
            <a:off x="566928" y="3072384"/>
            <a:ext cx="365760" cy="365760"/>
          </a:xfrm>
          <a:prstGeom prst="ellipse">
            <a:avLst/>
          </a:prstGeom>
          <a:solidFill>
            <a:srgbClr val="59201C"/>
          </a:solidFill>
          <a:ln w="12700">
            <a:solidFill>
              <a:srgbClr val="59201C"/>
            </a:solidFill>
            <a:prstDash val="solid"/>
          </a:ln>
        </p:spPr>
      </p:sp>
      <p:sp>
        <p:nvSpPr>
          <p:cNvPr id="12" name="Text 10"/>
          <p:cNvSpPr/>
          <p:nvPr/>
        </p:nvSpPr>
        <p:spPr>
          <a:xfrm>
            <a:off x="566928" y="3072384"/>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3" name="Text 11"/>
          <p:cNvSpPr/>
          <p:nvPr/>
        </p:nvSpPr>
        <p:spPr>
          <a:xfrm>
            <a:off x="1069848" y="3044952"/>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The Mo's Sundae  $15.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Five to six scoops, cookie dough, Hershey's, Meyer's dark rum caramel, strawberry, fresh whipped cream. Rum caramel is the alcohol flag. It was the Kristen Sundae, then the Celebration Sundae, now the Mo's Sundae.</a:t>
            </a:r>
            <a:endParaRPr lang="en-US" sz="1250" dirty="0"/>
          </a:p>
        </p:txBody>
      </p:sp>
      <p:sp>
        <p:nvSpPr>
          <p:cNvPr id="14" name="Shape 12"/>
          <p:cNvSpPr/>
          <p:nvPr/>
        </p:nvSpPr>
        <p:spPr>
          <a:xfrm>
            <a:off x="566928" y="3854196"/>
            <a:ext cx="365760" cy="365760"/>
          </a:xfrm>
          <a:prstGeom prst="ellipse">
            <a:avLst/>
          </a:prstGeom>
          <a:solidFill>
            <a:srgbClr val="59201C"/>
          </a:solidFill>
          <a:ln w="12700">
            <a:solidFill>
              <a:srgbClr val="59201C"/>
            </a:solidFill>
            <a:prstDash val="solid"/>
          </a:ln>
        </p:spPr>
      </p:sp>
      <p:sp>
        <p:nvSpPr>
          <p:cNvPr id="15" name="Text 13"/>
          <p:cNvSpPr/>
          <p:nvPr/>
        </p:nvSpPr>
        <p:spPr>
          <a:xfrm>
            <a:off x="566928" y="3854196"/>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6" name="Text 14"/>
          <p:cNvSpPr/>
          <p:nvPr/>
        </p:nvSpPr>
        <p:spPr>
          <a:xfrm>
            <a:off x="1069848" y="3826764"/>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NY Style Cheesecake  $10.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Dense and rich on graham crust — the density is what makes it New York style.</a:t>
            </a:r>
            <a:endParaRPr lang="en-US" sz="1250" dirty="0"/>
          </a:p>
        </p:txBody>
      </p:sp>
      <p:sp>
        <p:nvSpPr>
          <p:cNvPr id="17" name="Shape 15"/>
          <p:cNvSpPr/>
          <p:nvPr/>
        </p:nvSpPr>
        <p:spPr>
          <a:xfrm>
            <a:off x="566928" y="4636008"/>
            <a:ext cx="365760" cy="365760"/>
          </a:xfrm>
          <a:prstGeom prst="ellipse">
            <a:avLst/>
          </a:prstGeom>
          <a:solidFill>
            <a:srgbClr val="59201C"/>
          </a:solidFill>
          <a:ln w="12700">
            <a:solidFill>
              <a:srgbClr val="59201C"/>
            </a:solidFill>
            <a:prstDash val="solid"/>
          </a:ln>
        </p:spPr>
      </p:sp>
      <p:sp>
        <p:nvSpPr>
          <p:cNvPr id="18" name="Text 16"/>
          <p:cNvSpPr/>
          <p:nvPr/>
        </p:nvSpPr>
        <p:spPr>
          <a:xfrm>
            <a:off x="566928" y="4636008"/>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9" name="Text 17"/>
          <p:cNvSpPr/>
          <p:nvPr/>
        </p:nvSpPr>
        <p:spPr>
          <a:xfrm>
            <a:off x="1069848" y="4608576"/>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Bailey's Creme Brulee  $10.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Custard spiked with Bailey's, raw demerara torched into a glassy shell you crack with the spoon.</a:t>
            </a:r>
            <a:endParaRPr lang="en-US" sz="1250" dirty="0"/>
          </a:p>
        </p:txBody>
      </p:sp>
      <p:sp>
        <p:nvSpPr>
          <p:cNvPr id="20" name="Shape 18"/>
          <p:cNvSpPr/>
          <p:nvPr/>
        </p:nvSpPr>
        <p:spPr>
          <a:xfrm>
            <a:off x="566928" y="5417820"/>
            <a:ext cx="365760" cy="365760"/>
          </a:xfrm>
          <a:prstGeom prst="ellipse">
            <a:avLst/>
          </a:prstGeom>
          <a:solidFill>
            <a:srgbClr val="59201C"/>
          </a:solidFill>
          <a:ln w="12700">
            <a:solidFill>
              <a:srgbClr val="59201C"/>
            </a:solidFill>
            <a:prstDash val="solid"/>
          </a:ln>
        </p:spPr>
      </p:sp>
      <p:sp>
        <p:nvSpPr>
          <p:cNvPr id="21" name="Text 19"/>
          <p:cNvSpPr/>
          <p:nvPr/>
        </p:nvSpPr>
        <p:spPr>
          <a:xfrm>
            <a:off x="566928" y="541782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22" name="Text 20"/>
          <p:cNvSpPr/>
          <p:nvPr/>
        </p:nvSpPr>
        <p:spPr>
          <a:xfrm>
            <a:off x="1069848" y="5390388"/>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Colossal Carrot Cake  $14.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Cream cheese icing, moist through from pineapple in the batter — that is where the pineapple flag comes from.</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Desserts</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The ones with a show</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4 — Alternatives, Accessories and Desserts</a:t>
            </a:r>
            <a:endParaRPr lang="en-US" sz="950" dirty="0"/>
          </a:p>
        </p:txBody>
      </p:sp>
      <p:sp>
        <p:nvSpPr>
          <p:cNvPr id="5" name="Shape 3"/>
          <p:cNvSpPr/>
          <p:nvPr/>
        </p:nvSpPr>
        <p:spPr>
          <a:xfrm>
            <a:off x="566928" y="1572768"/>
            <a:ext cx="5428336" cy="1874520"/>
          </a:xfrm>
          <a:prstGeom prst="roundRect">
            <a:avLst>
              <a:gd name="adj" fmla="val 2927"/>
            </a:avLst>
          </a:prstGeom>
          <a:solidFill>
            <a:srgbClr val="F2E9D8"/>
          </a:solidFill>
          <a:ln w="12700">
            <a:solidFill>
              <a:srgbClr val="E4D8C0"/>
            </a:solidFill>
            <a:prstDash val="solid"/>
          </a:ln>
        </p:spPr>
      </p:sp>
      <p:sp>
        <p:nvSpPr>
          <p:cNvPr id="6" name="Text 4"/>
          <p:cNvSpPr/>
          <p:nvPr/>
        </p:nvSpPr>
        <p:spPr>
          <a:xfrm>
            <a:off x="749808" y="1719072"/>
            <a:ext cx="5062576"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Molten Lava Cake</a:t>
            </a:r>
            <a:endParaRPr lang="en-US" sz="1450" dirty="0"/>
          </a:p>
        </p:txBody>
      </p:sp>
      <p:sp>
        <p:nvSpPr>
          <p:cNvPr id="7" name="Text 5"/>
          <p:cNvSpPr/>
          <p:nvPr/>
        </p:nvSpPr>
        <p:spPr>
          <a:xfrm>
            <a:off x="749808" y="2029968"/>
            <a:ext cx="5062576"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$13</a:t>
            </a:r>
            <a:endParaRPr lang="en-US" sz="1100" dirty="0"/>
          </a:p>
        </p:txBody>
      </p:sp>
      <p:sp>
        <p:nvSpPr>
          <p:cNvPr id="8" name="Text 6"/>
          <p:cNvSpPr/>
          <p:nvPr/>
        </p:nvSpPr>
        <p:spPr>
          <a:xfrm>
            <a:off x="749808" y="2286000"/>
            <a:ext cx="5062576" cy="101498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A chocolate dome over chocolate cake, strawberries, ice cream. Light the orange liqueur and chocolate sauce and pour it flaming over the dome — it melts away to reveal what is underneath. Menu marks it GF and flourless, but it still carries egg, dairy, soy and that liqueur.</a:t>
            </a:r>
            <a:endParaRPr lang="en-US" sz="1100" dirty="0"/>
          </a:p>
        </p:txBody>
      </p:sp>
      <p:sp>
        <p:nvSpPr>
          <p:cNvPr id="9" name="Shape 7"/>
          <p:cNvSpPr/>
          <p:nvPr/>
        </p:nvSpPr>
        <p:spPr>
          <a:xfrm>
            <a:off x="6196432" y="1572768"/>
            <a:ext cx="5428336" cy="1874520"/>
          </a:xfrm>
          <a:prstGeom prst="roundRect">
            <a:avLst>
              <a:gd name="adj" fmla="val 2927"/>
            </a:avLst>
          </a:prstGeom>
          <a:solidFill>
            <a:srgbClr val="F2E9D8"/>
          </a:solidFill>
          <a:ln w="12700">
            <a:solidFill>
              <a:srgbClr val="E4D8C0"/>
            </a:solidFill>
            <a:prstDash val="solid"/>
          </a:ln>
        </p:spPr>
      </p:sp>
      <p:sp>
        <p:nvSpPr>
          <p:cNvPr id="10" name="Text 8"/>
          <p:cNvSpPr/>
          <p:nvPr/>
        </p:nvSpPr>
        <p:spPr>
          <a:xfrm>
            <a:off x="6379312" y="1719072"/>
            <a:ext cx="5062576"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Brown Butter Cake</a:t>
            </a:r>
            <a:endParaRPr lang="en-US" sz="1450" dirty="0"/>
          </a:p>
        </p:txBody>
      </p:sp>
      <p:sp>
        <p:nvSpPr>
          <p:cNvPr id="11" name="Text 9"/>
          <p:cNvSpPr/>
          <p:nvPr/>
        </p:nvSpPr>
        <p:spPr>
          <a:xfrm>
            <a:off x="6379312" y="2029968"/>
            <a:ext cx="5062576"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$14</a:t>
            </a:r>
            <a:endParaRPr lang="en-US" sz="1100" dirty="0"/>
          </a:p>
        </p:txBody>
      </p:sp>
      <p:sp>
        <p:nvSpPr>
          <p:cNvPr id="12" name="Text 10"/>
          <p:cNvSpPr/>
          <p:nvPr/>
        </p:nvSpPr>
        <p:spPr>
          <a:xfrm>
            <a:off x="6379312" y="2286000"/>
            <a:ext cx="5062576" cy="101498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Browned butter and brown sugar are the whole flavor story. Warm, with vanilla ice cream, caramel and Granny Smith apple slices to cut the richness — and it rolls out with the dry-ice cloud, hot water poured over dry ice right in the bowl.</a:t>
            </a:r>
            <a:endParaRPr lang="en-US" sz="1100" dirty="0"/>
          </a:p>
        </p:txBody>
      </p:sp>
      <p:sp>
        <p:nvSpPr>
          <p:cNvPr id="13" name="Shape 11"/>
          <p:cNvSpPr/>
          <p:nvPr/>
        </p:nvSpPr>
        <p:spPr>
          <a:xfrm>
            <a:off x="566928" y="3648456"/>
            <a:ext cx="5428336" cy="1874520"/>
          </a:xfrm>
          <a:prstGeom prst="roundRect">
            <a:avLst>
              <a:gd name="adj" fmla="val 2927"/>
            </a:avLst>
          </a:prstGeom>
          <a:solidFill>
            <a:srgbClr val="F2E9D8"/>
          </a:solidFill>
          <a:ln w="12700">
            <a:solidFill>
              <a:srgbClr val="E4D8C0"/>
            </a:solidFill>
            <a:prstDash val="solid"/>
          </a:ln>
        </p:spPr>
      </p:sp>
      <p:sp>
        <p:nvSpPr>
          <p:cNvPr id="14" name="Text 12"/>
          <p:cNvSpPr/>
          <p:nvPr/>
        </p:nvSpPr>
        <p:spPr>
          <a:xfrm>
            <a:off x="749808" y="3794760"/>
            <a:ext cx="5062576"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Cotton Candy</a:t>
            </a:r>
            <a:endParaRPr lang="en-US" sz="1450" dirty="0"/>
          </a:p>
        </p:txBody>
      </p:sp>
      <p:sp>
        <p:nvSpPr>
          <p:cNvPr id="15" name="Text 13"/>
          <p:cNvSpPr/>
          <p:nvPr/>
        </p:nvSpPr>
        <p:spPr>
          <a:xfrm>
            <a:off x="749808" y="4105656"/>
            <a:ext cx="5062576"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$12</a:t>
            </a:r>
            <a:endParaRPr lang="en-US" sz="1100" dirty="0"/>
          </a:p>
        </p:txBody>
      </p:sp>
      <p:sp>
        <p:nvSpPr>
          <p:cNvPr id="16" name="Text 14"/>
          <p:cNvSpPr/>
          <p:nvPr/>
        </p:nvSpPr>
        <p:spPr>
          <a:xfrm>
            <a:off x="749808" y="4361688"/>
            <a:ext cx="5062576" cy="101498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Spun to order on a light-up stick, set in a black wooden block. Every color of the rainbow, all taste like sugar — tell the table “pick your color.” Pairs with Ruffino Moscato.</a:t>
            </a:r>
            <a:endParaRPr lang="en-US" sz="1100" dirty="0"/>
          </a:p>
        </p:txBody>
      </p:sp>
      <p:sp>
        <p:nvSpPr>
          <p:cNvPr id="17" name="Shape 15"/>
          <p:cNvSpPr/>
          <p:nvPr/>
        </p:nvSpPr>
        <p:spPr>
          <a:xfrm>
            <a:off x="6196432" y="3648456"/>
            <a:ext cx="5428336" cy="1874520"/>
          </a:xfrm>
          <a:prstGeom prst="roundRect">
            <a:avLst>
              <a:gd name="adj" fmla="val 2927"/>
            </a:avLst>
          </a:prstGeom>
          <a:solidFill>
            <a:srgbClr val="F2E9D8"/>
          </a:solidFill>
          <a:ln w="12700">
            <a:solidFill>
              <a:srgbClr val="E4D8C0"/>
            </a:solidFill>
            <a:prstDash val="solid"/>
          </a:ln>
        </p:spPr>
      </p:sp>
      <p:sp>
        <p:nvSpPr>
          <p:cNvPr id="18" name="Text 16"/>
          <p:cNvSpPr/>
          <p:nvPr/>
        </p:nvSpPr>
        <p:spPr>
          <a:xfrm>
            <a:off x="6379312" y="3794760"/>
            <a:ext cx="5062576"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Bananas Foster</a:t>
            </a:r>
            <a:endParaRPr lang="en-US" sz="1450" dirty="0"/>
          </a:p>
        </p:txBody>
      </p:sp>
      <p:sp>
        <p:nvSpPr>
          <p:cNvPr id="19" name="Text 17"/>
          <p:cNvSpPr/>
          <p:nvPr/>
        </p:nvSpPr>
        <p:spPr>
          <a:xfrm>
            <a:off x="6379312" y="4105656"/>
            <a:ext cx="5062576"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$12 per person, minimum two</a:t>
            </a:r>
            <a:endParaRPr lang="en-US" sz="1100" dirty="0"/>
          </a:p>
        </p:txBody>
      </p:sp>
      <p:sp>
        <p:nvSpPr>
          <p:cNvPr id="20" name="Text 18"/>
          <p:cNvSpPr/>
          <p:nvPr/>
        </p:nvSpPr>
        <p:spPr>
          <a:xfrm>
            <a:off x="6379312" y="4361688"/>
            <a:ext cx="5062576" cy="101498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The back server's show start to finish. Per person: one scoop of brown butter and half a banana, plus half an orange per two bananas. Melt the butter, coat the bananas, add the orange so nothing burns, pour the 99 Oranges over and light it, then sprinkle cinnamon into the fire and watch it spark.</a:t>
            </a:r>
            <a:endParaRPr lang="en-US" sz="1100" dirty="0"/>
          </a:p>
        </p:txBody>
      </p:sp>
      <p:sp>
        <p:nvSpPr>
          <p:cNvPr id="21" name="Shape 19"/>
          <p:cNvSpPr/>
          <p:nvPr/>
        </p:nvSpPr>
        <p:spPr>
          <a:xfrm>
            <a:off x="566928" y="5632704"/>
            <a:ext cx="11057839" cy="749808"/>
          </a:xfrm>
          <a:prstGeom prst="roundRect">
            <a:avLst>
              <a:gd name="adj" fmla="val 7317"/>
            </a:avLst>
          </a:prstGeom>
          <a:solidFill>
            <a:srgbClr val="F3E7E4"/>
          </a:solidFill>
          <a:ln w="12700">
            <a:solidFill>
              <a:srgbClr val="E2CCC7"/>
            </a:solidFill>
            <a:prstDash val="solid"/>
          </a:ln>
        </p:spPr>
      </p:sp>
      <p:sp>
        <p:nvSpPr>
          <p:cNvPr id="22" name="Text 20"/>
          <p:cNvSpPr/>
          <p:nvPr/>
        </p:nvSpPr>
        <p:spPr>
          <a:xfrm>
            <a:off x="768096" y="5705856"/>
            <a:ext cx="10655503" cy="603504"/>
          </a:xfrm>
          <a:prstGeom prst="rect">
            <a:avLst/>
          </a:prstGeom>
          <a:noFill/>
          <a:ln/>
        </p:spPr>
        <p:txBody>
          <a:bodyPr wrap="square" lIns="0" tIns="0" rIns="0" bIns="0" rtlCol="0" anchor="ctr"/>
          <a:lstStyle/>
          <a:p>
            <a:pPr indent="0" marL="0">
              <a:lnSpc>
                <a:spcPts val="1600"/>
              </a:lnSpc>
              <a:buNone/>
            </a:pPr>
            <a:r>
              <a:rPr lang="en-US" sz="1250" b="1" dirty="0">
                <a:solidFill>
                  <a:srgbClr val="59201C"/>
                </a:solidFill>
                <a:latin typeface="Calibri" pitchFamily="34" charset="0"/>
                <a:ea typeface="Calibri" pitchFamily="34" charset="-122"/>
                <a:cs typeface="Calibri" pitchFamily="34" charset="-120"/>
              </a:rPr>
              <a:t>Also in the building:  </a:t>
            </a:r>
            <a:pPr indent="0" marL="0">
              <a:lnSpc>
                <a:spcPts val="1600"/>
              </a:lnSpc>
              <a:buNone/>
            </a:pPr>
            <a:r>
              <a:rPr lang="en-US" sz="1250" dirty="0">
                <a:solidFill>
                  <a:srgbClr val="2B2118"/>
                </a:solidFill>
                <a:latin typeface="Calibri" pitchFamily="34" charset="0"/>
                <a:ea typeface="Calibri" pitchFamily="34" charset="-122"/>
                <a:cs typeface="Calibri" pitchFamily="34" charset="-120"/>
              </a:rPr>
              <a:t>raspberry and lemon sorbet, dairy-free and off the menu, and pistachio gelato — dairy and tree nuts. Relay the flavors when a guest asks for something light.</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The celebration machine</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Every celebrating table gets a free treat — their pick</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4 — Alternatives, Accessories and Desserts</a:t>
            </a:r>
            <a:endParaRPr lang="en-US" sz="950" dirty="0"/>
          </a:p>
        </p:txBody>
      </p:sp>
      <p:sp>
        <p:nvSpPr>
          <p:cNvPr id="5" name="Shape 3"/>
          <p:cNvSpPr/>
          <p:nvPr/>
        </p:nvSpPr>
        <p:spPr>
          <a:xfrm>
            <a:off x="566928" y="1572768"/>
            <a:ext cx="3551834" cy="1828800"/>
          </a:xfrm>
          <a:prstGeom prst="roundRect">
            <a:avLst>
              <a:gd name="adj" fmla="val 3000"/>
            </a:avLst>
          </a:prstGeom>
          <a:solidFill>
            <a:srgbClr val="F2E9D8"/>
          </a:solidFill>
          <a:ln w="12700">
            <a:solidFill>
              <a:srgbClr val="E4D8C0"/>
            </a:solidFill>
            <a:prstDash val="solid"/>
          </a:ln>
        </p:spPr>
      </p:sp>
      <p:sp>
        <p:nvSpPr>
          <p:cNvPr id="6" name="Text 4"/>
          <p:cNvSpPr/>
          <p:nvPr/>
        </p:nvSpPr>
        <p:spPr>
          <a:xfrm>
            <a:off x="749808" y="1719072"/>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Celebration Sundae</a:t>
            </a:r>
            <a:endParaRPr lang="en-US" sz="1450" dirty="0"/>
          </a:p>
        </p:txBody>
      </p:sp>
      <p:sp>
        <p:nvSpPr>
          <p:cNvPr id="7" name="Text 5"/>
          <p:cNvSpPr/>
          <p:nvPr/>
        </p:nvSpPr>
        <p:spPr>
          <a:xfrm>
            <a:off x="749808"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comp</a:t>
            </a:r>
            <a:endParaRPr lang="en-US" sz="1100" dirty="0"/>
          </a:p>
        </p:txBody>
      </p:sp>
      <p:sp>
        <p:nvSpPr>
          <p:cNvPr id="8" name="Text 6"/>
          <p:cNvSpPr/>
          <p:nvPr/>
        </p:nvSpPr>
        <p:spPr>
          <a:xfrm>
            <a:off x="749808" y="2286000"/>
            <a:ext cx="3186074" cy="96926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Ice cream in a large soup bowl with chocolate, caramel, and a sprinkle or two.</a:t>
            </a:r>
            <a:endParaRPr lang="en-US" sz="1100" dirty="0"/>
          </a:p>
        </p:txBody>
      </p:sp>
      <p:sp>
        <p:nvSpPr>
          <p:cNvPr id="9" name="Shape 7"/>
          <p:cNvSpPr/>
          <p:nvPr/>
        </p:nvSpPr>
        <p:spPr>
          <a:xfrm>
            <a:off x="4319930" y="1572768"/>
            <a:ext cx="3551834" cy="1828800"/>
          </a:xfrm>
          <a:prstGeom prst="roundRect">
            <a:avLst>
              <a:gd name="adj" fmla="val 3000"/>
            </a:avLst>
          </a:prstGeom>
          <a:solidFill>
            <a:srgbClr val="F2E9D8"/>
          </a:solidFill>
          <a:ln w="12700">
            <a:solidFill>
              <a:srgbClr val="E4D8C0"/>
            </a:solidFill>
            <a:prstDash val="solid"/>
          </a:ln>
        </p:spPr>
      </p:sp>
      <p:sp>
        <p:nvSpPr>
          <p:cNvPr id="10" name="Text 8"/>
          <p:cNvSpPr/>
          <p:nvPr/>
        </p:nvSpPr>
        <p:spPr>
          <a:xfrm>
            <a:off x="4502810" y="1719072"/>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Comp Mo's Cookie</a:t>
            </a:r>
            <a:endParaRPr lang="en-US" sz="1450" dirty="0"/>
          </a:p>
        </p:txBody>
      </p:sp>
      <p:sp>
        <p:nvSpPr>
          <p:cNvPr id="11" name="Text 9"/>
          <p:cNvSpPr/>
          <p:nvPr/>
        </p:nvSpPr>
        <p:spPr>
          <a:xfrm>
            <a:off x="4502810"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comp</a:t>
            </a:r>
            <a:endParaRPr lang="en-US" sz="1100" dirty="0"/>
          </a:p>
        </p:txBody>
      </p:sp>
      <p:sp>
        <p:nvSpPr>
          <p:cNvPr id="12" name="Text 10"/>
          <p:cNvSpPr/>
          <p:nvPr/>
        </p:nvSpPr>
        <p:spPr>
          <a:xfrm>
            <a:off x="4502810" y="2286000"/>
            <a:ext cx="3186074" cy="96926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The chocolate gets poured by the server, at the table.</a:t>
            </a:r>
            <a:endParaRPr lang="en-US" sz="1100" dirty="0"/>
          </a:p>
        </p:txBody>
      </p:sp>
      <p:sp>
        <p:nvSpPr>
          <p:cNvPr id="13" name="Shape 11"/>
          <p:cNvSpPr/>
          <p:nvPr/>
        </p:nvSpPr>
        <p:spPr>
          <a:xfrm>
            <a:off x="8072933" y="1572768"/>
            <a:ext cx="3551834" cy="1828800"/>
          </a:xfrm>
          <a:prstGeom prst="roundRect">
            <a:avLst>
              <a:gd name="adj" fmla="val 3000"/>
            </a:avLst>
          </a:prstGeom>
          <a:solidFill>
            <a:srgbClr val="F2E9D8"/>
          </a:solidFill>
          <a:ln w="12700">
            <a:solidFill>
              <a:srgbClr val="E4D8C0"/>
            </a:solidFill>
            <a:prstDash val="solid"/>
          </a:ln>
        </p:spPr>
      </p:sp>
      <p:sp>
        <p:nvSpPr>
          <p:cNvPr id="14" name="Text 12"/>
          <p:cNvSpPr/>
          <p:nvPr/>
        </p:nvSpPr>
        <p:spPr>
          <a:xfrm>
            <a:off x="8255813" y="1719072"/>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We do NOT sing</a:t>
            </a:r>
            <a:endParaRPr lang="en-US" sz="1450" dirty="0"/>
          </a:p>
        </p:txBody>
      </p:sp>
      <p:sp>
        <p:nvSpPr>
          <p:cNvPr id="15" name="Text 13"/>
          <p:cNvSpPr/>
          <p:nvPr/>
        </p:nvSpPr>
        <p:spPr>
          <a:xfrm>
            <a:off x="8255813"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we light a sparkler</a:t>
            </a:r>
            <a:endParaRPr lang="en-US" sz="1100" dirty="0"/>
          </a:p>
        </p:txBody>
      </p:sp>
      <p:sp>
        <p:nvSpPr>
          <p:cNvPr id="16" name="Text 14"/>
          <p:cNvSpPr/>
          <p:nvPr/>
        </p:nvSpPr>
        <p:spPr>
          <a:xfrm>
            <a:off x="8255813" y="2286000"/>
            <a:ext cx="3186074" cy="96926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Pull the spent sparkler with a black linen, and hold the ice cream down with the serving spoon so it does not come along for the ride.</a:t>
            </a:r>
            <a:endParaRPr lang="en-US" sz="1100" dirty="0"/>
          </a:p>
        </p:txBody>
      </p:sp>
      <p:sp>
        <p:nvSpPr>
          <p:cNvPr id="17" name="Shape 15"/>
          <p:cNvSpPr/>
          <p:nvPr/>
        </p:nvSpPr>
        <p:spPr>
          <a:xfrm>
            <a:off x="566928" y="3703320"/>
            <a:ext cx="11057839" cy="749808"/>
          </a:xfrm>
          <a:prstGeom prst="roundRect">
            <a:avLst>
              <a:gd name="adj" fmla="val 7317"/>
            </a:avLst>
          </a:prstGeom>
          <a:solidFill>
            <a:srgbClr val="F3E7E4"/>
          </a:solidFill>
          <a:ln w="12700">
            <a:solidFill>
              <a:srgbClr val="E2CCC7"/>
            </a:solidFill>
            <a:prstDash val="solid"/>
          </a:ln>
        </p:spPr>
      </p:sp>
      <p:sp>
        <p:nvSpPr>
          <p:cNvPr id="18" name="Text 16"/>
          <p:cNvSpPr/>
          <p:nvPr/>
        </p:nvSpPr>
        <p:spPr>
          <a:xfrm>
            <a:off x="768096" y="3776472"/>
            <a:ext cx="10655503" cy="603504"/>
          </a:xfrm>
          <a:prstGeom prst="rect">
            <a:avLst/>
          </a:prstGeom>
          <a:noFill/>
          <a:ln/>
        </p:spPr>
        <p:txBody>
          <a:bodyPr wrap="square" lIns="0" tIns="0" rIns="0" bIns="0" rtlCol="0" anchor="ctr"/>
          <a:lstStyle/>
          <a:p>
            <a:pPr indent="0" marL="0">
              <a:lnSpc>
                <a:spcPts val="1600"/>
              </a:lnSpc>
              <a:buNone/>
            </a:pPr>
            <a:r>
              <a:rPr lang="en-US" sz="1250" b="1" dirty="0">
                <a:solidFill>
                  <a:srgbClr val="59201C"/>
                </a:solidFill>
                <a:latin typeface="Calibri" pitchFamily="34" charset="0"/>
                <a:ea typeface="Calibri" pitchFamily="34" charset="-122"/>
                <a:cs typeface="Calibri" pitchFamily="34" charset="-120"/>
              </a:rPr>
              <a:t>The dessert course is also the after-dinner drink course.  </a:t>
            </a:r>
            <a:pPr indent="0" marL="0">
              <a:lnSpc>
                <a:spcPts val="1600"/>
              </a:lnSpc>
              <a:buNone/>
            </a:pPr>
            <a:r>
              <a:rPr lang="en-US" sz="1250" dirty="0">
                <a:solidFill>
                  <a:srgbClr val="2B2118"/>
                </a:solidFill>
                <a:latin typeface="Calibri" pitchFamily="34" charset="0"/>
                <a:ea typeface="Calibri" pitchFamily="34" charset="-122"/>
                <a:cs typeface="Calibri" pitchFamily="34" charset="-120"/>
              </a:rPr>
              <a:t>Port, espresso martinis, the Esso Affo, the Coco Caramel Carajillo. Day 9 covers them — sell them together.</a:t>
            </a:r>
            <a:endParaRPr lang="en-US" sz="1250" dirty="0"/>
          </a:p>
        </p:txBody>
      </p:sp>
      <p:sp>
        <p:nvSpPr>
          <p:cNvPr id="19" name="Text 17"/>
          <p:cNvSpPr/>
          <p:nvPr/>
        </p:nvSpPr>
        <p:spPr>
          <a:xfrm>
            <a:off x="566928" y="4681728"/>
            <a:ext cx="11057839" cy="365760"/>
          </a:xfrm>
          <a:prstGeom prst="rect">
            <a:avLst/>
          </a:prstGeom>
          <a:noFill/>
          <a:ln/>
        </p:spPr>
        <p:txBody>
          <a:bodyPr wrap="square" lIns="0" tIns="0" rIns="0" bIns="0" rtlCol="0" anchor="ctr"/>
          <a:lstStyle/>
          <a:p>
            <a:pPr algn="ctr" indent="0" marL="0">
              <a:buNone/>
            </a:pPr>
            <a:r>
              <a:rPr lang="en-US" sz="1700" b="1" i="1" dirty="0">
                <a:solidFill>
                  <a:srgbClr val="59201C"/>
                </a:solidFill>
                <a:latin typeface="Cambria" pitchFamily="34" charset="0"/>
                <a:ea typeface="Cambria" pitchFamily="34" charset="-122"/>
                <a:cs typeface="Cambria" pitchFamily="34" charset="-120"/>
              </a:rPr>
              <a:t>Every celebration gets a sparkler. Sing only if you want to.</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Place a picture here</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Day 4 — Alternatives, Accessories and Desserts</a:t>
            </a:r>
            <a:endParaRPr lang="en-US" sz="1350" dirty="0"/>
          </a:p>
        </p:txBody>
      </p:sp>
      <p:sp>
        <p:nvSpPr>
          <p:cNvPr id="4" name="Shape 2"/>
          <p:cNvSpPr/>
          <p:nvPr/>
        </p:nvSpPr>
        <p:spPr>
          <a:xfrm>
            <a:off x="566928" y="1481328"/>
            <a:ext cx="11057839" cy="3310128"/>
          </a:xfrm>
          <a:prstGeom prst="roundRect">
            <a:avLst>
              <a:gd name="adj" fmla="val 2210"/>
            </a:avLst>
          </a:prstGeom>
          <a:solidFill>
            <a:srgbClr val="FBF3E2"/>
          </a:solidFill>
          <a:ln w="28575">
            <a:solidFill>
              <a:srgbClr val="B0812F"/>
            </a:solidFill>
            <a:prstDash val="dash"/>
          </a:ln>
        </p:spPr>
      </p:sp>
      <p:sp>
        <p:nvSpPr>
          <p:cNvPr id="5" name="Text 3"/>
          <p:cNvSpPr/>
          <p:nvPr/>
        </p:nvSpPr>
        <p:spPr>
          <a:xfrm>
            <a:off x="566928" y="1847088"/>
            <a:ext cx="11057839" cy="329184"/>
          </a:xfrm>
          <a:prstGeom prst="rect">
            <a:avLst/>
          </a:prstGeom>
          <a:noFill/>
          <a:ln/>
        </p:spPr>
        <p:txBody>
          <a:bodyPr wrap="square" lIns="0" tIns="0" rIns="0" bIns="0" rtlCol="0" anchor="ctr"/>
          <a:lstStyle/>
          <a:p>
            <a:pPr algn="ctr" indent="0" marL="0">
              <a:buNone/>
            </a:pPr>
            <a:r>
              <a:rPr lang="en-US" sz="1300" b="1" spc="300" kern="0" dirty="0">
                <a:solidFill>
                  <a:srgbClr val="B0812F"/>
                </a:solidFill>
                <a:latin typeface="Calibri" pitchFamily="34" charset="0"/>
                <a:ea typeface="Calibri" pitchFamily="34" charset="-122"/>
                <a:cs typeface="Calibri" pitchFamily="34" charset="-120"/>
              </a:rPr>
              <a:t>PLACE PICTURE OF</a:t>
            </a:r>
            <a:endParaRPr lang="en-US" sz="1300" dirty="0"/>
          </a:p>
        </p:txBody>
      </p:sp>
      <p:sp>
        <p:nvSpPr>
          <p:cNvPr id="6" name="Text 4"/>
          <p:cNvSpPr/>
          <p:nvPr/>
        </p:nvSpPr>
        <p:spPr>
          <a:xfrm>
            <a:off x="1207008" y="2212848"/>
            <a:ext cx="9777679" cy="1371600"/>
          </a:xfrm>
          <a:prstGeom prst="rect">
            <a:avLst/>
          </a:prstGeom>
          <a:noFill/>
          <a:ln/>
        </p:spPr>
        <p:txBody>
          <a:bodyPr wrap="square" lIns="0" tIns="0" rIns="0" bIns="0" rtlCol="0" anchor="ctr"/>
          <a:lstStyle/>
          <a:p>
            <a:pPr algn="ctr" indent="0" marL="0">
              <a:lnSpc>
                <a:spcPts val="3800"/>
              </a:lnSpc>
              <a:buNone/>
            </a:pPr>
            <a:r>
              <a:rPr lang="en-US" sz="3100" b="1" dirty="0">
                <a:solidFill>
                  <a:srgbClr val="59201C"/>
                </a:solidFill>
                <a:latin typeface="Cambria" pitchFamily="34" charset="0"/>
                <a:ea typeface="Cambria" pitchFamily="34" charset="-122"/>
                <a:cs typeface="Cambria" pitchFamily="34" charset="-120"/>
              </a:rPr>
              <a:t>EVERY DESSERT AND EVERY SHOW</a:t>
            </a:r>
            <a:endParaRPr lang="en-US" sz="3100" dirty="0"/>
          </a:p>
        </p:txBody>
      </p:sp>
      <p:sp>
        <p:nvSpPr>
          <p:cNvPr id="7" name="Text 5"/>
          <p:cNvSpPr/>
          <p:nvPr/>
        </p:nvSpPr>
        <p:spPr>
          <a:xfrm>
            <a:off x="566928" y="3657600"/>
            <a:ext cx="11057839" cy="329184"/>
          </a:xfrm>
          <a:prstGeom prst="rect">
            <a:avLst/>
          </a:prstGeom>
          <a:noFill/>
          <a:ln/>
        </p:spPr>
        <p:txBody>
          <a:bodyPr wrap="square" lIns="0" tIns="0" rIns="0" bIns="0" rtlCol="0" anchor="ctr"/>
          <a:lstStyle/>
          <a:p>
            <a:pPr algn="ctr" indent="0" marL="0">
              <a:buNone/>
            </a:pPr>
            <a:r>
              <a:rPr lang="en-US" sz="1300" b="1" spc="300" kern="0" dirty="0">
                <a:solidFill>
                  <a:srgbClr val="B0812F"/>
                </a:solidFill>
                <a:latin typeface="Calibri" pitchFamily="34" charset="0"/>
                <a:ea typeface="Calibri" pitchFamily="34" charset="-122"/>
                <a:cs typeface="Calibri" pitchFamily="34" charset="-120"/>
              </a:rPr>
              <a:t>HERE</a:t>
            </a:r>
            <a:endParaRPr lang="en-US" sz="1300" dirty="0"/>
          </a:p>
        </p:txBody>
      </p:sp>
      <p:sp>
        <p:nvSpPr>
          <p:cNvPr id="8" name="Text 6"/>
          <p:cNvSpPr/>
          <p:nvPr/>
        </p:nvSpPr>
        <p:spPr>
          <a:xfrm>
            <a:off x="1481328" y="4041648"/>
            <a:ext cx="9229039" cy="566928"/>
          </a:xfrm>
          <a:prstGeom prst="rect">
            <a:avLst/>
          </a:prstGeom>
          <a:noFill/>
          <a:ln/>
        </p:spPr>
        <p:txBody>
          <a:bodyPr wrap="square" lIns="0" tIns="0" rIns="0" bIns="0" rtlCol="0" anchor="t"/>
          <a:lstStyle/>
          <a:p>
            <a:pPr algn="ctr" indent="0" marL="0">
              <a:lnSpc>
                <a:spcPts val="1600"/>
              </a:lnSpc>
              <a:buNone/>
            </a:pPr>
            <a:r>
              <a:rPr lang="en-US" sz="1200" i="1" dirty="0">
                <a:solidFill>
                  <a:srgbClr val="6B5B4B"/>
                </a:solidFill>
                <a:latin typeface="Calibri" pitchFamily="34" charset="0"/>
                <a:ea typeface="Calibri" pitchFamily="34" charset="-122"/>
                <a:cs typeface="Calibri" pitchFamily="34" charset="-120"/>
              </a:rPr>
              <a:t>The lava cake mid-pour, the dry-ice cloud, the sparkler, Bananas Foster on fire. These sell dessert before you open your mouth.</a:t>
            </a:r>
            <a:endParaRPr lang="en-US" sz="1200" dirty="0"/>
          </a:p>
        </p:txBody>
      </p:sp>
      <p:sp>
        <p:nvSpPr>
          <p:cNvPr id="9" name="Text 7"/>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4 — Alternatives, Accessories and Desserts</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59201C"/>
        </a:solidFill>
      </p:bgPr>
    </p:bg>
    <p:spTree>
      <p:nvGrpSpPr>
        <p:cNvPr id="1" name=""/>
        <p:cNvGrpSpPr/>
        <p:nvPr/>
      </p:nvGrpSpPr>
      <p:grpSpPr>
        <a:xfrm>
          <a:off x="0" y="0"/>
          <a:ext cx="0" cy="0"/>
          <a:chOff x="0" y="0"/>
          <a:chExt cx="0" cy="0"/>
        </a:xfrm>
      </p:grpSpPr>
      <p:sp>
        <p:nvSpPr>
          <p:cNvPr id="2" name="Shape 0"/>
          <p:cNvSpPr/>
          <p:nvPr/>
        </p:nvSpPr>
        <p:spPr>
          <a:xfrm>
            <a:off x="566928" y="1737360"/>
            <a:ext cx="1051560" cy="1051560"/>
          </a:xfrm>
          <a:prstGeom prst="ellipse">
            <a:avLst/>
          </a:prstGeom>
          <a:solidFill>
            <a:srgbClr val="F7EFE4"/>
          </a:solidFill>
          <a:ln w="12700">
            <a:solidFill>
              <a:srgbClr val="F7EFE4"/>
            </a:solidFill>
            <a:prstDash val="solid"/>
          </a:ln>
        </p:spPr>
      </p:sp>
      <p:sp>
        <p:nvSpPr>
          <p:cNvPr id="3" name="Text 1"/>
          <p:cNvSpPr/>
          <p:nvPr/>
        </p:nvSpPr>
        <p:spPr>
          <a:xfrm>
            <a:off x="566928" y="1737360"/>
            <a:ext cx="1051560" cy="1051560"/>
          </a:xfrm>
          <a:prstGeom prst="rect">
            <a:avLst/>
          </a:prstGeom>
          <a:noFill/>
          <a:ln/>
        </p:spPr>
        <p:txBody>
          <a:bodyPr wrap="square" lIns="0" tIns="0" rIns="0" bIns="0" rtlCol="0" anchor="ctr"/>
          <a:lstStyle/>
          <a:p>
            <a:pPr algn="ctr" indent="0" marL="0">
              <a:buNone/>
            </a:pPr>
            <a:r>
              <a:rPr lang="en-US" sz="4000" b="1" dirty="0">
                <a:solidFill>
                  <a:srgbClr val="59201C"/>
                </a:solidFill>
                <a:latin typeface="Cambria" pitchFamily="34" charset="0"/>
                <a:ea typeface="Cambria" pitchFamily="34" charset="-122"/>
                <a:cs typeface="Cambria" pitchFamily="34" charset="-120"/>
              </a:rPr>
              <a:t>5</a:t>
            </a:r>
            <a:endParaRPr lang="en-US" sz="4000" dirty="0"/>
          </a:p>
        </p:txBody>
      </p:sp>
      <p:sp>
        <p:nvSpPr>
          <p:cNvPr id="4" name="Text 2"/>
          <p:cNvSpPr/>
          <p:nvPr/>
        </p:nvSpPr>
        <p:spPr>
          <a:xfrm>
            <a:off x="1938528" y="1700784"/>
            <a:ext cx="9686239" cy="786384"/>
          </a:xfrm>
          <a:prstGeom prst="rect">
            <a:avLst/>
          </a:prstGeom>
          <a:noFill/>
          <a:ln/>
        </p:spPr>
        <p:txBody>
          <a:bodyPr wrap="square" lIns="0" tIns="0" rIns="0" bIns="0" rtlCol="0" anchor="ctr"/>
          <a:lstStyle/>
          <a:p>
            <a:pPr indent="0" marL="0">
              <a:buNone/>
            </a:pPr>
            <a:r>
              <a:rPr lang="en-US" sz="4000" b="1" dirty="0">
                <a:solidFill>
                  <a:srgbClr val="F7EFE4"/>
                </a:solidFill>
                <a:latin typeface="Cambria" pitchFamily="34" charset="0"/>
                <a:ea typeface="Cambria" pitchFamily="34" charset="-122"/>
                <a:cs typeface="Cambria" pitchFamily="34" charset="-120"/>
              </a:rPr>
              <a:t>The Menu Test and the Points of Passion Test</a:t>
            </a:r>
            <a:endParaRPr lang="en-US" sz="4000" dirty="0"/>
          </a:p>
        </p:txBody>
      </p:sp>
      <p:sp>
        <p:nvSpPr>
          <p:cNvPr id="5" name="Text 3"/>
          <p:cNvSpPr/>
          <p:nvPr/>
        </p:nvSpPr>
        <p:spPr>
          <a:xfrm>
            <a:off x="1938528" y="2542032"/>
            <a:ext cx="9686239" cy="1371600"/>
          </a:xfrm>
          <a:prstGeom prst="rect">
            <a:avLst/>
          </a:prstGeom>
          <a:noFill/>
          <a:ln/>
        </p:spPr>
        <p:txBody>
          <a:bodyPr wrap="square" lIns="0" tIns="0" rIns="0" bIns="0" rtlCol="0" anchor="ctr"/>
          <a:lstStyle/>
          <a:p>
            <a:pPr indent="0" marL="0">
              <a:lnSpc>
                <a:spcPts val="2100"/>
              </a:lnSpc>
              <a:buNone/>
            </a:pPr>
            <a:r>
              <a:rPr lang="en-US" sz="1400" i="1" dirty="0">
                <a:solidFill>
                  <a:srgbClr val="E8D6C8"/>
                </a:solidFill>
                <a:latin typeface="Calibri" pitchFamily="34" charset="0"/>
                <a:ea typeface="Calibri" pitchFamily="34" charset="-122"/>
                <a:cs typeface="Calibri" pitchFamily="34" charset="-120"/>
              </a:rPr>
              <a:t>Menu review and questions, then testing over the menu and the Points of Passion.</a:t>
            </a:r>
            <a:endParaRPr lang="en-US" sz="1400" dirty="0"/>
          </a:p>
        </p:txBody>
      </p:sp>
      <p:sp>
        <p:nvSpPr>
          <p:cNvPr id="6" name="Text 4"/>
          <p:cNvSpPr/>
          <p:nvPr/>
        </p:nvSpPr>
        <p:spPr>
          <a:xfrm>
            <a:off x="566928" y="6199632"/>
            <a:ext cx="11057839" cy="274320"/>
          </a:xfrm>
          <a:prstGeom prst="rect">
            <a:avLst/>
          </a:prstGeom>
          <a:noFill/>
          <a:ln/>
        </p:spPr>
        <p:txBody>
          <a:bodyPr wrap="square" lIns="0" tIns="0" rIns="0" bIns="0" rtlCol="0" anchor="ctr"/>
          <a:lstStyle/>
          <a:p>
            <a:pPr indent="0" marL="0">
              <a:buNone/>
            </a:pPr>
            <a:r>
              <a:rPr lang="en-US" sz="1050" dirty="0">
                <a:solidFill>
                  <a:srgbClr val="C9A99A"/>
                </a:solidFill>
                <a:latin typeface="Calibri" pitchFamily="34" charset="0"/>
                <a:ea typeface="Calibri" pitchFamily="34" charset="-122"/>
                <a:cs typeface="Calibri" pitchFamily="34" charset="-120"/>
              </a:rPr>
              <a:t>From the original Mo's Training Itinerary</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Testing is real here</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The house graded menu tests at opening and still expects the knowledge</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5 — The Tests</a:t>
            </a:r>
            <a:endParaRPr lang="en-US" sz="950" dirty="0"/>
          </a:p>
        </p:txBody>
      </p:sp>
      <p:sp>
        <p:nvSpPr>
          <p:cNvPr id="5" name="Text 3"/>
          <p:cNvSpPr/>
          <p:nvPr/>
        </p:nvSpPr>
        <p:spPr>
          <a:xfrm>
            <a:off x="566928" y="1572768"/>
            <a:ext cx="5300320" cy="292608"/>
          </a:xfrm>
          <a:prstGeom prst="rect">
            <a:avLst/>
          </a:prstGeom>
          <a:noFill/>
          <a:ln/>
        </p:spPr>
        <p:txBody>
          <a:bodyPr wrap="square" lIns="0" tIns="0" rIns="0" bIns="0" rtlCol="0" anchor="ctr"/>
          <a:lstStyle/>
          <a:p>
            <a:pPr indent="0" marL="0">
              <a:buNone/>
            </a:pPr>
            <a:r>
              <a:rPr lang="en-US" sz="1500" b="1" dirty="0">
                <a:solidFill>
                  <a:srgbClr val="59201C"/>
                </a:solidFill>
                <a:latin typeface="Cambria" pitchFamily="34" charset="0"/>
                <a:ea typeface="Cambria" pitchFamily="34" charset="-122"/>
                <a:cs typeface="Cambria" pitchFamily="34" charset="-120"/>
              </a:rPr>
              <a:t>What the test reaches for</a:t>
            </a:r>
            <a:endParaRPr lang="en-US" sz="1500" dirty="0"/>
          </a:p>
        </p:txBody>
      </p:sp>
      <p:sp>
        <p:nvSpPr>
          <p:cNvPr id="6" name="Text 4"/>
          <p:cNvSpPr/>
          <p:nvPr/>
        </p:nvSpPr>
        <p:spPr>
          <a:xfrm>
            <a:off x="566928" y="1956816"/>
            <a:ext cx="5300320" cy="4169664"/>
          </a:xfrm>
          <a:prstGeom prst="rect">
            <a:avLst/>
          </a:prstGeom>
          <a:noFill/>
          <a:ln/>
        </p:spPr>
        <p:txBody>
          <a:bodyPr wrap="square" lIns="0" tIns="0" rIns="0" bIns="0" rtlCol="0" anchor="t"/>
          <a:lstStyle/>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Dish builds and prices. Allergen flags.</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The sixteen Points of Passion — by idea, not by number.</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Steak temps and cuts. The comp soup system.</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Timing standards: appetizers seven to twelve minutes with towers excepted; soups and salads two to five; entrees twenty-two with twenty-five the maximum; desserts within seven.</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The tip-out math, the rooms, the wine list, the cocktail builds.</a:t>
            </a:r>
            <a:endParaRPr lang="en-US" sz="1250" dirty="0"/>
          </a:p>
        </p:txBody>
      </p:sp>
      <p:sp>
        <p:nvSpPr>
          <p:cNvPr id="7" name="Text 5"/>
          <p:cNvSpPr/>
          <p:nvPr/>
        </p:nvSpPr>
        <p:spPr>
          <a:xfrm>
            <a:off x="6324448" y="1572768"/>
            <a:ext cx="5300320" cy="292608"/>
          </a:xfrm>
          <a:prstGeom prst="rect">
            <a:avLst/>
          </a:prstGeom>
          <a:noFill/>
          <a:ln/>
        </p:spPr>
        <p:txBody>
          <a:bodyPr wrap="square" lIns="0" tIns="0" rIns="0" bIns="0" rtlCol="0" anchor="ctr"/>
          <a:lstStyle/>
          <a:p>
            <a:pPr indent="0" marL="0">
              <a:buNone/>
            </a:pPr>
            <a:r>
              <a:rPr lang="en-US" sz="1500" b="1" dirty="0">
                <a:solidFill>
                  <a:srgbClr val="59201C"/>
                </a:solidFill>
                <a:latin typeface="Cambria" pitchFamily="34" charset="0"/>
                <a:ea typeface="Cambria" pitchFamily="34" charset="-122"/>
                <a:cs typeface="Cambria" pitchFamily="34" charset="-120"/>
              </a:rPr>
              <a:t>How to actually pass it</a:t>
            </a:r>
            <a:endParaRPr lang="en-US" sz="1500" dirty="0"/>
          </a:p>
        </p:txBody>
      </p:sp>
      <p:sp>
        <p:nvSpPr>
          <p:cNvPr id="8" name="Text 6"/>
          <p:cNvSpPr/>
          <p:nvPr/>
        </p:nvSpPr>
        <p:spPr>
          <a:xfrm>
            <a:off x="6324448" y="1956816"/>
            <a:ext cx="5300320" cy="4169664"/>
          </a:xfrm>
          <a:prstGeom prst="rect">
            <a:avLst/>
          </a:prstGeom>
          <a:noFill/>
          <a:ln/>
        </p:spPr>
        <p:txBody>
          <a:bodyPr wrap="square" lIns="0" tIns="0" rIns="0" bIns="0" rtlCol="0" anchor="t"/>
          <a:lstStyle/>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The real 30-question menu test lives in the app with corrected answers.</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The Study tab is the practice room: a 150-question bank, a fresh Today's Ten every day, timed price drills, garnish matching, wine identification, step-order games.</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The habit that works: Today's Ten every day before shift, plus one topic lane you feel weak in.</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Ten minutes a day and the test takes care of itself.</a:t>
            </a:r>
            <a:endParaRPr lang="en-US" sz="1250" dirty="0"/>
          </a:p>
        </p:txBody>
      </p:sp>
      <p:sp>
        <p:nvSpPr>
          <p:cNvPr id="9" name="Shape 7"/>
          <p:cNvSpPr/>
          <p:nvPr/>
        </p:nvSpPr>
        <p:spPr>
          <a:xfrm>
            <a:off x="566928" y="4937760"/>
            <a:ext cx="11057839" cy="749808"/>
          </a:xfrm>
          <a:prstGeom prst="roundRect">
            <a:avLst>
              <a:gd name="adj" fmla="val 7317"/>
            </a:avLst>
          </a:prstGeom>
          <a:solidFill>
            <a:srgbClr val="F3E7E4"/>
          </a:solidFill>
          <a:ln w="12700">
            <a:solidFill>
              <a:srgbClr val="E2CCC7"/>
            </a:solidFill>
            <a:prstDash val="solid"/>
          </a:ln>
        </p:spPr>
      </p:sp>
      <p:sp>
        <p:nvSpPr>
          <p:cNvPr id="10" name="Text 8"/>
          <p:cNvSpPr/>
          <p:nvPr/>
        </p:nvSpPr>
        <p:spPr>
          <a:xfrm>
            <a:off x="768096" y="5010912"/>
            <a:ext cx="10655503" cy="603504"/>
          </a:xfrm>
          <a:prstGeom prst="rect">
            <a:avLst/>
          </a:prstGeom>
          <a:noFill/>
          <a:ln/>
        </p:spPr>
        <p:txBody>
          <a:bodyPr wrap="square" lIns="0" tIns="0" rIns="0" bIns="0" rtlCol="0" anchor="ctr"/>
          <a:lstStyle/>
          <a:p>
            <a:pPr indent="0" marL="0">
              <a:lnSpc>
                <a:spcPts val="1600"/>
              </a:lnSpc>
              <a:buNone/>
            </a:pPr>
            <a:r>
              <a:rPr lang="en-US" sz="1250" b="1" dirty="0">
                <a:solidFill>
                  <a:srgbClr val="59201C"/>
                </a:solidFill>
                <a:latin typeface="Calibri" pitchFamily="34" charset="0"/>
                <a:ea typeface="Calibri" pitchFamily="34" charset="-122"/>
                <a:cs typeface="Calibri" pitchFamily="34" charset="-120"/>
              </a:rPr>
              <a:t>On the Points of Passion:  </a:t>
            </a:r>
            <a:pPr indent="0" marL="0">
              <a:lnSpc>
                <a:spcPts val="1600"/>
              </a:lnSpc>
              <a:buNone/>
            </a:pPr>
            <a:r>
              <a:rPr lang="en-US" sz="1250" dirty="0">
                <a:solidFill>
                  <a:srgbClr val="2B2118"/>
                </a:solidFill>
                <a:latin typeface="Calibri" pitchFamily="34" charset="0"/>
                <a:ea typeface="Calibri" pitchFamily="34" charset="-122"/>
                <a:cs typeface="Calibri" pitchFamily="34" charset="-120"/>
              </a:rPr>
              <a:t>if you can explain 1% Less, Customized Service, and They Weren't Ready For Us in your own words, you are ready.</a:t>
            </a:r>
            <a:endParaRPr lang="en-US" sz="12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59201C"/>
        </a:solidFill>
      </p:bgPr>
    </p:bg>
    <p:spTree>
      <p:nvGrpSpPr>
        <p:cNvPr id="1" name=""/>
        <p:cNvGrpSpPr/>
        <p:nvPr/>
      </p:nvGrpSpPr>
      <p:grpSpPr>
        <a:xfrm>
          <a:off x="0" y="0"/>
          <a:ext cx="0" cy="0"/>
          <a:chOff x="0" y="0"/>
          <a:chExt cx="0" cy="0"/>
        </a:xfrm>
      </p:grpSpPr>
      <p:sp>
        <p:nvSpPr>
          <p:cNvPr id="2" name="Shape 0"/>
          <p:cNvSpPr/>
          <p:nvPr/>
        </p:nvSpPr>
        <p:spPr>
          <a:xfrm>
            <a:off x="566928" y="1737360"/>
            <a:ext cx="1051560" cy="1051560"/>
          </a:xfrm>
          <a:prstGeom prst="ellipse">
            <a:avLst/>
          </a:prstGeom>
          <a:solidFill>
            <a:srgbClr val="F7EFE4"/>
          </a:solidFill>
          <a:ln w="12700">
            <a:solidFill>
              <a:srgbClr val="F7EFE4"/>
            </a:solidFill>
            <a:prstDash val="solid"/>
          </a:ln>
        </p:spPr>
      </p:sp>
      <p:sp>
        <p:nvSpPr>
          <p:cNvPr id="3" name="Text 1"/>
          <p:cNvSpPr/>
          <p:nvPr/>
        </p:nvSpPr>
        <p:spPr>
          <a:xfrm>
            <a:off x="566928" y="1737360"/>
            <a:ext cx="1051560" cy="1051560"/>
          </a:xfrm>
          <a:prstGeom prst="rect">
            <a:avLst/>
          </a:prstGeom>
          <a:noFill/>
          <a:ln/>
        </p:spPr>
        <p:txBody>
          <a:bodyPr wrap="square" lIns="0" tIns="0" rIns="0" bIns="0" rtlCol="0" anchor="ctr"/>
          <a:lstStyle/>
          <a:p>
            <a:pPr algn="ctr" indent="0" marL="0">
              <a:buNone/>
            </a:pPr>
            <a:r>
              <a:rPr lang="en-US" sz="4000" b="1" dirty="0">
                <a:solidFill>
                  <a:srgbClr val="59201C"/>
                </a:solidFill>
                <a:latin typeface="Cambria" pitchFamily="34" charset="0"/>
                <a:ea typeface="Cambria" pitchFamily="34" charset="-122"/>
                <a:cs typeface="Cambria" pitchFamily="34" charset="-120"/>
              </a:rPr>
              <a:t>6</a:t>
            </a:r>
            <a:endParaRPr lang="en-US" sz="4000" dirty="0"/>
          </a:p>
        </p:txBody>
      </p:sp>
      <p:sp>
        <p:nvSpPr>
          <p:cNvPr id="4" name="Text 2"/>
          <p:cNvSpPr/>
          <p:nvPr/>
        </p:nvSpPr>
        <p:spPr>
          <a:xfrm>
            <a:off x="1938528" y="1700784"/>
            <a:ext cx="9686239" cy="786384"/>
          </a:xfrm>
          <a:prstGeom prst="rect">
            <a:avLst/>
          </a:prstGeom>
          <a:noFill/>
          <a:ln/>
        </p:spPr>
        <p:txBody>
          <a:bodyPr wrap="square" lIns="0" tIns="0" rIns="0" bIns="0" rtlCol="0" anchor="ctr"/>
          <a:lstStyle/>
          <a:p>
            <a:pPr indent="0" marL="0">
              <a:buNone/>
            </a:pPr>
            <a:r>
              <a:rPr lang="en-US" sz="4000" b="1" dirty="0">
                <a:solidFill>
                  <a:srgbClr val="F7EFE4"/>
                </a:solidFill>
                <a:latin typeface="Cambria" pitchFamily="34" charset="0"/>
                <a:ea typeface="Cambria" pitchFamily="34" charset="-122"/>
                <a:cs typeface="Cambria" pitchFamily="34" charset="-120"/>
              </a:rPr>
              <a:t>Steps of Service</a:t>
            </a:r>
            <a:endParaRPr lang="en-US" sz="4000" dirty="0"/>
          </a:p>
        </p:txBody>
      </p:sp>
      <p:sp>
        <p:nvSpPr>
          <p:cNvPr id="5" name="Text 3"/>
          <p:cNvSpPr/>
          <p:nvPr/>
        </p:nvSpPr>
        <p:spPr>
          <a:xfrm>
            <a:off x="1938528" y="2542032"/>
            <a:ext cx="9686239" cy="1371600"/>
          </a:xfrm>
          <a:prstGeom prst="rect">
            <a:avLst/>
          </a:prstGeom>
          <a:noFill/>
          <a:ln/>
        </p:spPr>
        <p:txBody>
          <a:bodyPr wrap="square" lIns="0" tIns="0" rIns="0" bIns="0" rtlCol="0" anchor="ctr"/>
          <a:lstStyle/>
          <a:p>
            <a:pPr indent="0" marL="0">
              <a:lnSpc>
                <a:spcPts val="2100"/>
              </a:lnSpc>
              <a:buNone/>
            </a:pPr>
            <a:r>
              <a:rPr lang="en-US" sz="1400" i="1" dirty="0">
                <a:solidFill>
                  <a:srgbClr val="E8D6C8"/>
                </a:solidFill>
                <a:latin typeface="Calibri" pitchFamily="34" charset="0"/>
                <a:ea typeface="Calibri" pitchFamily="34" charset="-122"/>
                <a:cs typeface="Calibri" pitchFamily="34" charset="-120"/>
              </a:rPr>
              <a:t>Isaac's non-negotiables, the steps of service handouts, and walking the steps.</a:t>
            </a:r>
            <a:endParaRPr lang="en-US" sz="1400" dirty="0"/>
          </a:p>
        </p:txBody>
      </p:sp>
      <p:sp>
        <p:nvSpPr>
          <p:cNvPr id="6" name="Text 4"/>
          <p:cNvSpPr/>
          <p:nvPr/>
        </p:nvSpPr>
        <p:spPr>
          <a:xfrm>
            <a:off x="566928" y="6199632"/>
            <a:ext cx="11057839" cy="274320"/>
          </a:xfrm>
          <a:prstGeom prst="rect">
            <a:avLst/>
          </a:prstGeom>
          <a:noFill/>
          <a:ln/>
        </p:spPr>
        <p:txBody>
          <a:bodyPr wrap="square" lIns="0" tIns="0" rIns="0" bIns="0" rtlCol="0" anchor="ctr"/>
          <a:lstStyle/>
          <a:p>
            <a:pPr indent="0" marL="0">
              <a:buNone/>
            </a:pPr>
            <a:r>
              <a:rPr lang="en-US" sz="1050" dirty="0">
                <a:solidFill>
                  <a:srgbClr val="C9A99A"/>
                </a:solidFill>
                <a:latin typeface="Calibri" pitchFamily="34" charset="0"/>
                <a:ea typeface="Calibri" pitchFamily="34" charset="-122"/>
                <a:cs typeface="Calibri" pitchFamily="34" charset="-120"/>
              </a:rPr>
              <a:t>From the original Mo's Training Itinerary</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Isaac's Non-Negotiables</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The sheet is famous in this building. Learn every line.</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6 — Steps of Service</a:t>
            </a:r>
            <a:endParaRPr lang="en-US" sz="950" dirty="0"/>
          </a:p>
        </p:txBody>
      </p:sp>
      <p:sp>
        <p:nvSpPr>
          <p:cNvPr id="5" name="Shape 3"/>
          <p:cNvSpPr/>
          <p:nvPr/>
        </p:nvSpPr>
        <p:spPr>
          <a:xfrm>
            <a:off x="566928" y="1508760"/>
            <a:ext cx="365760" cy="365760"/>
          </a:xfrm>
          <a:prstGeom prst="ellipse">
            <a:avLst/>
          </a:prstGeom>
          <a:solidFill>
            <a:srgbClr val="59201C"/>
          </a:solidFill>
          <a:ln w="12700">
            <a:solidFill>
              <a:srgbClr val="59201C"/>
            </a:solidFill>
            <a:prstDash val="solid"/>
          </a:ln>
        </p:spPr>
      </p:sp>
      <p:sp>
        <p:nvSpPr>
          <p:cNvPr id="6" name="Text 4"/>
          <p:cNvSpPr/>
          <p:nvPr/>
        </p:nvSpPr>
        <p:spPr>
          <a:xfrm>
            <a:off x="566928" y="150876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1</a:t>
            </a:r>
            <a:endParaRPr lang="en-US" sz="1250" dirty="0"/>
          </a:p>
        </p:txBody>
      </p:sp>
      <p:sp>
        <p:nvSpPr>
          <p:cNvPr id="7" name="Text 5"/>
          <p:cNvSpPr/>
          <p:nvPr/>
        </p:nvSpPr>
        <p:spPr>
          <a:xfrm>
            <a:off x="1069848" y="1481328"/>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Good enough is not good enough.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The difference between A decision and THE RIGHT decision is 1% effort and 99% dedication to the standard — and they are never the same decision.</a:t>
            </a:r>
            <a:endParaRPr lang="en-US" sz="1250" dirty="0"/>
          </a:p>
        </p:txBody>
      </p:sp>
      <p:sp>
        <p:nvSpPr>
          <p:cNvPr id="8" name="Shape 6"/>
          <p:cNvSpPr/>
          <p:nvPr/>
        </p:nvSpPr>
        <p:spPr>
          <a:xfrm>
            <a:off x="566928" y="2290572"/>
            <a:ext cx="365760" cy="365760"/>
          </a:xfrm>
          <a:prstGeom prst="ellipse">
            <a:avLst/>
          </a:prstGeom>
          <a:solidFill>
            <a:srgbClr val="59201C"/>
          </a:solidFill>
          <a:ln w="12700">
            <a:solidFill>
              <a:srgbClr val="59201C"/>
            </a:solidFill>
            <a:prstDash val="solid"/>
          </a:ln>
        </p:spPr>
      </p:sp>
      <p:sp>
        <p:nvSpPr>
          <p:cNvPr id="9" name="Text 7"/>
          <p:cNvSpPr/>
          <p:nvPr/>
        </p:nvSpPr>
        <p:spPr>
          <a:xfrm>
            <a:off x="566928" y="2290572"/>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2</a:t>
            </a:r>
            <a:endParaRPr lang="en-US" sz="1250" dirty="0"/>
          </a:p>
        </p:txBody>
      </p:sp>
      <p:sp>
        <p:nvSpPr>
          <p:cNvPr id="10" name="Text 8"/>
          <p:cNvSpPr/>
          <p:nvPr/>
        </p:nvSpPr>
        <p:spPr>
          <a:xfrm>
            <a:off x="1069848" y="2263140"/>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Respect the guest's personal space.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No elbows in the face, no bumping the chair. When in doubt: “pardon my reach.” No clanking silverware behind their ear, no stacking plates tableside.</a:t>
            </a:r>
            <a:endParaRPr lang="en-US" sz="1250" dirty="0"/>
          </a:p>
        </p:txBody>
      </p:sp>
      <p:sp>
        <p:nvSpPr>
          <p:cNvPr id="11" name="Shape 9"/>
          <p:cNvSpPr/>
          <p:nvPr/>
        </p:nvSpPr>
        <p:spPr>
          <a:xfrm>
            <a:off x="566928" y="3072384"/>
            <a:ext cx="365760" cy="365760"/>
          </a:xfrm>
          <a:prstGeom prst="ellipse">
            <a:avLst/>
          </a:prstGeom>
          <a:solidFill>
            <a:srgbClr val="59201C"/>
          </a:solidFill>
          <a:ln w="12700">
            <a:solidFill>
              <a:srgbClr val="59201C"/>
            </a:solidFill>
            <a:prstDash val="solid"/>
          </a:ln>
        </p:spPr>
      </p:sp>
      <p:sp>
        <p:nvSpPr>
          <p:cNvPr id="12" name="Text 10"/>
          <p:cNvSpPr/>
          <p:nvPr/>
        </p:nvSpPr>
        <p:spPr>
          <a:xfrm>
            <a:off x="566928" y="3072384"/>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3</a:t>
            </a:r>
            <a:endParaRPr lang="en-US" sz="1250" dirty="0"/>
          </a:p>
        </p:txBody>
      </p:sp>
      <p:sp>
        <p:nvSpPr>
          <p:cNvPr id="13" name="Text 11"/>
          <p:cNvSpPr/>
          <p:nvPr/>
        </p:nvSpPr>
        <p:spPr>
          <a:xfrm>
            <a:off x="1069848" y="3044952"/>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Guest right of way.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Their time is more valuable than ours. If a guest moves out of YOUR way, you failed.</a:t>
            </a:r>
            <a:endParaRPr lang="en-US" sz="1250" dirty="0"/>
          </a:p>
        </p:txBody>
      </p:sp>
      <p:sp>
        <p:nvSpPr>
          <p:cNvPr id="14" name="Shape 12"/>
          <p:cNvSpPr/>
          <p:nvPr/>
        </p:nvSpPr>
        <p:spPr>
          <a:xfrm>
            <a:off x="566928" y="3854196"/>
            <a:ext cx="365760" cy="365760"/>
          </a:xfrm>
          <a:prstGeom prst="ellipse">
            <a:avLst/>
          </a:prstGeom>
          <a:solidFill>
            <a:srgbClr val="59201C"/>
          </a:solidFill>
          <a:ln w="12700">
            <a:solidFill>
              <a:srgbClr val="59201C"/>
            </a:solidFill>
            <a:prstDash val="solid"/>
          </a:ln>
        </p:spPr>
      </p:sp>
      <p:sp>
        <p:nvSpPr>
          <p:cNvPr id="15" name="Text 13"/>
          <p:cNvSpPr/>
          <p:nvPr/>
        </p:nvSpPr>
        <p:spPr>
          <a:xfrm>
            <a:off x="566928" y="3854196"/>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4</a:t>
            </a:r>
            <a:endParaRPr lang="en-US" sz="1250" dirty="0"/>
          </a:p>
        </p:txBody>
      </p:sp>
      <p:sp>
        <p:nvSpPr>
          <p:cNvPr id="16" name="Text 14"/>
          <p:cNvSpPr/>
          <p:nvPr/>
        </p:nvSpPr>
        <p:spPr>
          <a:xfrm>
            <a:off x="1069848" y="3826764"/>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Every guest is everybody's guest.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Hospitality is a lifestyle you do not turn off. When one of OUR guests needs something, that beats sections and roles.</a:t>
            </a:r>
            <a:endParaRPr lang="en-US" sz="1250" dirty="0"/>
          </a:p>
        </p:txBody>
      </p:sp>
      <p:sp>
        <p:nvSpPr>
          <p:cNvPr id="17" name="Shape 15"/>
          <p:cNvSpPr/>
          <p:nvPr/>
        </p:nvSpPr>
        <p:spPr>
          <a:xfrm>
            <a:off x="566928" y="4636008"/>
            <a:ext cx="365760" cy="365760"/>
          </a:xfrm>
          <a:prstGeom prst="ellipse">
            <a:avLst/>
          </a:prstGeom>
          <a:solidFill>
            <a:srgbClr val="59201C"/>
          </a:solidFill>
          <a:ln w="12700">
            <a:solidFill>
              <a:srgbClr val="59201C"/>
            </a:solidFill>
            <a:prstDash val="solid"/>
          </a:ln>
        </p:spPr>
      </p:sp>
      <p:sp>
        <p:nvSpPr>
          <p:cNvPr id="18" name="Text 16"/>
          <p:cNvSpPr/>
          <p:nvPr/>
        </p:nvSpPr>
        <p:spPr>
          <a:xfrm>
            <a:off x="566928" y="4636008"/>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5</a:t>
            </a:r>
            <a:endParaRPr lang="en-US" sz="1250" dirty="0"/>
          </a:p>
        </p:txBody>
      </p:sp>
      <p:sp>
        <p:nvSpPr>
          <p:cNvPr id="19" name="Text 17"/>
          <p:cNvSpPr/>
          <p:nvPr/>
        </p:nvSpPr>
        <p:spPr>
          <a:xfrm>
            <a:off x="1069848" y="4608576"/>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Water and wine — pouring their own is not fine.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They can do that at home for free. This is not even hospitality, it is a step of service.</a:t>
            </a:r>
            <a:endParaRPr lang="en-US" sz="1250" dirty="0"/>
          </a:p>
        </p:txBody>
      </p:sp>
      <p:sp>
        <p:nvSpPr>
          <p:cNvPr id="20" name="Shape 18"/>
          <p:cNvSpPr/>
          <p:nvPr/>
        </p:nvSpPr>
        <p:spPr>
          <a:xfrm>
            <a:off x="566928" y="5417820"/>
            <a:ext cx="365760" cy="365760"/>
          </a:xfrm>
          <a:prstGeom prst="ellipse">
            <a:avLst/>
          </a:prstGeom>
          <a:solidFill>
            <a:srgbClr val="59201C"/>
          </a:solidFill>
          <a:ln w="12700">
            <a:solidFill>
              <a:srgbClr val="59201C"/>
            </a:solidFill>
            <a:prstDash val="solid"/>
          </a:ln>
        </p:spPr>
      </p:sp>
      <p:sp>
        <p:nvSpPr>
          <p:cNvPr id="21" name="Text 19"/>
          <p:cNvSpPr/>
          <p:nvPr/>
        </p:nvSpPr>
        <p:spPr>
          <a:xfrm>
            <a:off x="566928" y="541782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6</a:t>
            </a:r>
            <a:endParaRPr lang="en-US" sz="1250" dirty="0"/>
          </a:p>
        </p:txBody>
      </p:sp>
      <p:sp>
        <p:nvSpPr>
          <p:cNvPr id="22" name="Text 20"/>
          <p:cNvSpPr/>
          <p:nvPr/>
        </p:nvSpPr>
        <p:spPr>
          <a:xfrm>
            <a:off x="1069848" y="5390388"/>
            <a:ext cx="10554919" cy="726948"/>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Your uniform is a step of service.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Uniformity is king. Preparation is a step of service. Hygiene is a step of service.</a:t>
            </a:r>
            <a:endParaRPr lang="en-US" sz="12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Isaac's Non-Negotiables</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Seven through eleven</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6 — Steps of Service</a:t>
            </a:r>
            <a:endParaRPr lang="en-US" sz="950" dirty="0"/>
          </a:p>
        </p:txBody>
      </p:sp>
      <p:sp>
        <p:nvSpPr>
          <p:cNvPr id="5" name="Shape 3"/>
          <p:cNvSpPr/>
          <p:nvPr/>
        </p:nvSpPr>
        <p:spPr>
          <a:xfrm>
            <a:off x="566928" y="1508760"/>
            <a:ext cx="365760" cy="365760"/>
          </a:xfrm>
          <a:prstGeom prst="ellipse">
            <a:avLst/>
          </a:prstGeom>
          <a:solidFill>
            <a:srgbClr val="59201C"/>
          </a:solidFill>
          <a:ln w="12700">
            <a:solidFill>
              <a:srgbClr val="59201C"/>
            </a:solidFill>
            <a:prstDash val="solid"/>
          </a:ln>
        </p:spPr>
      </p:sp>
      <p:sp>
        <p:nvSpPr>
          <p:cNvPr id="6" name="Text 4"/>
          <p:cNvSpPr/>
          <p:nvPr/>
        </p:nvSpPr>
        <p:spPr>
          <a:xfrm>
            <a:off x="566928" y="150876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7</a:t>
            </a:r>
            <a:endParaRPr lang="en-US" sz="1250" dirty="0"/>
          </a:p>
        </p:txBody>
      </p:sp>
      <p:sp>
        <p:nvSpPr>
          <p:cNvPr id="7" name="Text 5"/>
          <p:cNvSpPr/>
          <p:nvPr/>
        </p:nvSpPr>
        <p:spPr>
          <a:xfrm>
            <a:off x="1069848" y="1481328"/>
            <a:ext cx="10554919" cy="654710"/>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Sales is the art of guiding the guest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to the decision that best enhances THEIR experience. Value is perception — sales is the trust that the idea is worth what they spend.</a:t>
            </a:r>
            <a:endParaRPr lang="en-US" sz="1300" dirty="0"/>
          </a:p>
        </p:txBody>
      </p:sp>
      <p:sp>
        <p:nvSpPr>
          <p:cNvPr id="8" name="Shape 6"/>
          <p:cNvSpPr/>
          <p:nvPr/>
        </p:nvSpPr>
        <p:spPr>
          <a:xfrm>
            <a:off x="566928" y="2218334"/>
            <a:ext cx="365760" cy="365760"/>
          </a:xfrm>
          <a:prstGeom prst="ellipse">
            <a:avLst/>
          </a:prstGeom>
          <a:solidFill>
            <a:srgbClr val="59201C"/>
          </a:solidFill>
          <a:ln w="12700">
            <a:solidFill>
              <a:srgbClr val="59201C"/>
            </a:solidFill>
            <a:prstDash val="solid"/>
          </a:ln>
        </p:spPr>
      </p:sp>
      <p:sp>
        <p:nvSpPr>
          <p:cNvPr id="9" name="Text 7"/>
          <p:cNvSpPr/>
          <p:nvPr/>
        </p:nvSpPr>
        <p:spPr>
          <a:xfrm>
            <a:off x="566928" y="2218334"/>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8</a:t>
            </a:r>
            <a:endParaRPr lang="en-US" sz="1250" dirty="0"/>
          </a:p>
        </p:txBody>
      </p:sp>
      <p:sp>
        <p:nvSpPr>
          <p:cNvPr id="10" name="Text 8"/>
          <p:cNvSpPr/>
          <p:nvPr/>
        </p:nvSpPr>
        <p:spPr>
          <a:xfrm>
            <a:off x="1069848" y="2190902"/>
            <a:ext cx="10554919" cy="654710"/>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Mise en place.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Everything in its place. ALL the items a guest needs and NONE they don't. Presetting the next course sets the stage. Presentation is half of what we taste.</a:t>
            </a:r>
            <a:endParaRPr lang="en-US" sz="1300" dirty="0"/>
          </a:p>
        </p:txBody>
      </p:sp>
      <p:sp>
        <p:nvSpPr>
          <p:cNvPr id="11" name="Shape 9"/>
          <p:cNvSpPr/>
          <p:nvPr/>
        </p:nvSpPr>
        <p:spPr>
          <a:xfrm>
            <a:off x="566928" y="2927909"/>
            <a:ext cx="365760" cy="365760"/>
          </a:xfrm>
          <a:prstGeom prst="ellipse">
            <a:avLst/>
          </a:prstGeom>
          <a:solidFill>
            <a:srgbClr val="59201C"/>
          </a:solidFill>
          <a:ln w="12700">
            <a:solidFill>
              <a:srgbClr val="59201C"/>
            </a:solidFill>
            <a:prstDash val="solid"/>
          </a:ln>
        </p:spPr>
      </p:sp>
      <p:sp>
        <p:nvSpPr>
          <p:cNvPr id="12" name="Text 10"/>
          <p:cNvSpPr/>
          <p:nvPr/>
        </p:nvSpPr>
        <p:spPr>
          <a:xfrm>
            <a:off x="566928" y="2927909"/>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9</a:t>
            </a:r>
            <a:endParaRPr lang="en-US" sz="1250" dirty="0"/>
          </a:p>
        </p:txBody>
      </p:sp>
      <p:sp>
        <p:nvSpPr>
          <p:cNvPr id="13" name="Text 11"/>
          <p:cNvSpPr/>
          <p:nvPr/>
        </p:nvSpPr>
        <p:spPr>
          <a:xfrm>
            <a:off x="1069848" y="2900477"/>
            <a:ext cx="10554919" cy="654710"/>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You never get a second chance at a first impression.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A few early misses and the guest starts looking for flaws — give them a reason to look for excellence instead.</a:t>
            </a:r>
            <a:endParaRPr lang="en-US" sz="1300" dirty="0"/>
          </a:p>
        </p:txBody>
      </p:sp>
      <p:sp>
        <p:nvSpPr>
          <p:cNvPr id="14" name="Shape 12"/>
          <p:cNvSpPr/>
          <p:nvPr/>
        </p:nvSpPr>
        <p:spPr>
          <a:xfrm>
            <a:off x="566928" y="3637483"/>
            <a:ext cx="365760" cy="365760"/>
          </a:xfrm>
          <a:prstGeom prst="ellipse">
            <a:avLst/>
          </a:prstGeom>
          <a:solidFill>
            <a:srgbClr val="59201C"/>
          </a:solidFill>
          <a:ln w="12700">
            <a:solidFill>
              <a:srgbClr val="59201C"/>
            </a:solidFill>
            <a:prstDash val="solid"/>
          </a:ln>
        </p:spPr>
      </p:sp>
      <p:sp>
        <p:nvSpPr>
          <p:cNvPr id="15" name="Text 13"/>
          <p:cNvSpPr/>
          <p:nvPr/>
        </p:nvSpPr>
        <p:spPr>
          <a:xfrm>
            <a:off x="566928" y="3637483"/>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10</a:t>
            </a:r>
            <a:endParaRPr lang="en-US" sz="1250" dirty="0"/>
          </a:p>
        </p:txBody>
      </p:sp>
      <p:sp>
        <p:nvSpPr>
          <p:cNvPr id="16" name="Text 14"/>
          <p:cNvSpPr/>
          <p:nvPr/>
        </p:nvSpPr>
        <p:spPr>
          <a:xfrm>
            <a:off x="1069848" y="3610051"/>
            <a:ext cx="10554919" cy="654710"/>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Information is a step of service.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Features, 86s, the host's tip that it is their anniversary, the deathly allergy. Arm yourself and your guest with what perfection requires.</a:t>
            </a:r>
            <a:endParaRPr lang="en-US" sz="1300" dirty="0"/>
          </a:p>
        </p:txBody>
      </p:sp>
      <p:sp>
        <p:nvSpPr>
          <p:cNvPr id="17" name="Shape 15"/>
          <p:cNvSpPr/>
          <p:nvPr/>
        </p:nvSpPr>
        <p:spPr>
          <a:xfrm>
            <a:off x="566928" y="4347058"/>
            <a:ext cx="365760" cy="365760"/>
          </a:xfrm>
          <a:prstGeom prst="ellipse">
            <a:avLst/>
          </a:prstGeom>
          <a:solidFill>
            <a:srgbClr val="59201C"/>
          </a:solidFill>
          <a:ln w="12700">
            <a:solidFill>
              <a:srgbClr val="59201C"/>
            </a:solidFill>
            <a:prstDash val="solid"/>
          </a:ln>
        </p:spPr>
      </p:sp>
      <p:sp>
        <p:nvSpPr>
          <p:cNvPr id="18" name="Text 16"/>
          <p:cNvSpPr/>
          <p:nvPr/>
        </p:nvSpPr>
        <p:spPr>
          <a:xfrm>
            <a:off x="566928" y="4347058"/>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11</a:t>
            </a:r>
            <a:endParaRPr lang="en-US" sz="1250" dirty="0"/>
          </a:p>
        </p:txBody>
      </p:sp>
      <p:sp>
        <p:nvSpPr>
          <p:cNvPr id="19" name="Text 17"/>
          <p:cNvSpPr/>
          <p:nvPr/>
        </p:nvSpPr>
        <p:spPr>
          <a:xfrm>
            <a:off x="1069848" y="4319626"/>
            <a:ext cx="10554919" cy="654710"/>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Smile.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You are always on stage. It is the easiest, fastest way to put a guest at ease — and it is free.</a:t>
            </a:r>
            <a:endParaRPr lang="en-US" sz="1300" dirty="0"/>
          </a:p>
        </p:txBody>
      </p:sp>
      <p:sp>
        <p:nvSpPr>
          <p:cNvPr id="20" name="Shape 18"/>
          <p:cNvSpPr/>
          <p:nvPr/>
        </p:nvSpPr>
        <p:spPr>
          <a:xfrm>
            <a:off x="566928" y="5138928"/>
            <a:ext cx="11057839" cy="749808"/>
          </a:xfrm>
          <a:prstGeom prst="roundRect">
            <a:avLst>
              <a:gd name="adj" fmla="val 7317"/>
            </a:avLst>
          </a:prstGeom>
          <a:solidFill>
            <a:srgbClr val="F3E7E4"/>
          </a:solidFill>
          <a:ln w="12700">
            <a:solidFill>
              <a:srgbClr val="E2CCC7"/>
            </a:solidFill>
            <a:prstDash val="solid"/>
          </a:ln>
        </p:spPr>
      </p:sp>
      <p:sp>
        <p:nvSpPr>
          <p:cNvPr id="21" name="Text 19"/>
          <p:cNvSpPr/>
          <p:nvPr/>
        </p:nvSpPr>
        <p:spPr>
          <a:xfrm>
            <a:off x="768096" y="5212080"/>
            <a:ext cx="10655503" cy="603504"/>
          </a:xfrm>
          <a:prstGeom prst="rect">
            <a:avLst/>
          </a:prstGeom>
          <a:noFill/>
          <a:ln/>
        </p:spPr>
        <p:txBody>
          <a:bodyPr wrap="square" lIns="0" tIns="0" rIns="0" bIns="0" rtlCol="0" anchor="ctr"/>
          <a:lstStyle/>
          <a:p>
            <a:pPr indent="0" marL="0">
              <a:lnSpc>
                <a:spcPts val="1600"/>
              </a:lnSpc>
              <a:buNone/>
            </a:pPr>
            <a:r>
              <a:rPr lang="en-US" sz="1250" b="1" dirty="0">
                <a:solidFill>
                  <a:srgbClr val="59201C"/>
                </a:solidFill>
                <a:latin typeface="Calibri" pitchFamily="34" charset="0"/>
                <a:ea typeface="Calibri" pitchFamily="34" charset="-122"/>
                <a:cs typeface="Calibri" pitchFamily="34" charset="-120"/>
              </a:rPr>
              <a:t>How a table starts:  </a:t>
            </a:r>
            <a:pPr indent="0" marL="0">
              <a:lnSpc>
                <a:spcPts val="1600"/>
              </a:lnSpc>
              <a:buNone/>
            </a:pPr>
            <a:r>
              <a:rPr lang="en-US" sz="1250" dirty="0">
                <a:solidFill>
                  <a:srgbClr val="2B2118"/>
                </a:solidFill>
                <a:latin typeface="Calibri" pitchFamily="34" charset="0"/>
                <a:ea typeface="Calibri" pitchFamily="34" charset="-122"/>
                <a:cs typeface="Calibri" pitchFamily="34" charset="-120"/>
              </a:rPr>
              <a:t>busser drops the waters → front server greets, drinks and apps → the BACK server drops the soup or salad and introduces themselves right there → entrees land coursed, never stacked → checkback two to five minutes after entrees.</a:t>
            </a:r>
            <a:endParaRPr lang="en-US" sz="12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The steps — front server</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Before you walk up, and the first three moves</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6 — Steps of Service</a:t>
            </a:r>
            <a:endParaRPr lang="en-US" sz="950" dirty="0"/>
          </a:p>
        </p:txBody>
      </p:sp>
      <p:sp>
        <p:nvSpPr>
          <p:cNvPr id="5" name="Shape 3"/>
          <p:cNvSpPr/>
          <p:nvPr/>
        </p:nvSpPr>
        <p:spPr>
          <a:xfrm>
            <a:off x="566928" y="1508760"/>
            <a:ext cx="365760" cy="365760"/>
          </a:xfrm>
          <a:prstGeom prst="ellipse">
            <a:avLst/>
          </a:prstGeom>
          <a:solidFill>
            <a:srgbClr val="59201C"/>
          </a:solidFill>
          <a:ln w="12700">
            <a:solidFill>
              <a:srgbClr val="59201C"/>
            </a:solidFill>
            <a:prstDash val="solid"/>
          </a:ln>
        </p:spPr>
      </p:sp>
      <p:sp>
        <p:nvSpPr>
          <p:cNvPr id="6" name="Text 4"/>
          <p:cNvSpPr/>
          <p:nvPr/>
        </p:nvSpPr>
        <p:spPr>
          <a:xfrm>
            <a:off x="566928" y="150876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7" name="Text 5"/>
          <p:cNvSpPr/>
          <p:nvPr/>
        </p:nvSpPr>
        <p:spPr>
          <a:xfrm>
            <a:off x="1069848" y="1481328"/>
            <a:ext cx="10554919" cy="883310"/>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Before you walk up.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Lineup at 4:15 covered teams, floor plan, soup, specials, reviews. Know the soup, the oysters, the 86'd items, the cut specials, the features, and two easy cocktail recommendations. Know the allergy protocol cold. Know the timing.</a:t>
            </a:r>
            <a:endParaRPr lang="en-US" sz="1250" dirty="0"/>
          </a:p>
        </p:txBody>
      </p:sp>
      <p:sp>
        <p:nvSpPr>
          <p:cNvPr id="8" name="Shape 6"/>
          <p:cNvSpPr/>
          <p:nvPr/>
        </p:nvSpPr>
        <p:spPr>
          <a:xfrm>
            <a:off x="566928" y="2446934"/>
            <a:ext cx="365760" cy="365760"/>
          </a:xfrm>
          <a:prstGeom prst="ellipse">
            <a:avLst/>
          </a:prstGeom>
          <a:solidFill>
            <a:srgbClr val="59201C"/>
          </a:solidFill>
          <a:ln w="12700">
            <a:solidFill>
              <a:srgbClr val="59201C"/>
            </a:solidFill>
            <a:prstDash val="solid"/>
          </a:ln>
        </p:spPr>
      </p:sp>
      <p:sp>
        <p:nvSpPr>
          <p:cNvPr id="9" name="Text 7"/>
          <p:cNvSpPr/>
          <p:nvPr/>
        </p:nvSpPr>
        <p:spPr>
          <a:xfrm>
            <a:off x="566928" y="2446934"/>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0" name="Text 8"/>
          <p:cNvSpPr/>
          <p:nvPr/>
        </p:nvSpPr>
        <p:spPr>
          <a:xfrm>
            <a:off x="1069848" y="2419502"/>
            <a:ext cx="10554919" cy="883310"/>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The greet.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Your name and your back server's name. First time in? Celebrating anything? Allergies? Would you like the wine list? Point to cocktails, beer, wine, whiskey. Warm and short.</a:t>
            </a:r>
            <a:endParaRPr lang="en-US" sz="1250" dirty="0"/>
          </a:p>
        </p:txBody>
      </p:sp>
      <p:sp>
        <p:nvSpPr>
          <p:cNvPr id="11" name="Shape 9"/>
          <p:cNvSpPr/>
          <p:nvPr/>
        </p:nvSpPr>
        <p:spPr>
          <a:xfrm>
            <a:off x="566928" y="3385109"/>
            <a:ext cx="365760" cy="365760"/>
          </a:xfrm>
          <a:prstGeom prst="ellipse">
            <a:avLst/>
          </a:prstGeom>
          <a:solidFill>
            <a:srgbClr val="59201C"/>
          </a:solidFill>
          <a:ln w="12700">
            <a:solidFill>
              <a:srgbClr val="59201C"/>
            </a:solidFill>
            <a:prstDash val="solid"/>
          </a:ln>
        </p:spPr>
      </p:sp>
      <p:sp>
        <p:nvSpPr>
          <p:cNvPr id="12" name="Text 10"/>
          <p:cNvSpPr/>
          <p:nvPr/>
        </p:nvSpPr>
        <p:spPr>
          <a:xfrm>
            <a:off x="566928" y="3385109"/>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3" name="Text 11"/>
          <p:cNvSpPr/>
          <p:nvPr/>
        </p:nvSpPr>
        <p:spPr>
          <a:xfrm>
            <a:off x="1069848" y="3357677"/>
            <a:ext cx="10554919" cy="883310"/>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Drinks first.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Get them started quickly. Unsure guests get two confident choices. Wine bottles: you set the glasses, and a MANAGER opens and pours at the table, every time. Over $250 also gets the big Bordeaux glasses.</a:t>
            </a:r>
            <a:endParaRPr lang="en-US" sz="1250" dirty="0"/>
          </a:p>
        </p:txBody>
      </p:sp>
      <p:sp>
        <p:nvSpPr>
          <p:cNvPr id="14" name="Shape 12"/>
          <p:cNvSpPr/>
          <p:nvPr/>
        </p:nvSpPr>
        <p:spPr>
          <a:xfrm>
            <a:off x="566928" y="4323283"/>
            <a:ext cx="365760" cy="365760"/>
          </a:xfrm>
          <a:prstGeom prst="ellipse">
            <a:avLst/>
          </a:prstGeom>
          <a:solidFill>
            <a:srgbClr val="59201C"/>
          </a:solidFill>
          <a:ln w="12700">
            <a:solidFill>
              <a:srgbClr val="59201C"/>
            </a:solidFill>
            <a:prstDash val="solid"/>
          </a:ln>
        </p:spPr>
      </p:sp>
      <p:sp>
        <p:nvSpPr>
          <p:cNvPr id="15" name="Text 13"/>
          <p:cNvSpPr/>
          <p:nvPr/>
        </p:nvSpPr>
        <p:spPr>
          <a:xfrm>
            <a:off x="566928" y="4323283"/>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6" name="Text 14"/>
          <p:cNvSpPr/>
          <p:nvPr/>
        </p:nvSpPr>
        <p:spPr>
          <a:xfrm>
            <a:off x="1069848" y="4295851"/>
            <a:ext cx="10554919" cy="883310"/>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Appetizers.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Recommend two or three with confidence: shrimp cocktail, calamari, crispy ahi tuna bites, oysters, or a tower. Send them fast and tell your back server. Apps buy you time — but course the rest.</a:t>
            </a:r>
            <a:endParaRPr lang="en-US" sz="1250" dirty="0"/>
          </a:p>
        </p:txBody>
      </p:sp>
      <p:sp>
        <p:nvSpPr>
          <p:cNvPr id="17" name="Shape 15"/>
          <p:cNvSpPr/>
          <p:nvPr/>
        </p:nvSpPr>
        <p:spPr>
          <a:xfrm>
            <a:off x="566928" y="5261458"/>
            <a:ext cx="365760" cy="365760"/>
          </a:xfrm>
          <a:prstGeom prst="ellipse">
            <a:avLst/>
          </a:prstGeom>
          <a:solidFill>
            <a:srgbClr val="59201C"/>
          </a:solidFill>
          <a:ln w="12700">
            <a:solidFill>
              <a:srgbClr val="59201C"/>
            </a:solidFill>
            <a:prstDash val="solid"/>
          </a:ln>
        </p:spPr>
      </p:sp>
      <p:sp>
        <p:nvSpPr>
          <p:cNvPr id="18" name="Text 16"/>
          <p:cNvSpPr/>
          <p:nvPr/>
        </p:nvSpPr>
        <p:spPr>
          <a:xfrm>
            <a:off x="566928" y="5261458"/>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9" name="Text 17"/>
          <p:cNvSpPr/>
          <p:nvPr/>
        </p:nvSpPr>
        <p:spPr>
          <a:xfrm>
            <a:off x="1069848" y="5234026"/>
            <a:ext cx="10554919" cy="883310"/>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Soup, salad and bread.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Bread always rides with soups and salads. Cracked pepper offered every single time. The course order never changes: apps, then soups and salads, then entrees.</a:t>
            </a:r>
            <a:endParaRPr lang="en-US" sz="12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The steps — front server</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The order through the close</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6 — Steps of Service</a:t>
            </a:r>
            <a:endParaRPr lang="en-US" sz="950" dirty="0"/>
          </a:p>
        </p:txBody>
      </p:sp>
      <p:sp>
        <p:nvSpPr>
          <p:cNvPr id="5" name="Shape 3"/>
          <p:cNvSpPr/>
          <p:nvPr/>
        </p:nvSpPr>
        <p:spPr>
          <a:xfrm>
            <a:off x="566928" y="1508760"/>
            <a:ext cx="365760" cy="365760"/>
          </a:xfrm>
          <a:prstGeom prst="ellipse">
            <a:avLst/>
          </a:prstGeom>
          <a:solidFill>
            <a:srgbClr val="59201C"/>
          </a:solidFill>
          <a:ln w="12700">
            <a:solidFill>
              <a:srgbClr val="59201C"/>
            </a:solidFill>
            <a:prstDash val="solid"/>
          </a:ln>
        </p:spPr>
      </p:sp>
      <p:sp>
        <p:nvSpPr>
          <p:cNvPr id="6" name="Text 4"/>
          <p:cNvSpPr/>
          <p:nvPr/>
        </p:nvSpPr>
        <p:spPr>
          <a:xfrm>
            <a:off x="566928" y="150876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7" name="Text 5"/>
          <p:cNvSpPr/>
          <p:nvPr/>
        </p:nvSpPr>
        <p:spPr>
          <a:xfrm>
            <a:off x="1069848" y="1481328"/>
            <a:ext cx="10554919" cy="960120"/>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The order.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Hit the key items, not a speech. Steak temps, butterfly the well-done filet, sides and enhancements. Take the full order and course it out. Features before the full order. Every special request gets confirmed with the chef — every single one.</a:t>
            </a:r>
            <a:endParaRPr lang="en-US" sz="1250" dirty="0"/>
          </a:p>
        </p:txBody>
      </p:sp>
      <p:sp>
        <p:nvSpPr>
          <p:cNvPr id="8" name="Shape 6"/>
          <p:cNvSpPr/>
          <p:nvPr/>
        </p:nvSpPr>
        <p:spPr>
          <a:xfrm>
            <a:off x="566928" y="2523744"/>
            <a:ext cx="365760" cy="365760"/>
          </a:xfrm>
          <a:prstGeom prst="ellipse">
            <a:avLst/>
          </a:prstGeom>
          <a:solidFill>
            <a:srgbClr val="59201C"/>
          </a:solidFill>
          <a:ln w="12700">
            <a:solidFill>
              <a:srgbClr val="59201C"/>
            </a:solidFill>
            <a:prstDash val="solid"/>
          </a:ln>
        </p:spPr>
      </p:sp>
      <p:sp>
        <p:nvSpPr>
          <p:cNvPr id="9" name="Text 7"/>
          <p:cNvSpPr/>
          <p:nvPr/>
        </p:nvSpPr>
        <p:spPr>
          <a:xfrm>
            <a:off x="566928" y="2523744"/>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0" name="Text 8"/>
          <p:cNvSpPr/>
          <p:nvPr/>
        </p:nvSpPr>
        <p:spPr>
          <a:xfrm>
            <a:off x="1069848" y="2496312"/>
            <a:ext cx="10554919" cy="960120"/>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Checkbacks.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Every course. Entree checkback at two to five minutes: “Is everything tasting perfect for us?” A halfhearted answer means something is wrong — pry gently and fix it now. Problems caught at checkback are comps that never happen.</a:t>
            </a:r>
            <a:endParaRPr lang="en-US" sz="1250" dirty="0"/>
          </a:p>
        </p:txBody>
      </p:sp>
      <p:sp>
        <p:nvSpPr>
          <p:cNvPr id="11" name="Shape 9"/>
          <p:cNvSpPr/>
          <p:nvPr/>
        </p:nvSpPr>
        <p:spPr>
          <a:xfrm>
            <a:off x="566928" y="3538728"/>
            <a:ext cx="365760" cy="365760"/>
          </a:xfrm>
          <a:prstGeom prst="ellipse">
            <a:avLst/>
          </a:prstGeom>
          <a:solidFill>
            <a:srgbClr val="59201C"/>
          </a:solidFill>
          <a:ln w="12700">
            <a:solidFill>
              <a:srgbClr val="59201C"/>
            </a:solidFill>
            <a:prstDash val="solid"/>
          </a:ln>
        </p:spPr>
      </p:sp>
      <p:sp>
        <p:nvSpPr>
          <p:cNvPr id="12" name="Text 10"/>
          <p:cNvSpPr/>
          <p:nvPr/>
        </p:nvSpPr>
        <p:spPr>
          <a:xfrm>
            <a:off x="566928" y="3538728"/>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3" name="Text 11"/>
          <p:cNvSpPr/>
          <p:nvPr/>
        </p:nvSpPr>
        <p:spPr>
          <a:xfrm>
            <a:off x="1069848" y="3511296"/>
            <a:ext cx="10554919" cy="960120"/>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Work with your back server.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You are the table lead; the back keeps it moving. Write the dinner ticket neatly and hand off the white copy. Help on big tables, Farbuckles, A5s, towers. Salad clear is the moment to ask about a second bottle.</a:t>
            </a:r>
            <a:endParaRPr lang="en-US" sz="1250" dirty="0"/>
          </a:p>
        </p:txBody>
      </p:sp>
      <p:sp>
        <p:nvSpPr>
          <p:cNvPr id="14" name="Shape 12"/>
          <p:cNvSpPr/>
          <p:nvPr/>
        </p:nvSpPr>
        <p:spPr>
          <a:xfrm>
            <a:off x="566928" y="4553712"/>
            <a:ext cx="365760" cy="365760"/>
          </a:xfrm>
          <a:prstGeom prst="ellipse">
            <a:avLst/>
          </a:prstGeom>
          <a:solidFill>
            <a:srgbClr val="59201C"/>
          </a:solidFill>
          <a:ln w="12700">
            <a:solidFill>
              <a:srgbClr val="59201C"/>
            </a:solidFill>
            <a:prstDash val="solid"/>
          </a:ln>
        </p:spPr>
      </p:sp>
      <p:sp>
        <p:nvSpPr>
          <p:cNvPr id="15" name="Text 13"/>
          <p:cNvSpPr/>
          <p:nvPr/>
        </p:nvSpPr>
        <p:spPr>
          <a:xfrm>
            <a:off x="566928" y="4553712"/>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6" name="Text 14"/>
          <p:cNvSpPr/>
          <p:nvPr/>
        </p:nvSpPr>
        <p:spPr>
          <a:xfrm>
            <a:off x="1069848" y="4526280"/>
            <a:ext cx="10554919" cy="960120"/>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Dessert and close.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Menu in hand. After-dinner drinks in the same breath. Busy nights the check rides with dessert. Gift cards live at the BAR TOP, not the host stand. If anything went sideways tonight, fix it before the check. Thank them by name.</a:t>
            </a:r>
            <a:endParaRPr lang="en-US" sz="12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The back server's night</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Organization equals speed</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6 — Steps of Service</a:t>
            </a:r>
            <a:endParaRPr lang="en-US" sz="950" dirty="0"/>
          </a:p>
        </p:txBody>
      </p:sp>
      <p:sp>
        <p:nvSpPr>
          <p:cNvPr id="5" name="Text 3"/>
          <p:cNvSpPr/>
          <p:nvPr/>
        </p:nvSpPr>
        <p:spPr>
          <a:xfrm>
            <a:off x="566928" y="1554480"/>
            <a:ext cx="5300320" cy="292608"/>
          </a:xfrm>
          <a:prstGeom prst="rect">
            <a:avLst/>
          </a:prstGeom>
          <a:noFill/>
          <a:ln/>
        </p:spPr>
        <p:txBody>
          <a:bodyPr wrap="square" lIns="0" tIns="0" rIns="0" bIns="0" rtlCol="0" anchor="ctr"/>
          <a:lstStyle/>
          <a:p>
            <a:pPr indent="0" marL="0">
              <a:buNone/>
            </a:pPr>
            <a:r>
              <a:rPr lang="en-US" sz="1500" b="1" dirty="0">
                <a:solidFill>
                  <a:srgbClr val="59201C"/>
                </a:solidFill>
                <a:latin typeface="Cambria" pitchFamily="34" charset="0"/>
                <a:ea typeface="Cambria" pitchFamily="34" charset="-122"/>
                <a:cs typeface="Cambria" pitchFamily="34" charset="-120"/>
              </a:rPr>
              <a:t>The rhythm</a:t>
            </a:r>
            <a:endParaRPr lang="en-US" sz="1500" dirty="0"/>
          </a:p>
        </p:txBody>
      </p:sp>
      <p:sp>
        <p:nvSpPr>
          <p:cNvPr id="6" name="Text 4"/>
          <p:cNvSpPr/>
          <p:nvPr/>
        </p:nvSpPr>
        <p:spPr>
          <a:xfrm>
            <a:off x="566928" y="1938528"/>
            <a:ext cx="5300320" cy="4187952"/>
          </a:xfrm>
          <a:prstGeom prst="rect">
            <a:avLst/>
          </a:prstGeom>
          <a:noFill/>
          <a:ln/>
        </p:spPr>
        <p:txBody>
          <a:bodyPr wrap="square" lIns="0" tIns="0" rIns="0" bIns="0" rtlCol="0" anchor="t"/>
          <a:lstStyle/>
          <a:p>
            <a:pPr marL="177800" indent="-177800">
              <a:lnSpc>
                <a:spcPts val="1560"/>
              </a:lnSpc>
              <a:spcAft>
                <a:spcPts val="600"/>
              </a:spcAft>
              <a:buSzPct val="100000"/>
              <a:buChar char="•"/>
            </a:pPr>
            <a:r>
              <a:rPr lang="en-US" sz="1200" dirty="0">
                <a:solidFill>
                  <a:srgbClr val="2B2118"/>
                </a:solidFill>
                <a:latin typeface="Calibri" pitchFamily="34" charset="0"/>
                <a:ea typeface="Calibri" pitchFamily="34" charset="-122"/>
                <a:cs typeface="Calibri" pitchFamily="34" charset="-120"/>
              </a:rPr>
              <a:t>Drop B&amp;B plates after the greet.</a:t>
            </a:r>
            <a:endParaRPr lang="en-US" sz="1200" dirty="0"/>
          </a:p>
          <a:p>
            <a:pPr marL="177800" indent="-177800">
              <a:lnSpc>
                <a:spcPts val="1560"/>
              </a:lnSpc>
              <a:spcAft>
                <a:spcPts val="600"/>
              </a:spcAft>
              <a:buSzPct val="100000"/>
              <a:buChar char="•"/>
            </a:pPr>
            <a:r>
              <a:rPr lang="en-US" sz="1200" dirty="0">
                <a:solidFill>
                  <a:srgbClr val="2B2118"/>
                </a:solidFill>
                <a:latin typeface="Calibri" pitchFamily="34" charset="0"/>
                <a:ea typeface="Calibri" pitchFamily="34" charset="-122"/>
                <a:cs typeface="Calibri" pitchFamily="34" charset="-120"/>
              </a:rPr>
              <a:t>Run and clear apps — always carry a tray, there is always something to grab.</a:t>
            </a:r>
            <a:endParaRPr lang="en-US" sz="1200" dirty="0"/>
          </a:p>
          <a:p>
            <a:pPr marL="177800" indent="-177800">
              <a:lnSpc>
                <a:spcPts val="1560"/>
              </a:lnSpc>
              <a:spcAft>
                <a:spcPts val="600"/>
              </a:spcAft>
              <a:buSzPct val="100000"/>
              <a:buChar char="•"/>
            </a:pPr>
            <a:r>
              <a:rPr lang="en-US" sz="1200" dirty="0">
                <a:solidFill>
                  <a:srgbClr val="2B2118"/>
                </a:solidFill>
                <a:latin typeface="Calibri" pitchFamily="34" charset="0"/>
                <a:ea typeface="Calibri" pitchFamily="34" charset="-122"/>
                <a:cs typeface="Calibri" pitchFamily="34" charset="-120"/>
              </a:rPr>
              <a:t>Crumb the table, tell your front when apps are clear.</a:t>
            </a:r>
            <a:endParaRPr lang="en-US" sz="1200" dirty="0"/>
          </a:p>
          <a:p>
            <a:pPr marL="177800" indent="-177800">
              <a:lnSpc>
                <a:spcPts val="1560"/>
              </a:lnSpc>
              <a:spcAft>
                <a:spcPts val="600"/>
              </a:spcAft>
              <a:buSzPct val="100000"/>
              <a:buChar char="•"/>
            </a:pPr>
            <a:r>
              <a:rPr lang="en-US" sz="1200" dirty="0">
                <a:solidFill>
                  <a:srgbClr val="2B2118"/>
                </a:solidFill>
                <a:latin typeface="Calibri" pitchFamily="34" charset="0"/>
                <a:ea typeface="Calibri" pitchFamily="34" charset="-122"/>
                <a:cs typeface="Calibri" pitchFamily="34" charset="-120"/>
              </a:rPr>
              <a:t>Pour soups only when the salads are trayed. Salads down means pepper mill up.</a:t>
            </a:r>
            <a:endParaRPr lang="en-US" sz="1200" dirty="0"/>
          </a:p>
          <a:p>
            <a:pPr marL="177800" indent="-177800">
              <a:lnSpc>
                <a:spcPts val="1560"/>
              </a:lnSpc>
              <a:spcAft>
                <a:spcPts val="600"/>
              </a:spcAft>
              <a:buSzPct val="100000"/>
              <a:buChar char="•"/>
            </a:pPr>
            <a:r>
              <a:rPr lang="en-US" sz="1200" dirty="0">
                <a:solidFill>
                  <a:srgbClr val="2B2118"/>
                </a:solidFill>
                <a:latin typeface="Calibri" pitchFamily="34" charset="0"/>
                <a:ea typeface="Calibri" pitchFamily="34" charset="-122"/>
                <a:cs typeface="Calibri" pitchFamily="34" charset="-120"/>
              </a:rPr>
              <a:t>Clear and mark in one trip.</a:t>
            </a:r>
            <a:endParaRPr lang="en-US" sz="1200" dirty="0"/>
          </a:p>
          <a:p>
            <a:pPr marL="177800" indent="-177800">
              <a:lnSpc>
                <a:spcPts val="1560"/>
              </a:lnSpc>
              <a:spcAft>
                <a:spcPts val="600"/>
              </a:spcAft>
              <a:buSzPct val="100000"/>
              <a:buChar char="•"/>
            </a:pPr>
            <a:r>
              <a:rPr lang="en-US" sz="1200" dirty="0">
                <a:solidFill>
                  <a:srgbClr val="2B2118"/>
                </a:solidFill>
                <a:latin typeface="Calibri" pitchFamily="34" charset="0"/>
                <a:ea typeface="Calibri" pitchFamily="34" charset="-122"/>
                <a:cs typeface="Calibri" pitchFamily="34" charset="-120"/>
              </a:rPr>
              <a:t>Talk timing with expo — a slow table needs entrees held, so say so.</a:t>
            </a:r>
            <a:endParaRPr lang="en-US" sz="1200" dirty="0"/>
          </a:p>
        </p:txBody>
      </p:sp>
      <p:sp>
        <p:nvSpPr>
          <p:cNvPr id="7" name="Text 5"/>
          <p:cNvSpPr/>
          <p:nvPr/>
        </p:nvSpPr>
        <p:spPr>
          <a:xfrm>
            <a:off x="6324448" y="1554480"/>
            <a:ext cx="5300320" cy="292608"/>
          </a:xfrm>
          <a:prstGeom prst="rect">
            <a:avLst/>
          </a:prstGeom>
          <a:noFill/>
          <a:ln/>
        </p:spPr>
        <p:txBody>
          <a:bodyPr wrap="square" lIns="0" tIns="0" rIns="0" bIns="0" rtlCol="0" anchor="ctr"/>
          <a:lstStyle/>
          <a:p>
            <a:pPr indent="0" marL="0">
              <a:buNone/>
            </a:pPr>
            <a:r>
              <a:rPr lang="en-US" sz="1500" b="1" dirty="0">
                <a:solidFill>
                  <a:srgbClr val="59201C"/>
                </a:solidFill>
                <a:latin typeface="Cambria" pitchFamily="34" charset="0"/>
                <a:ea typeface="Cambria" pitchFamily="34" charset="-122"/>
                <a:cs typeface="Cambria" pitchFamily="34" charset="-120"/>
              </a:rPr>
              <a:t>The details that separate you</a:t>
            </a:r>
            <a:endParaRPr lang="en-US" sz="1500" dirty="0"/>
          </a:p>
        </p:txBody>
      </p:sp>
      <p:sp>
        <p:nvSpPr>
          <p:cNvPr id="8" name="Text 6"/>
          <p:cNvSpPr/>
          <p:nvPr/>
        </p:nvSpPr>
        <p:spPr>
          <a:xfrm>
            <a:off x="6324448" y="1938528"/>
            <a:ext cx="5300320" cy="4187952"/>
          </a:xfrm>
          <a:prstGeom prst="rect">
            <a:avLst/>
          </a:prstGeom>
          <a:noFill/>
          <a:ln/>
        </p:spPr>
        <p:txBody>
          <a:bodyPr wrap="square" lIns="0" tIns="0" rIns="0" bIns="0" rtlCol="0" anchor="t"/>
          <a:lstStyle/>
          <a:p>
            <a:pPr marL="177800" indent="-177800">
              <a:lnSpc>
                <a:spcPts val="1560"/>
              </a:lnSpc>
              <a:spcAft>
                <a:spcPts val="600"/>
              </a:spcAft>
              <a:buSzPct val="100000"/>
              <a:buChar char="•"/>
            </a:pPr>
            <a:r>
              <a:rPr lang="en-US" sz="1200" dirty="0">
                <a:solidFill>
                  <a:srgbClr val="2B2118"/>
                </a:solidFill>
                <a:latin typeface="Calibri" pitchFamily="34" charset="0"/>
                <a:ea typeface="Calibri" pitchFamily="34" charset="-122"/>
                <a:cs typeface="Calibri" pitchFamily="34" charset="-120"/>
              </a:rPr>
              <a:t>Entrees down, tell the front so the two-bite checkback lands on time.</a:t>
            </a:r>
            <a:endParaRPr lang="en-US" sz="1200" dirty="0"/>
          </a:p>
          <a:p>
            <a:pPr marL="177800" indent="-177800">
              <a:lnSpc>
                <a:spcPts val="1560"/>
              </a:lnSpc>
              <a:spcAft>
                <a:spcPts val="600"/>
              </a:spcAft>
              <a:buSzPct val="100000"/>
              <a:buChar char="•"/>
            </a:pPr>
            <a:r>
              <a:rPr lang="en-US" sz="1200" dirty="0">
                <a:solidFill>
                  <a:srgbClr val="2B2118"/>
                </a:solidFill>
                <a:latin typeface="Calibri" pitchFamily="34" charset="0"/>
                <a:ea typeface="Calibri" pitchFamily="34" charset="-122"/>
                <a:cs typeface="Calibri" pitchFamily="34" charset="-120"/>
              </a:rPr>
              <a:t>Box away from the guest: everything boxed, bagged, bag on your arm, tray to dish — set the bag down while you dump so you never forget it.</a:t>
            </a:r>
            <a:endParaRPr lang="en-US" sz="1200" dirty="0"/>
          </a:p>
          <a:p>
            <a:pPr marL="177800" indent="-177800">
              <a:lnSpc>
                <a:spcPts val="1560"/>
              </a:lnSpc>
              <a:spcAft>
                <a:spcPts val="600"/>
              </a:spcAft>
              <a:buSzPct val="100000"/>
              <a:buChar char="•"/>
            </a:pPr>
            <a:r>
              <a:rPr lang="en-US" sz="1200" dirty="0">
                <a:solidFill>
                  <a:srgbClr val="2B2118"/>
                </a:solidFill>
                <a:latin typeface="Calibri" pitchFamily="34" charset="0"/>
                <a:ea typeface="Calibri" pitchFamily="34" charset="-122"/>
                <a:cs typeface="Calibri" pitchFamily="34" charset="-120"/>
              </a:rPr>
              <a:t>Drop dessert menus and give the dessert talk yourself when the front is buried.</a:t>
            </a:r>
            <a:endParaRPr lang="en-US" sz="1200" dirty="0"/>
          </a:p>
          <a:p>
            <a:pPr marL="177800" indent="-177800">
              <a:lnSpc>
                <a:spcPts val="1560"/>
              </a:lnSpc>
              <a:spcAft>
                <a:spcPts val="600"/>
              </a:spcAft>
              <a:buSzPct val="100000"/>
              <a:buChar char="•"/>
            </a:pPr>
            <a:r>
              <a:rPr lang="en-US" sz="1200" dirty="0">
                <a:solidFill>
                  <a:srgbClr val="2B2118"/>
                </a:solidFill>
                <a:latin typeface="Calibri" pitchFamily="34" charset="0"/>
                <a:ea typeface="Calibri" pitchFamily="34" charset="-122"/>
                <a:cs typeface="Calibri" pitchFamily="34" charset="-120"/>
              </a:rPr>
              <a:t>Desserts ordered: mark with B&amp;Bs and dessert spoons. Bananas Foster means warning your front you are about to be tied up.</a:t>
            </a:r>
            <a:endParaRPr lang="en-US" sz="1200" dirty="0"/>
          </a:p>
          <a:p>
            <a:pPr marL="177800" indent="-177800">
              <a:lnSpc>
                <a:spcPts val="1560"/>
              </a:lnSpc>
              <a:spcAft>
                <a:spcPts val="600"/>
              </a:spcAft>
              <a:buSzPct val="100000"/>
              <a:buChar char="•"/>
            </a:pPr>
            <a:r>
              <a:rPr lang="en-US" sz="1200" dirty="0">
                <a:solidFill>
                  <a:srgbClr val="2B2118"/>
                </a:solidFill>
                <a:latin typeface="Calibri" pitchFamily="34" charset="0"/>
                <a:ea typeface="Calibri" pitchFamily="34" charset="-122"/>
                <a:cs typeface="Calibri" pitchFamily="34" charset="-120"/>
              </a:rPr>
              <a:t>Start every shift talking with your front: who handles what, and get on the same page about seat numbers.</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Bar-top standards</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The same religion, faster</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6 — Steps of Service</a:t>
            </a:r>
            <a:endParaRPr lang="en-US" sz="950" dirty="0"/>
          </a:p>
        </p:txBody>
      </p:sp>
      <p:sp>
        <p:nvSpPr>
          <p:cNvPr id="5" name="Shape 3"/>
          <p:cNvSpPr/>
          <p:nvPr/>
        </p:nvSpPr>
        <p:spPr>
          <a:xfrm>
            <a:off x="566928" y="1572768"/>
            <a:ext cx="2558720" cy="1170432"/>
          </a:xfrm>
          <a:prstGeom prst="roundRect">
            <a:avLst>
              <a:gd name="adj" fmla="val 4688"/>
            </a:avLst>
          </a:prstGeom>
          <a:solidFill>
            <a:srgbClr val="59201C"/>
          </a:solidFill>
          <a:ln w="12700">
            <a:solidFill>
              <a:srgbClr val="333333"/>
            </a:solidFill>
            <a:prstDash val="solid"/>
          </a:ln>
        </p:spPr>
      </p:sp>
      <p:sp>
        <p:nvSpPr>
          <p:cNvPr id="6" name="Text 4"/>
          <p:cNvSpPr/>
          <p:nvPr/>
        </p:nvSpPr>
        <p:spPr>
          <a:xfrm>
            <a:off x="658368" y="1700784"/>
            <a:ext cx="2375840" cy="512064"/>
          </a:xfrm>
          <a:prstGeom prst="rect">
            <a:avLst/>
          </a:prstGeom>
          <a:noFill/>
          <a:ln/>
        </p:spPr>
        <p:txBody>
          <a:bodyPr wrap="square" lIns="0" tIns="0" rIns="0" bIns="0" rtlCol="0" anchor="ctr"/>
          <a:lstStyle/>
          <a:p>
            <a:pPr algn="ctr" indent="0" marL="0">
              <a:buNone/>
            </a:pPr>
            <a:r>
              <a:rPr lang="en-US" sz="2400" b="1" dirty="0">
                <a:solidFill>
                  <a:srgbClr val="F7EFE4"/>
                </a:solidFill>
                <a:latin typeface="Cambria" pitchFamily="34" charset="0"/>
                <a:ea typeface="Cambria" pitchFamily="34" charset="-122"/>
                <a:cs typeface="Cambria" pitchFamily="34" charset="-120"/>
              </a:rPr>
              <a:t>60 seconds</a:t>
            </a:r>
            <a:endParaRPr lang="en-US" sz="2400" dirty="0"/>
          </a:p>
        </p:txBody>
      </p:sp>
      <p:sp>
        <p:nvSpPr>
          <p:cNvPr id="7" name="Text 5"/>
          <p:cNvSpPr/>
          <p:nvPr/>
        </p:nvSpPr>
        <p:spPr>
          <a:xfrm>
            <a:off x="658368" y="2212848"/>
            <a:ext cx="2375840" cy="384048"/>
          </a:xfrm>
          <a:prstGeom prst="rect">
            <a:avLst/>
          </a:prstGeom>
          <a:noFill/>
          <a:ln/>
        </p:spPr>
        <p:txBody>
          <a:bodyPr wrap="square" lIns="0" tIns="0" rIns="0" bIns="0" rtlCol="0" anchor="t"/>
          <a:lstStyle/>
          <a:p>
            <a:pPr algn="ctr" indent="0" marL="0">
              <a:buNone/>
            </a:pPr>
            <a:r>
              <a:rPr lang="en-US" sz="1150" dirty="0">
                <a:solidFill>
                  <a:srgbClr val="E8D6C8"/>
                </a:solidFill>
                <a:latin typeface="Calibri" pitchFamily="34" charset="0"/>
                <a:ea typeface="Calibri" pitchFamily="34" charset="-122"/>
                <a:cs typeface="Calibri" pitchFamily="34" charset="-120"/>
              </a:rPr>
              <a:t>greet</a:t>
            </a:r>
            <a:endParaRPr lang="en-US" sz="1150" dirty="0"/>
          </a:p>
        </p:txBody>
      </p:sp>
      <p:sp>
        <p:nvSpPr>
          <p:cNvPr id="8" name="Shape 6"/>
          <p:cNvSpPr/>
          <p:nvPr/>
        </p:nvSpPr>
        <p:spPr>
          <a:xfrm>
            <a:off x="3399968" y="1572768"/>
            <a:ext cx="2558720" cy="1170432"/>
          </a:xfrm>
          <a:prstGeom prst="roundRect">
            <a:avLst>
              <a:gd name="adj" fmla="val 4688"/>
            </a:avLst>
          </a:prstGeom>
          <a:solidFill>
            <a:srgbClr val="59201C"/>
          </a:solidFill>
          <a:ln w="12700">
            <a:solidFill>
              <a:srgbClr val="333333"/>
            </a:solidFill>
            <a:prstDash val="solid"/>
          </a:ln>
        </p:spPr>
      </p:sp>
      <p:sp>
        <p:nvSpPr>
          <p:cNvPr id="9" name="Text 7"/>
          <p:cNvSpPr/>
          <p:nvPr/>
        </p:nvSpPr>
        <p:spPr>
          <a:xfrm>
            <a:off x="3491408" y="1700784"/>
            <a:ext cx="2375840" cy="512064"/>
          </a:xfrm>
          <a:prstGeom prst="rect">
            <a:avLst/>
          </a:prstGeom>
          <a:noFill/>
          <a:ln/>
        </p:spPr>
        <p:txBody>
          <a:bodyPr wrap="square" lIns="0" tIns="0" rIns="0" bIns="0" rtlCol="0" anchor="ctr"/>
          <a:lstStyle/>
          <a:p>
            <a:pPr algn="ctr" indent="0" marL="0">
              <a:buNone/>
            </a:pPr>
            <a:r>
              <a:rPr lang="en-US" sz="2400" b="1" dirty="0">
                <a:solidFill>
                  <a:srgbClr val="F7EFE4"/>
                </a:solidFill>
                <a:latin typeface="Cambria" pitchFamily="34" charset="0"/>
                <a:ea typeface="Cambria" pitchFamily="34" charset="-122"/>
                <a:cs typeface="Cambria" pitchFamily="34" charset="-120"/>
              </a:rPr>
              <a:t>2 minutes</a:t>
            </a:r>
            <a:endParaRPr lang="en-US" sz="2400" dirty="0"/>
          </a:p>
        </p:txBody>
      </p:sp>
      <p:sp>
        <p:nvSpPr>
          <p:cNvPr id="10" name="Text 8"/>
          <p:cNvSpPr/>
          <p:nvPr/>
        </p:nvSpPr>
        <p:spPr>
          <a:xfrm>
            <a:off x="3491408" y="2212848"/>
            <a:ext cx="2375840" cy="384048"/>
          </a:xfrm>
          <a:prstGeom prst="rect">
            <a:avLst/>
          </a:prstGeom>
          <a:noFill/>
          <a:ln/>
        </p:spPr>
        <p:txBody>
          <a:bodyPr wrap="square" lIns="0" tIns="0" rIns="0" bIns="0" rtlCol="0" anchor="t"/>
          <a:lstStyle/>
          <a:p>
            <a:pPr algn="ctr" indent="0" marL="0">
              <a:buNone/>
            </a:pPr>
            <a:r>
              <a:rPr lang="en-US" sz="1150" dirty="0">
                <a:solidFill>
                  <a:srgbClr val="E8D6C8"/>
                </a:solidFill>
                <a:latin typeface="Calibri" pitchFamily="34" charset="0"/>
                <a:ea typeface="Calibri" pitchFamily="34" charset="-122"/>
                <a:cs typeface="Calibri" pitchFamily="34" charset="-120"/>
              </a:rPr>
              <a:t>water and menus</a:t>
            </a:r>
            <a:endParaRPr lang="en-US" sz="1150" dirty="0"/>
          </a:p>
        </p:txBody>
      </p:sp>
      <p:sp>
        <p:nvSpPr>
          <p:cNvPr id="11" name="Shape 9"/>
          <p:cNvSpPr/>
          <p:nvPr/>
        </p:nvSpPr>
        <p:spPr>
          <a:xfrm>
            <a:off x="6233008" y="1572768"/>
            <a:ext cx="2558720" cy="1170432"/>
          </a:xfrm>
          <a:prstGeom prst="roundRect">
            <a:avLst>
              <a:gd name="adj" fmla="val 4688"/>
            </a:avLst>
          </a:prstGeom>
          <a:solidFill>
            <a:srgbClr val="59201C"/>
          </a:solidFill>
          <a:ln w="12700">
            <a:solidFill>
              <a:srgbClr val="333333"/>
            </a:solidFill>
            <a:prstDash val="solid"/>
          </a:ln>
        </p:spPr>
      </p:sp>
      <p:sp>
        <p:nvSpPr>
          <p:cNvPr id="12" name="Text 10"/>
          <p:cNvSpPr/>
          <p:nvPr/>
        </p:nvSpPr>
        <p:spPr>
          <a:xfrm>
            <a:off x="6324448" y="1700784"/>
            <a:ext cx="2375840" cy="512064"/>
          </a:xfrm>
          <a:prstGeom prst="rect">
            <a:avLst/>
          </a:prstGeom>
          <a:noFill/>
          <a:ln/>
        </p:spPr>
        <p:txBody>
          <a:bodyPr wrap="square" lIns="0" tIns="0" rIns="0" bIns="0" rtlCol="0" anchor="ctr"/>
          <a:lstStyle/>
          <a:p>
            <a:pPr algn="ctr" indent="0" marL="0">
              <a:buNone/>
            </a:pPr>
            <a:r>
              <a:rPr lang="en-US" sz="2400" b="1" dirty="0">
                <a:solidFill>
                  <a:srgbClr val="F7EFE4"/>
                </a:solidFill>
                <a:latin typeface="Cambria" pitchFamily="34" charset="0"/>
                <a:ea typeface="Cambria" pitchFamily="34" charset="-122"/>
                <a:cs typeface="Cambria" pitchFamily="34" charset="-120"/>
              </a:rPr>
              <a:t>5 minutes</a:t>
            </a:r>
            <a:endParaRPr lang="en-US" sz="2400" dirty="0"/>
          </a:p>
        </p:txBody>
      </p:sp>
      <p:sp>
        <p:nvSpPr>
          <p:cNvPr id="13" name="Text 11"/>
          <p:cNvSpPr/>
          <p:nvPr/>
        </p:nvSpPr>
        <p:spPr>
          <a:xfrm>
            <a:off x="6324448" y="2212848"/>
            <a:ext cx="2375840" cy="384048"/>
          </a:xfrm>
          <a:prstGeom prst="rect">
            <a:avLst/>
          </a:prstGeom>
          <a:noFill/>
          <a:ln/>
        </p:spPr>
        <p:txBody>
          <a:bodyPr wrap="square" lIns="0" tIns="0" rIns="0" bIns="0" rtlCol="0" anchor="t"/>
          <a:lstStyle/>
          <a:p>
            <a:pPr algn="ctr" indent="0" marL="0">
              <a:buNone/>
            </a:pPr>
            <a:r>
              <a:rPr lang="en-US" sz="1150" dirty="0">
                <a:solidFill>
                  <a:srgbClr val="E8D6C8"/>
                </a:solidFill>
                <a:latin typeface="Calibri" pitchFamily="34" charset="0"/>
                <a:ea typeface="Calibri" pitchFamily="34" charset="-122"/>
                <a:cs typeface="Calibri" pitchFamily="34" charset="-120"/>
              </a:rPr>
              <a:t>first drink</a:t>
            </a:r>
            <a:endParaRPr lang="en-US" sz="1150" dirty="0"/>
          </a:p>
        </p:txBody>
      </p:sp>
      <p:sp>
        <p:nvSpPr>
          <p:cNvPr id="14" name="Shape 12"/>
          <p:cNvSpPr/>
          <p:nvPr/>
        </p:nvSpPr>
        <p:spPr>
          <a:xfrm>
            <a:off x="9066047" y="1572768"/>
            <a:ext cx="2558720" cy="1170432"/>
          </a:xfrm>
          <a:prstGeom prst="roundRect">
            <a:avLst>
              <a:gd name="adj" fmla="val 4688"/>
            </a:avLst>
          </a:prstGeom>
          <a:solidFill>
            <a:srgbClr val="59201C"/>
          </a:solidFill>
          <a:ln w="12700">
            <a:solidFill>
              <a:srgbClr val="333333"/>
            </a:solidFill>
            <a:prstDash val="solid"/>
          </a:ln>
        </p:spPr>
      </p:sp>
      <p:sp>
        <p:nvSpPr>
          <p:cNvPr id="15" name="Text 13"/>
          <p:cNvSpPr/>
          <p:nvPr/>
        </p:nvSpPr>
        <p:spPr>
          <a:xfrm>
            <a:off x="9157487" y="1700784"/>
            <a:ext cx="2375840" cy="512064"/>
          </a:xfrm>
          <a:prstGeom prst="rect">
            <a:avLst/>
          </a:prstGeom>
          <a:noFill/>
          <a:ln/>
        </p:spPr>
        <p:txBody>
          <a:bodyPr wrap="square" lIns="0" tIns="0" rIns="0" bIns="0" rtlCol="0" anchor="ctr"/>
          <a:lstStyle/>
          <a:p>
            <a:pPr algn="ctr" indent="0" marL="0">
              <a:buNone/>
            </a:pPr>
            <a:r>
              <a:rPr lang="en-US" sz="2400" b="1" dirty="0">
                <a:solidFill>
                  <a:srgbClr val="F7EFE4"/>
                </a:solidFill>
                <a:latin typeface="Cambria" pitchFamily="34" charset="0"/>
                <a:ea typeface="Cambria" pitchFamily="34" charset="-122"/>
                <a:cs typeface="Cambria" pitchFamily="34" charset="-120"/>
              </a:rPr>
              <a:t>7-12 minutes</a:t>
            </a:r>
            <a:endParaRPr lang="en-US" sz="2400" dirty="0"/>
          </a:p>
        </p:txBody>
      </p:sp>
      <p:sp>
        <p:nvSpPr>
          <p:cNvPr id="16" name="Text 14"/>
          <p:cNvSpPr/>
          <p:nvPr/>
        </p:nvSpPr>
        <p:spPr>
          <a:xfrm>
            <a:off x="9157487" y="2212848"/>
            <a:ext cx="2375840" cy="384048"/>
          </a:xfrm>
          <a:prstGeom prst="rect">
            <a:avLst/>
          </a:prstGeom>
          <a:noFill/>
          <a:ln/>
        </p:spPr>
        <p:txBody>
          <a:bodyPr wrap="square" lIns="0" tIns="0" rIns="0" bIns="0" rtlCol="0" anchor="t"/>
          <a:lstStyle/>
          <a:p>
            <a:pPr algn="ctr" indent="0" marL="0">
              <a:buNone/>
            </a:pPr>
            <a:r>
              <a:rPr lang="en-US" sz="1150" dirty="0">
                <a:solidFill>
                  <a:srgbClr val="E8D6C8"/>
                </a:solidFill>
                <a:latin typeface="Calibri" pitchFamily="34" charset="0"/>
                <a:ea typeface="Calibri" pitchFamily="34" charset="-122"/>
                <a:cs typeface="Calibri" pitchFamily="34" charset="-120"/>
              </a:rPr>
              <a:t>apps, or you flag it</a:t>
            </a:r>
            <a:endParaRPr lang="en-US" sz="1150" dirty="0"/>
          </a:p>
        </p:txBody>
      </p:sp>
      <p:sp>
        <p:nvSpPr>
          <p:cNvPr id="17" name="Shape 15"/>
          <p:cNvSpPr/>
          <p:nvPr/>
        </p:nvSpPr>
        <p:spPr>
          <a:xfrm>
            <a:off x="566928" y="3026664"/>
            <a:ext cx="365760" cy="365760"/>
          </a:xfrm>
          <a:prstGeom prst="ellipse">
            <a:avLst/>
          </a:prstGeom>
          <a:solidFill>
            <a:srgbClr val="59201C"/>
          </a:solidFill>
          <a:ln w="12700">
            <a:solidFill>
              <a:srgbClr val="59201C"/>
            </a:solidFill>
            <a:prstDash val="solid"/>
          </a:ln>
        </p:spPr>
      </p:sp>
      <p:sp>
        <p:nvSpPr>
          <p:cNvPr id="18" name="Text 16"/>
          <p:cNvSpPr/>
          <p:nvPr/>
        </p:nvSpPr>
        <p:spPr>
          <a:xfrm>
            <a:off x="566928" y="3026664"/>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9" name="Text 17"/>
          <p:cNvSpPr/>
          <p:nvPr/>
        </p:nvSpPr>
        <p:spPr>
          <a:xfrm>
            <a:off x="1069848" y="2999232"/>
            <a:ext cx="10554919" cy="530352"/>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Talk to the guest about a delay.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Never hope they missed it.</a:t>
            </a:r>
            <a:endParaRPr lang="en-US" sz="1250" dirty="0"/>
          </a:p>
        </p:txBody>
      </p:sp>
      <p:sp>
        <p:nvSpPr>
          <p:cNvPr id="20" name="Shape 18"/>
          <p:cNvSpPr/>
          <p:nvPr/>
        </p:nvSpPr>
        <p:spPr>
          <a:xfrm>
            <a:off x="566928" y="3611880"/>
            <a:ext cx="365760" cy="365760"/>
          </a:xfrm>
          <a:prstGeom prst="ellipse">
            <a:avLst/>
          </a:prstGeom>
          <a:solidFill>
            <a:srgbClr val="59201C"/>
          </a:solidFill>
          <a:ln w="12700">
            <a:solidFill>
              <a:srgbClr val="59201C"/>
            </a:solidFill>
            <a:prstDash val="solid"/>
          </a:ln>
        </p:spPr>
      </p:sp>
      <p:sp>
        <p:nvSpPr>
          <p:cNvPr id="21" name="Text 19"/>
          <p:cNvSpPr/>
          <p:nvPr/>
        </p:nvSpPr>
        <p:spPr>
          <a:xfrm>
            <a:off x="566928" y="361188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22" name="Text 20"/>
          <p:cNvSpPr/>
          <p:nvPr/>
        </p:nvSpPr>
        <p:spPr>
          <a:xfrm>
            <a:off x="1069848" y="3584448"/>
            <a:ext cx="10554919" cy="530352"/>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Serving order, always: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hot lady, hot man, cold lady, cold man. Announce every plate with its full specification and pull the temp picks.</a:t>
            </a:r>
            <a:endParaRPr lang="en-US" sz="1250" dirty="0"/>
          </a:p>
        </p:txBody>
      </p:sp>
      <p:sp>
        <p:nvSpPr>
          <p:cNvPr id="23" name="Shape 21"/>
          <p:cNvSpPr/>
          <p:nvPr/>
        </p:nvSpPr>
        <p:spPr>
          <a:xfrm>
            <a:off x="566928" y="4197096"/>
            <a:ext cx="365760" cy="365760"/>
          </a:xfrm>
          <a:prstGeom prst="ellipse">
            <a:avLst/>
          </a:prstGeom>
          <a:solidFill>
            <a:srgbClr val="59201C"/>
          </a:solidFill>
          <a:ln w="12700">
            <a:solidFill>
              <a:srgbClr val="59201C"/>
            </a:solidFill>
            <a:prstDash val="solid"/>
          </a:ln>
        </p:spPr>
      </p:sp>
      <p:sp>
        <p:nvSpPr>
          <p:cNvPr id="24" name="Text 22"/>
          <p:cNvSpPr/>
          <p:nvPr/>
        </p:nvSpPr>
        <p:spPr>
          <a:xfrm>
            <a:off x="566928" y="4197096"/>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25" name="Text 23"/>
          <p:cNvSpPr/>
          <p:nvPr/>
        </p:nvSpPr>
        <p:spPr>
          <a:xfrm>
            <a:off x="1069848" y="4169664"/>
            <a:ext cx="10554919" cy="530352"/>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Clear within two minutes of a finished course,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never rushing, asking before blending courses.</a:t>
            </a:r>
            <a:endParaRPr lang="en-US" sz="1250" dirty="0"/>
          </a:p>
        </p:txBody>
      </p:sp>
      <p:sp>
        <p:nvSpPr>
          <p:cNvPr id="26" name="Shape 24"/>
          <p:cNvSpPr/>
          <p:nvPr/>
        </p:nvSpPr>
        <p:spPr>
          <a:xfrm>
            <a:off x="566928" y="4782312"/>
            <a:ext cx="365760" cy="365760"/>
          </a:xfrm>
          <a:prstGeom prst="ellipse">
            <a:avLst/>
          </a:prstGeom>
          <a:solidFill>
            <a:srgbClr val="59201C"/>
          </a:solidFill>
          <a:ln w="12700">
            <a:solidFill>
              <a:srgbClr val="59201C"/>
            </a:solidFill>
            <a:prstDash val="solid"/>
          </a:ln>
        </p:spPr>
      </p:sp>
      <p:sp>
        <p:nvSpPr>
          <p:cNvPr id="27" name="Text 25"/>
          <p:cNvSpPr/>
          <p:nvPr/>
        </p:nvSpPr>
        <p:spPr>
          <a:xfrm>
            <a:off x="566928" y="4782312"/>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28" name="Text 26"/>
          <p:cNvSpPr/>
          <p:nvPr/>
        </p:nvSpPr>
        <p:spPr>
          <a:xfrm>
            <a:off x="1069848" y="4754880"/>
            <a:ext cx="10554919" cy="530352"/>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Ring soups-and-salads and entrees together —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a time gap is how coursing gets confused.</a:t>
            </a:r>
            <a:endParaRPr lang="en-US" sz="1250" dirty="0"/>
          </a:p>
        </p:txBody>
      </p:sp>
      <p:sp>
        <p:nvSpPr>
          <p:cNvPr id="29" name="Shape 27"/>
          <p:cNvSpPr/>
          <p:nvPr/>
        </p:nvSpPr>
        <p:spPr>
          <a:xfrm>
            <a:off x="566928" y="5367528"/>
            <a:ext cx="365760" cy="365760"/>
          </a:xfrm>
          <a:prstGeom prst="ellipse">
            <a:avLst/>
          </a:prstGeom>
          <a:solidFill>
            <a:srgbClr val="59201C"/>
          </a:solidFill>
          <a:ln w="12700">
            <a:solidFill>
              <a:srgbClr val="59201C"/>
            </a:solidFill>
            <a:prstDash val="solid"/>
          </a:ln>
        </p:spPr>
      </p:sp>
      <p:sp>
        <p:nvSpPr>
          <p:cNvPr id="30" name="Text 28"/>
          <p:cNvSpPr/>
          <p:nvPr/>
        </p:nvSpPr>
        <p:spPr>
          <a:xfrm>
            <a:off x="566928" y="5367528"/>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31" name="Text 29"/>
          <p:cNvSpPr/>
          <p:nvPr/>
        </p:nvSpPr>
        <p:spPr>
          <a:xfrm>
            <a:off x="1069848" y="5340096"/>
            <a:ext cx="10554919" cy="530352"/>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Check stands tall in front of the guest,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run the card the second it hits the holster, names on the goodbye. Energy is everything behind a bar.</a:t>
            </a:r>
            <a:endParaRPr lang="en-US" sz="12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Place the document here</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Day 6 — Steps of Service</a:t>
            </a:r>
            <a:endParaRPr lang="en-US" sz="1350" dirty="0"/>
          </a:p>
        </p:txBody>
      </p:sp>
      <p:sp>
        <p:nvSpPr>
          <p:cNvPr id="4" name="Shape 2"/>
          <p:cNvSpPr/>
          <p:nvPr/>
        </p:nvSpPr>
        <p:spPr>
          <a:xfrm>
            <a:off x="566928" y="1481328"/>
            <a:ext cx="11057839" cy="3310128"/>
          </a:xfrm>
          <a:prstGeom prst="roundRect">
            <a:avLst>
              <a:gd name="adj" fmla="val 2210"/>
            </a:avLst>
          </a:prstGeom>
          <a:solidFill>
            <a:srgbClr val="FBF3E2"/>
          </a:solidFill>
          <a:ln w="28575">
            <a:solidFill>
              <a:srgbClr val="B0812F"/>
            </a:solidFill>
            <a:prstDash val="dash"/>
          </a:ln>
        </p:spPr>
      </p:sp>
      <p:sp>
        <p:nvSpPr>
          <p:cNvPr id="5" name="Text 3"/>
          <p:cNvSpPr/>
          <p:nvPr/>
        </p:nvSpPr>
        <p:spPr>
          <a:xfrm>
            <a:off x="566928" y="1847088"/>
            <a:ext cx="11057839" cy="329184"/>
          </a:xfrm>
          <a:prstGeom prst="rect">
            <a:avLst/>
          </a:prstGeom>
          <a:noFill/>
          <a:ln/>
        </p:spPr>
        <p:txBody>
          <a:bodyPr wrap="square" lIns="0" tIns="0" rIns="0" bIns="0" rtlCol="0" anchor="ctr"/>
          <a:lstStyle/>
          <a:p>
            <a:pPr algn="ctr" indent="0" marL="0">
              <a:buNone/>
            </a:pPr>
            <a:r>
              <a:rPr lang="en-US" sz="1300" b="1" spc="300" kern="0" dirty="0">
                <a:solidFill>
                  <a:srgbClr val="B0812F"/>
                </a:solidFill>
                <a:latin typeface="Calibri" pitchFamily="34" charset="0"/>
                <a:ea typeface="Calibri" pitchFamily="34" charset="-122"/>
                <a:cs typeface="Calibri" pitchFamily="34" charset="-120"/>
              </a:rPr>
              <a:t>PLACE PICTURE OF</a:t>
            </a:r>
            <a:endParaRPr lang="en-US" sz="1300" dirty="0"/>
          </a:p>
        </p:txBody>
      </p:sp>
      <p:sp>
        <p:nvSpPr>
          <p:cNvPr id="6" name="Text 4"/>
          <p:cNvSpPr/>
          <p:nvPr/>
        </p:nvSpPr>
        <p:spPr>
          <a:xfrm>
            <a:off x="1207008" y="2212848"/>
            <a:ext cx="9777679" cy="1371600"/>
          </a:xfrm>
          <a:prstGeom prst="rect">
            <a:avLst/>
          </a:prstGeom>
          <a:noFill/>
          <a:ln/>
        </p:spPr>
        <p:txBody>
          <a:bodyPr wrap="square" lIns="0" tIns="0" rIns="0" bIns="0" rtlCol="0" anchor="ctr"/>
          <a:lstStyle/>
          <a:p>
            <a:pPr algn="ctr" indent="0" marL="0">
              <a:lnSpc>
                <a:spcPts val="3800"/>
              </a:lnSpc>
              <a:buNone/>
            </a:pPr>
            <a:r>
              <a:rPr lang="en-US" sz="3100" b="1" dirty="0">
                <a:solidFill>
                  <a:srgbClr val="59201C"/>
                </a:solidFill>
                <a:latin typeface="Cambria" pitchFamily="34" charset="0"/>
                <a:ea typeface="Cambria" pitchFamily="34" charset="-122"/>
                <a:cs typeface="Cambria" pitchFamily="34" charset="-120"/>
              </a:rPr>
              <a:t>THE ORIGINAL STEPS-OF-SERVICE HANDOUT</a:t>
            </a:r>
            <a:endParaRPr lang="en-US" sz="3100" dirty="0"/>
          </a:p>
        </p:txBody>
      </p:sp>
      <p:sp>
        <p:nvSpPr>
          <p:cNvPr id="7" name="Text 5"/>
          <p:cNvSpPr/>
          <p:nvPr/>
        </p:nvSpPr>
        <p:spPr>
          <a:xfrm>
            <a:off x="566928" y="3657600"/>
            <a:ext cx="11057839" cy="329184"/>
          </a:xfrm>
          <a:prstGeom prst="rect">
            <a:avLst/>
          </a:prstGeom>
          <a:noFill/>
          <a:ln/>
        </p:spPr>
        <p:txBody>
          <a:bodyPr wrap="square" lIns="0" tIns="0" rIns="0" bIns="0" rtlCol="0" anchor="ctr"/>
          <a:lstStyle/>
          <a:p>
            <a:pPr algn="ctr" indent="0" marL="0">
              <a:buNone/>
            </a:pPr>
            <a:r>
              <a:rPr lang="en-US" sz="1300" b="1" spc="300" kern="0" dirty="0">
                <a:solidFill>
                  <a:srgbClr val="B0812F"/>
                </a:solidFill>
                <a:latin typeface="Calibri" pitchFamily="34" charset="0"/>
                <a:ea typeface="Calibri" pitchFamily="34" charset="-122"/>
                <a:cs typeface="Calibri" pitchFamily="34" charset="-120"/>
              </a:rPr>
              <a:t>HERE</a:t>
            </a:r>
            <a:endParaRPr lang="en-US" sz="1300" dirty="0"/>
          </a:p>
        </p:txBody>
      </p:sp>
      <p:sp>
        <p:nvSpPr>
          <p:cNvPr id="8" name="Text 6"/>
          <p:cNvSpPr/>
          <p:nvPr/>
        </p:nvSpPr>
        <p:spPr>
          <a:xfrm>
            <a:off x="1481328" y="4041648"/>
            <a:ext cx="9229039" cy="566928"/>
          </a:xfrm>
          <a:prstGeom prst="rect">
            <a:avLst/>
          </a:prstGeom>
          <a:noFill/>
          <a:ln/>
        </p:spPr>
        <p:txBody>
          <a:bodyPr wrap="square" lIns="0" tIns="0" rIns="0" bIns="0" rtlCol="0" anchor="t"/>
          <a:lstStyle/>
          <a:p>
            <a:pPr algn="ctr" indent="0" marL="0">
              <a:lnSpc>
                <a:spcPts val="1600"/>
              </a:lnSpc>
              <a:buNone/>
            </a:pPr>
            <a:r>
              <a:rPr lang="en-US" sz="1200" i="1" dirty="0">
                <a:solidFill>
                  <a:srgbClr val="6B5B4B"/>
                </a:solidFill>
                <a:latin typeface="Calibri" pitchFamily="34" charset="0"/>
                <a:ea typeface="Calibri" pitchFamily="34" charset="-122"/>
                <a:cs typeface="Calibri" pitchFamily="34" charset="-120"/>
              </a:rPr>
              <a:t>Front and back, word for word, so this chapter can quote the sheet instead of reconstructing it.</a:t>
            </a:r>
            <a:endParaRPr lang="en-US" sz="1200" dirty="0"/>
          </a:p>
        </p:txBody>
      </p:sp>
      <p:sp>
        <p:nvSpPr>
          <p:cNvPr id="9" name="Text 7"/>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6 — Steps of Service</a:t>
            </a:r>
            <a:endParaRPr lang="en-US" sz="9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59201C"/>
        </a:solidFill>
      </p:bgPr>
    </p:bg>
    <p:spTree>
      <p:nvGrpSpPr>
        <p:cNvPr id="1" name=""/>
        <p:cNvGrpSpPr/>
        <p:nvPr/>
      </p:nvGrpSpPr>
      <p:grpSpPr>
        <a:xfrm>
          <a:off x="0" y="0"/>
          <a:ext cx="0" cy="0"/>
          <a:chOff x="0" y="0"/>
          <a:chExt cx="0" cy="0"/>
        </a:xfrm>
      </p:grpSpPr>
      <p:sp>
        <p:nvSpPr>
          <p:cNvPr id="2" name="Shape 0"/>
          <p:cNvSpPr/>
          <p:nvPr/>
        </p:nvSpPr>
        <p:spPr>
          <a:xfrm>
            <a:off x="566928" y="1737360"/>
            <a:ext cx="1051560" cy="1051560"/>
          </a:xfrm>
          <a:prstGeom prst="ellipse">
            <a:avLst/>
          </a:prstGeom>
          <a:solidFill>
            <a:srgbClr val="F7EFE4"/>
          </a:solidFill>
          <a:ln w="12700">
            <a:solidFill>
              <a:srgbClr val="F7EFE4"/>
            </a:solidFill>
            <a:prstDash val="solid"/>
          </a:ln>
        </p:spPr>
      </p:sp>
      <p:sp>
        <p:nvSpPr>
          <p:cNvPr id="3" name="Text 1"/>
          <p:cNvSpPr/>
          <p:nvPr/>
        </p:nvSpPr>
        <p:spPr>
          <a:xfrm>
            <a:off x="566928" y="1737360"/>
            <a:ext cx="1051560" cy="1051560"/>
          </a:xfrm>
          <a:prstGeom prst="rect">
            <a:avLst/>
          </a:prstGeom>
          <a:noFill/>
          <a:ln/>
        </p:spPr>
        <p:txBody>
          <a:bodyPr wrap="square" lIns="0" tIns="0" rIns="0" bIns="0" rtlCol="0" anchor="ctr"/>
          <a:lstStyle/>
          <a:p>
            <a:pPr algn="ctr" indent="0" marL="0">
              <a:buNone/>
            </a:pPr>
            <a:r>
              <a:rPr lang="en-US" sz="4000" b="1" dirty="0">
                <a:solidFill>
                  <a:srgbClr val="59201C"/>
                </a:solidFill>
                <a:latin typeface="Cambria" pitchFamily="34" charset="0"/>
                <a:ea typeface="Cambria" pitchFamily="34" charset="-122"/>
                <a:cs typeface="Cambria" pitchFamily="34" charset="-120"/>
              </a:rPr>
              <a:t>7</a:t>
            </a:r>
            <a:endParaRPr lang="en-US" sz="4000" dirty="0"/>
          </a:p>
        </p:txBody>
      </p:sp>
      <p:sp>
        <p:nvSpPr>
          <p:cNvPr id="4" name="Text 2"/>
          <p:cNvSpPr/>
          <p:nvPr/>
        </p:nvSpPr>
        <p:spPr>
          <a:xfrm>
            <a:off x="1938528" y="1700784"/>
            <a:ext cx="9686239" cy="786384"/>
          </a:xfrm>
          <a:prstGeom prst="rect">
            <a:avLst/>
          </a:prstGeom>
          <a:noFill/>
          <a:ln/>
        </p:spPr>
        <p:txBody>
          <a:bodyPr wrap="square" lIns="0" tIns="0" rIns="0" bIns="0" rtlCol="0" anchor="ctr"/>
          <a:lstStyle/>
          <a:p>
            <a:pPr indent="0" marL="0">
              <a:buNone/>
            </a:pPr>
            <a:r>
              <a:rPr lang="en-US" sz="4000" b="1" dirty="0">
                <a:solidFill>
                  <a:srgbClr val="F7EFE4"/>
                </a:solidFill>
                <a:latin typeface="Cambria" pitchFamily="34" charset="0"/>
                <a:ea typeface="Cambria" pitchFamily="34" charset="-122"/>
                <a:cs typeface="Cambria" pitchFamily="34" charset="-120"/>
              </a:rPr>
              <a:t>Opening, Closing, and Toast</a:t>
            </a:r>
            <a:endParaRPr lang="en-US" sz="4000" dirty="0"/>
          </a:p>
        </p:txBody>
      </p:sp>
      <p:sp>
        <p:nvSpPr>
          <p:cNvPr id="5" name="Text 3"/>
          <p:cNvSpPr/>
          <p:nvPr/>
        </p:nvSpPr>
        <p:spPr>
          <a:xfrm>
            <a:off x="1938528" y="2542032"/>
            <a:ext cx="9686239" cy="1371600"/>
          </a:xfrm>
          <a:prstGeom prst="rect">
            <a:avLst/>
          </a:prstGeom>
          <a:noFill/>
          <a:ln/>
        </p:spPr>
        <p:txBody>
          <a:bodyPr wrap="square" lIns="0" tIns="0" rIns="0" bIns="0" rtlCol="0" anchor="ctr"/>
          <a:lstStyle/>
          <a:p>
            <a:pPr indent="0" marL="0">
              <a:lnSpc>
                <a:spcPts val="2100"/>
              </a:lnSpc>
              <a:buNone/>
            </a:pPr>
            <a:r>
              <a:rPr lang="en-US" sz="1400" i="1" dirty="0">
                <a:solidFill>
                  <a:srgbClr val="E8D6C8"/>
                </a:solidFill>
                <a:latin typeface="Calibri" pitchFamily="34" charset="0"/>
                <a:ea typeface="Calibri" pitchFamily="34" charset="-122"/>
                <a:cs typeface="Calibri" pitchFamily="34" charset="-120"/>
              </a:rPr>
              <a:t>Opening and closing task handouts, prep and table setup, polishing, ringing items, modifications, cashing out, gift cards, promo tabs, comps and voids, banquet ringing and count sheets, and seat numbers for everything.</a:t>
            </a:r>
            <a:endParaRPr lang="en-US" sz="1400" dirty="0"/>
          </a:p>
        </p:txBody>
      </p:sp>
      <p:sp>
        <p:nvSpPr>
          <p:cNvPr id="6" name="Text 4"/>
          <p:cNvSpPr/>
          <p:nvPr/>
        </p:nvSpPr>
        <p:spPr>
          <a:xfrm>
            <a:off x="566928" y="6199632"/>
            <a:ext cx="11057839" cy="274320"/>
          </a:xfrm>
          <a:prstGeom prst="rect">
            <a:avLst/>
          </a:prstGeom>
          <a:noFill/>
          <a:ln/>
        </p:spPr>
        <p:txBody>
          <a:bodyPr wrap="square" lIns="0" tIns="0" rIns="0" bIns="0" rtlCol="0" anchor="ctr"/>
          <a:lstStyle/>
          <a:p>
            <a:pPr indent="0" marL="0">
              <a:buNone/>
            </a:pPr>
            <a:r>
              <a:rPr lang="en-US" sz="1050" dirty="0">
                <a:solidFill>
                  <a:srgbClr val="C9A99A"/>
                </a:solidFill>
                <a:latin typeface="Calibri" pitchFamily="34" charset="0"/>
                <a:ea typeface="Calibri" pitchFamily="34" charset="-122"/>
                <a:cs typeface="Calibri" pitchFamily="34" charset="-120"/>
              </a:rPr>
              <a:t>From the original Mo's Training Itinerary</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Opening the building</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The expo open is the model of what a real opening list looks like</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7 — Opening, Closing, and Toast</a:t>
            </a:r>
            <a:endParaRPr lang="en-US" sz="950" dirty="0"/>
          </a:p>
        </p:txBody>
      </p:sp>
      <p:sp>
        <p:nvSpPr>
          <p:cNvPr id="5" name="Text 3"/>
          <p:cNvSpPr/>
          <p:nvPr/>
        </p:nvSpPr>
        <p:spPr>
          <a:xfrm>
            <a:off x="566928" y="1572768"/>
            <a:ext cx="5300320" cy="4553712"/>
          </a:xfrm>
          <a:prstGeom prst="rect">
            <a:avLst/>
          </a:prstGeom>
          <a:noFill/>
          <a:ln/>
        </p:spPr>
        <p:txBody>
          <a:bodyPr wrap="square" lIns="0" tIns="0" rIns="0" bIns="0" rtlCol="0" anchor="t"/>
          <a:lstStyle/>
          <a:p>
            <a:pPr marL="177800" indent="-177800">
              <a:lnSpc>
                <a:spcPts val="1690"/>
              </a:lnSpc>
              <a:spcAft>
                <a:spcPts val="600"/>
              </a:spcAft>
              <a:buSzPct val="100000"/>
              <a:buChar char="•"/>
            </a:pPr>
            <a:r>
              <a:rPr lang="en-US" sz="1300" dirty="0">
                <a:solidFill>
                  <a:srgbClr val="2B2118"/>
                </a:solidFill>
                <a:latin typeface="Calibri" pitchFamily="34" charset="0"/>
                <a:ea typeface="Calibri" pitchFamily="34" charset="-122"/>
                <a:cs typeface="Calibri" pitchFamily="34" charset="-120"/>
              </a:rPr>
              <a:t>Check the book for covers.</a:t>
            </a:r>
            <a:endParaRPr lang="en-US" sz="1300" dirty="0"/>
          </a:p>
          <a:p>
            <a:pPr marL="177800" indent="-177800">
              <a:lnSpc>
                <a:spcPts val="1690"/>
              </a:lnSpc>
              <a:spcAft>
                <a:spcPts val="600"/>
              </a:spcAft>
              <a:buSzPct val="100000"/>
              <a:buChar char="•"/>
            </a:pPr>
            <a:r>
              <a:rPr lang="en-US" sz="1300" dirty="0">
                <a:solidFill>
                  <a:srgbClr val="2B2118"/>
                </a:solidFill>
                <a:latin typeface="Calibri" pitchFamily="34" charset="0"/>
                <a:ea typeface="Calibri" pitchFamily="34" charset="-122"/>
                <a:cs typeface="Calibri" pitchFamily="34" charset="-120"/>
              </a:rPr>
              <a:t>Bake bread for the day — three to five trays minimum, ready by 4:30.</a:t>
            </a:r>
            <a:endParaRPr lang="en-US" sz="1300" dirty="0"/>
          </a:p>
          <a:p>
            <a:pPr marL="177800" indent="-177800">
              <a:lnSpc>
                <a:spcPts val="1690"/>
              </a:lnSpc>
              <a:spcAft>
                <a:spcPts val="600"/>
              </a:spcAft>
              <a:buSzPct val="100000"/>
              <a:buChar char="•"/>
            </a:pPr>
            <a:r>
              <a:rPr lang="en-US" sz="1300" dirty="0">
                <a:solidFill>
                  <a:srgbClr val="2B2118"/>
                </a:solidFill>
                <a:latin typeface="Calibri" pitchFamily="34" charset="0"/>
                <a:ea typeface="Calibri" pitchFamily="34" charset="-122"/>
                <a:cs typeface="Calibri" pitchFamily="34" charset="-120"/>
              </a:rPr>
              <a:t>Polish the metal ramekins and expo silver.</a:t>
            </a:r>
            <a:endParaRPr lang="en-US" sz="1300" dirty="0"/>
          </a:p>
          <a:p>
            <a:pPr marL="177800" indent="-177800">
              <a:lnSpc>
                <a:spcPts val="1690"/>
              </a:lnSpc>
              <a:spcAft>
                <a:spcPts val="600"/>
              </a:spcAft>
              <a:buSzPct val="100000"/>
              <a:buChar char="•"/>
            </a:pPr>
            <a:r>
              <a:rPr lang="en-US" sz="1300" dirty="0">
                <a:solidFill>
                  <a:srgbClr val="2B2118"/>
                </a:solidFill>
                <a:latin typeface="Calibri" pitchFamily="34" charset="0"/>
                <a:ea typeface="Calibri" pitchFamily="34" charset="-122"/>
                <a:cs typeface="Calibri" pitchFamily="34" charset="-120"/>
              </a:rPr>
              <a:t>Chop parsley.</a:t>
            </a:r>
            <a:endParaRPr lang="en-US" sz="1300" dirty="0"/>
          </a:p>
          <a:p>
            <a:pPr marL="177800" indent="-177800">
              <a:lnSpc>
                <a:spcPts val="1690"/>
              </a:lnSpc>
              <a:spcAft>
                <a:spcPts val="600"/>
              </a:spcAft>
              <a:buSzPct val="100000"/>
              <a:buChar char="•"/>
            </a:pPr>
            <a:r>
              <a:rPr lang="en-US" sz="1300" dirty="0">
                <a:solidFill>
                  <a:srgbClr val="2B2118"/>
                </a:solidFill>
                <a:latin typeface="Calibri" pitchFamily="34" charset="0"/>
                <a:ea typeface="Calibri" pitchFamily="34" charset="-122"/>
                <a:cs typeface="Calibri" pitchFamily="34" charset="-120"/>
              </a:rPr>
              <a:t>Stock and label the to-go butters and sour creams.</a:t>
            </a:r>
            <a:endParaRPr lang="en-US" sz="1300" dirty="0"/>
          </a:p>
        </p:txBody>
      </p:sp>
      <p:sp>
        <p:nvSpPr>
          <p:cNvPr id="6" name="Text 4"/>
          <p:cNvSpPr/>
          <p:nvPr/>
        </p:nvSpPr>
        <p:spPr>
          <a:xfrm>
            <a:off x="6324448" y="1572768"/>
            <a:ext cx="5300320" cy="4553712"/>
          </a:xfrm>
          <a:prstGeom prst="rect">
            <a:avLst/>
          </a:prstGeom>
          <a:noFill/>
          <a:ln/>
        </p:spPr>
        <p:txBody>
          <a:bodyPr wrap="square" lIns="0" tIns="0" rIns="0" bIns="0" rtlCol="0" anchor="t"/>
          <a:lstStyle/>
          <a:p>
            <a:pPr marL="177800" indent="-177800">
              <a:lnSpc>
                <a:spcPts val="1690"/>
              </a:lnSpc>
              <a:spcAft>
                <a:spcPts val="600"/>
              </a:spcAft>
              <a:buSzPct val="100000"/>
              <a:buChar char="•"/>
            </a:pPr>
            <a:r>
              <a:rPr lang="en-US" sz="1300" dirty="0">
                <a:solidFill>
                  <a:srgbClr val="2B2118"/>
                </a:solidFill>
                <a:latin typeface="Calibri" pitchFamily="34" charset="0"/>
                <a:ea typeface="Calibri" pitchFamily="34" charset="-122"/>
                <a:cs typeface="Calibri" pitchFamily="34" charset="-120"/>
              </a:rPr>
              <a:t>Stock every entree garnish.</a:t>
            </a:r>
            <a:endParaRPr lang="en-US" sz="1300" dirty="0"/>
          </a:p>
          <a:p>
            <a:pPr marL="177800" indent="-177800">
              <a:lnSpc>
                <a:spcPts val="1690"/>
              </a:lnSpc>
              <a:spcAft>
                <a:spcPts val="600"/>
              </a:spcAft>
              <a:buSzPct val="100000"/>
              <a:buChar char="•"/>
            </a:pPr>
            <a:r>
              <a:rPr lang="en-US" sz="1300" dirty="0">
                <a:solidFill>
                  <a:srgbClr val="2B2118"/>
                </a:solidFill>
                <a:latin typeface="Calibri" pitchFamily="34" charset="0"/>
                <a:ea typeface="Calibri" pitchFamily="34" charset="-122"/>
                <a:cs typeface="Calibri" pitchFamily="34" charset="-120"/>
              </a:rPr>
              <a:t>Check boxes and deli containers.</a:t>
            </a:r>
            <a:endParaRPr lang="en-US" sz="1300" dirty="0"/>
          </a:p>
          <a:p>
            <a:pPr marL="177800" indent="-177800">
              <a:lnSpc>
                <a:spcPts val="1690"/>
              </a:lnSpc>
              <a:spcAft>
                <a:spcPts val="600"/>
              </a:spcAft>
              <a:buSzPct val="100000"/>
              <a:buChar char="•"/>
            </a:pPr>
            <a:r>
              <a:rPr lang="en-US" sz="1300" dirty="0">
                <a:solidFill>
                  <a:srgbClr val="2B2118"/>
                </a:solidFill>
                <a:latin typeface="Calibri" pitchFamily="34" charset="0"/>
                <a:ea typeface="Calibri" pitchFamily="34" charset="-122"/>
                <a:cs typeface="Calibri" pitchFamily="34" charset="-120"/>
              </a:rPr>
              <a:t>Melt the drawn butter.</a:t>
            </a:r>
            <a:endParaRPr lang="en-US" sz="1300" dirty="0"/>
          </a:p>
          <a:p>
            <a:pPr marL="177800" indent="-177800">
              <a:lnSpc>
                <a:spcPts val="1690"/>
              </a:lnSpc>
              <a:spcAft>
                <a:spcPts val="600"/>
              </a:spcAft>
              <a:buSzPct val="100000"/>
              <a:buChar char="•"/>
            </a:pPr>
            <a:r>
              <a:rPr lang="en-US" sz="1300" dirty="0">
                <a:solidFill>
                  <a:srgbClr val="2B2118"/>
                </a:solidFill>
                <a:latin typeface="Calibri" pitchFamily="34" charset="0"/>
                <a:ea typeface="Calibri" pitchFamily="34" charset="-122"/>
                <a:cs typeface="Calibri" pitchFamily="34" charset="-120"/>
              </a:rPr>
              <a:t>Stock takeout under the cold line.</a:t>
            </a:r>
            <a:endParaRPr lang="en-US" sz="1300" dirty="0"/>
          </a:p>
          <a:p>
            <a:pPr marL="177800" indent="-177800">
              <a:lnSpc>
                <a:spcPts val="1690"/>
              </a:lnSpc>
              <a:spcAft>
                <a:spcPts val="600"/>
              </a:spcAft>
              <a:buSzPct val="100000"/>
              <a:buChar char="•"/>
            </a:pPr>
            <a:r>
              <a:rPr lang="en-US" sz="1300" dirty="0">
                <a:solidFill>
                  <a:srgbClr val="2B2118"/>
                </a:solidFill>
                <a:latin typeface="Calibri" pitchFamily="34" charset="0"/>
                <a:ea typeface="Calibri" pitchFamily="34" charset="-122"/>
                <a:cs typeface="Calibri" pitchFamily="34" charset="-120"/>
              </a:rPr>
              <a:t>Get the night's team list from the MOD.</a:t>
            </a:r>
            <a:endParaRPr lang="en-US" sz="1300" dirty="0"/>
          </a:p>
        </p:txBody>
      </p:sp>
      <p:sp>
        <p:nvSpPr>
          <p:cNvPr id="7" name="Shape 5"/>
          <p:cNvSpPr/>
          <p:nvPr/>
        </p:nvSpPr>
        <p:spPr>
          <a:xfrm>
            <a:off x="566928" y="4206240"/>
            <a:ext cx="11057839" cy="749808"/>
          </a:xfrm>
          <a:prstGeom prst="roundRect">
            <a:avLst>
              <a:gd name="adj" fmla="val 7317"/>
            </a:avLst>
          </a:prstGeom>
          <a:solidFill>
            <a:srgbClr val="F3E7E4"/>
          </a:solidFill>
          <a:ln w="12700">
            <a:solidFill>
              <a:srgbClr val="E2CCC7"/>
            </a:solidFill>
            <a:prstDash val="solid"/>
          </a:ln>
        </p:spPr>
      </p:sp>
      <p:sp>
        <p:nvSpPr>
          <p:cNvPr id="8" name="Text 6"/>
          <p:cNvSpPr/>
          <p:nvPr/>
        </p:nvSpPr>
        <p:spPr>
          <a:xfrm>
            <a:off x="768096" y="4279392"/>
            <a:ext cx="10655503" cy="603504"/>
          </a:xfrm>
          <a:prstGeom prst="rect">
            <a:avLst/>
          </a:prstGeom>
          <a:noFill/>
          <a:ln/>
        </p:spPr>
        <p:txBody>
          <a:bodyPr wrap="square" lIns="0" tIns="0" rIns="0" bIns="0" rtlCol="0" anchor="ctr"/>
          <a:lstStyle/>
          <a:p>
            <a:pPr indent="0" marL="0">
              <a:lnSpc>
                <a:spcPts val="1600"/>
              </a:lnSpc>
              <a:buNone/>
            </a:pPr>
            <a:r>
              <a:rPr lang="en-US" sz="1250" b="1" dirty="0">
                <a:solidFill>
                  <a:srgbClr val="59201C"/>
                </a:solidFill>
                <a:latin typeface="Calibri" pitchFamily="34" charset="0"/>
                <a:ea typeface="Calibri" pitchFamily="34" charset="-122"/>
                <a:cs typeface="Calibri" pitchFamily="34" charset="-120"/>
              </a:rPr>
              <a:t>That is one position's open.  </a:t>
            </a:r>
            <a:pPr indent="0" marL="0">
              <a:lnSpc>
                <a:spcPts val="1600"/>
              </a:lnSpc>
              <a:buNone/>
            </a:pPr>
            <a:r>
              <a:rPr lang="en-US" sz="1250" dirty="0">
                <a:solidFill>
                  <a:srgbClr val="2B2118"/>
                </a:solidFill>
                <a:latin typeface="Calibri" pitchFamily="34" charset="0"/>
                <a:ea typeface="Calibri" pitchFamily="34" charset="-122"/>
                <a:cs typeface="Calibri" pitchFamily="34" charset="-120"/>
              </a:rPr>
              <a:t>Every position has one this specific. The server and busser handouts are the next thing we go get.</a:t>
            </a:r>
            <a:endParaRPr lang="en-US" sz="12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Place the document here</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Day 7 — Opening, Closing, and Toast</a:t>
            </a:r>
            <a:endParaRPr lang="en-US" sz="1350" dirty="0"/>
          </a:p>
        </p:txBody>
      </p:sp>
      <p:sp>
        <p:nvSpPr>
          <p:cNvPr id="4" name="Shape 2"/>
          <p:cNvSpPr/>
          <p:nvPr/>
        </p:nvSpPr>
        <p:spPr>
          <a:xfrm>
            <a:off x="566928" y="1481328"/>
            <a:ext cx="11057839" cy="3310128"/>
          </a:xfrm>
          <a:prstGeom prst="roundRect">
            <a:avLst>
              <a:gd name="adj" fmla="val 2210"/>
            </a:avLst>
          </a:prstGeom>
          <a:solidFill>
            <a:srgbClr val="FBF3E2"/>
          </a:solidFill>
          <a:ln w="28575">
            <a:solidFill>
              <a:srgbClr val="B0812F"/>
            </a:solidFill>
            <a:prstDash val="dash"/>
          </a:ln>
        </p:spPr>
      </p:sp>
      <p:sp>
        <p:nvSpPr>
          <p:cNvPr id="5" name="Text 3"/>
          <p:cNvSpPr/>
          <p:nvPr/>
        </p:nvSpPr>
        <p:spPr>
          <a:xfrm>
            <a:off x="566928" y="1847088"/>
            <a:ext cx="11057839" cy="329184"/>
          </a:xfrm>
          <a:prstGeom prst="rect">
            <a:avLst/>
          </a:prstGeom>
          <a:noFill/>
          <a:ln/>
        </p:spPr>
        <p:txBody>
          <a:bodyPr wrap="square" lIns="0" tIns="0" rIns="0" bIns="0" rtlCol="0" anchor="ctr"/>
          <a:lstStyle/>
          <a:p>
            <a:pPr algn="ctr" indent="0" marL="0">
              <a:buNone/>
            </a:pPr>
            <a:r>
              <a:rPr lang="en-US" sz="1300" b="1" spc="300" kern="0" dirty="0">
                <a:solidFill>
                  <a:srgbClr val="B0812F"/>
                </a:solidFill>
                <a:latin typeface="Calibri" pitchFamily="34" charset="0"/>
                <a:ea typeface="Calibri" pitchFamily="34" charset="-122"/>
                <a:cs typeface="Calibri" pitchFamily="34" charset="-120"/>
              </a:rPr>
              <a:t>PLACE PICTURE OF</a:t>
            </a:r>
            <a:endParaRPr lang="en-US" sz="1300" dirty="0"/>
          </a:p>
        </p:txBody>
      </p:sp>
      <p:sp>
        <p:nvSpPr>
          <p:cNvPr id="6" name="Text 4"/>
          <p:cNvSpPr/>
          <p:nvPr/>
        </p:nvSpPr>
        <p:spPr>
          <a:xfrm>
            <a:off x="1207008" y="2212848"/>
            <a:ext cx="9777679" cy="1371600"/>
          </a:xfrm>
          <a:prstGeom prst="rect">
            <a:avLst/>
          </a:prstGeom>
          <a:noFill/>
          <a:ln/>
        </p:spPr>
        <p:txBody>
          <a:bodyPr wrap="square" lIns="0" tIns="0" rIns="0" bIns="0" rtlCol="0" anchor="ctr"/>
          <a:lstStyle/>
          <a:p>
            <a:pPr algn="ctr" indent="0" marL="0">
              <a:lnSpc>
                <a:spcPts val="3800"/>
              </a:lnSpc>
              <a:buNone/>
            </a:pPr>
            <a:r>
              <a:rPr lang="en-US" sz="3100" b="1" dirty="0">
                <a:solidFill>
                  <a:srgbClr val="59201C"/>
                </a:solidFill>
                <a:latin typeface="Cambria" pitchFamily="34" charset="0"/>
                <a:ea typeface="Cambria" pitchFamily="34" charset="-122"/>
                <a:cs typeface="Cambria" pitchFamily="34" charset="-120"/>
              </a:rPr>
              <a:t>THE SERVER AND BUSSER OPENING HANDOUTS</a:t>
            </a:r>
            <a:endParaRPr lang="en-US" sz="3100" dirty="0"/>
          </a:p>
        </p:txBody>
      </p:sp>
      <p:sp>
        <p:nvSpPr>
          <p:cNvPr id="7" name="Text 5"/>
          <p:cNvSpPr/>
          <p:nvPr/>
        </p:nvSpPr>
        <p:spPr>
          <a:xfrm>
            <a:off x="566928" y="3657600"/>
            <a:ext cx="11057839" cy="329184"/>
          </a:xfrm>
          <a:prstGeom prst="rect">
            <a:avLst/>
          </a:prstGeom>
          <a:noFill/>
          <a:ln/>
        </p:spPr>
        <p:txBody>
          <a:bodyPr wrap="square" lIns="0" tIns="0" rIns="0" bIns="0" rtlCol="0" anchor="ctr"/>
          <a:lstStyle/>
          <a:p>
            <a:pPr algn="ctr" indent="0" marL="0">
              <a:buNone/>
            </a:pPr>
            <a:r>
              <a:rPr lang="en-US" sz="1300" b="1" spc="300" kern="0" dirty="0">
                <a:solidFill>
                  <a:srgbClr val="B0812F"/>
                </a:solidFill>
                <a:latin typeface="Calibri" pitchFamily="34" charset="0"/>
                <a:ea typeface="Calibri" pitchFamily="34" charset="-122"/>
                <a:cs typeface="Calibri" pitchFamily="34" charset="-120"/>
              </a:rPr>
              <a:t>HERE</a:t>
            </a:r>
            <a:endParaRPr lang="en-US" sz="1300" dirty="0"/>
          </a:p>
        </p:txBody>
      </p:sp>
      <p:sp>
        <p:nvSpPr>
          <p:cNvPr id="8" name="Text 6"/>
          <p:cNvSpPr/>
          <p:nvPr/>
        </p:nvSpPr>
        <p:spPr>
          <a:xfrm>
            <a:off x="1481328" y="4041648"/>
            <a:ext cx="9229039" cy="566928"/>
          </a:xfrm>
          <a:prstGeom prst="rect">
            <a:avLst/>
          </a:prstGeom>
          <a:noFill/>
          <a:ln/>
        </p:spPr>
        <p:txBody>
          <a:bodyPr wrap="square" lIns="0" tIns="0" rIns="0" bIns="0" rtlCol="0" anchor="t"/>
          <a:lstStyle/>
          <a:p>
            <a:pPr algn="ctr" indent="0" marL="0">
              <a:lnSpc>
                <a:spcPts val="1600"/>
              </a:lnSpc>
              <a:buNone/>
            </a:pPr>
            <a:r>
              <a:rPr lang="en-US" sz="1200" i="1" dirty="0">
                <a:solidFill>
                  <a:srgbClr val="6B5B4B"/>
                </a:solidFill>
                <a:latin typeface="Calibri" pitchFamily="34" charset="0"/>
                <a:ea typeface="Calibri" pitchFamily="34" charset="-122"/>
                <a:cs typeface="Calibri" pitchFamily="34" charset="-120"/>
              </a:rPr>
              <a:t>Verbatim, so every position's open lives here the way expo's already does.</a:t>
            </a:r>
            <a:endParaRPr lang="en-US" sz="1200" dirty="0"/>
          </a:p>
        </p:txBody>
      </p:sp>
      <p:sp>
        <p:nvSpPr>
          <p:cNvPr id="9" name="Text 7"/>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7 — Opening, Closing, and Toast</a:t>
            </a:r>
            <a:endParaRPr lang="en-US" sz="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Closing the building</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Nobody clocks out until side work is approved</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7 — Opening, Closing, and Toast</a:t>
            </a:r>
            <a:endParaRPr lang="en-US" sz="950" dirty="0"/>
          </a:p>
        </p:txBody>
      </p:sp>
      <p:sp>
        <p:nvSpPr>
          <p:cNvPr id="5" name="Shape 3"/>
          <p:cNvSpPr/>
          <p:nvPr/>
        </p:nvSpPr>
        <p:spPr>
          <a:xfrm>
            <a:off x="566928" y="1572768"/>
            <a:ext cx="3551834" cy="2743200"/>
          </a:xfrm>
          <a:prstGeom prst="roundRect">
            <a:avLst>
              <a:gd name="adj" fmla="val 2000"/>
            </a:avLst>
          </a:prstGeom>
          <a:solidFill>
            <a:srgbClr val="F2E9D8"/>
          </a:solidFill>
          <a:ln w="12700">
            <a:solidFill>
              <a:srgbClr val="E4D8C0"/>
            </a:solidFill>
            <a:prstDash val="solid"/>
          </a:ln>
        </p:spPr>
      </p:sp>
      <p:sp>
        <p:nvSpPr>
          <p:cNvPr id="6" name="Text 4"/>
          <p:cNvSpPr/>
          <p:nvPr/>
        </p:nvSpPr>
        <p:spPr>
          <a:xfrm>
            <a:off x="749808" y="1719072"/>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The back closer</a:t>
            </a:r>
            <a:endParaRPr lang="en-US" sz="1450" dirty="0"/>
          </a:p>
        </p:txBody>
      </p:sp>
      <p:sp>
        <p:nvSpPr>
          <p:cNvPr id="7" name="Text 5"/>
          <p:cNvSpPr/>
          <p:nvPr/>
        </p:nvSpPr>
        <p:spPr>
          <a:xfrm>
            <a:off x="749808"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the sequence</a:t>
            </a:r>
            <a:endParaRPr lang="en-US" sz="1100" dirty="0"/>
          </a:p>
        </p:txBody>
      </p:sp>
      <p:sp>
        <p:nvSpPr>
          <p:cNvPr id="8" name="Text 6"/>
          <p:cNvSpPr/>
          <p:nvPr/>
        </p:nvSpPr>
        <p:spPr>
          <a:xfrm>
            <a:off x="749808" y="2286000"/>
            <a:ext cx="3186074" cy="188366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Bread oven and warmers off, pans and boards through dish, counters sanitized. Ramekin butters wrapped. Tea and coffee broken down. Soups to the window, lobster meat saved, cooler ice dumped and dried. Chocolate, ketchup, caramel, clarified butter and honey into dated deli containers.</a:t>
            </a:r>
            <a:endParaRPr lang="en-US" sz="1100" dirty="0"/>
          </a:p>
        </p:txBody>
      </p:sp>
      <p:sp>
        <p:nvSpPr>
          <p:cNvPr id="9" name="Shape 7"/>
          <p:cNvSpPr/>
          <p:nvPr/>
        </p:nvSpPr>
        <p:spPr>
          <a:xfrm>
            <a:off x="4319930" y="1572768"/>
            <a:ext cx="3551834" cy="2743200"/>
          </a:xfrm>
          <a:prstGeom prst="roundRect">
            <a:avLst>
              <a:gd name="adj" fmla="val 2000"/>
            </a:avLst>
          </a:prstGeom>
          <a:solidFill>
            <a:srgbClr val="F2E9D8"/>
          </a:solidFill>
          <a:ln w="12700">
            <a:solidFill>
              <a:srgbClr val="E4D8C0"/>
            </a:solidFill>
            <a:prstDash val="solid"/>
          </a:ln>
        </p:spPr>
      </p:sp>
      <p:sp>
        <p:nvSpPr>
          <p:cNvPr id="10" name="Text 8"/>
          <p:cNvSpPr/>
          <p:nvPr/>
        </p:nvSpPr>
        <p:spPr>
          <a:xfrm>
            <a:off x="4502810" y="1719072"/>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The front team</a:t>
            </a:r>
            <a:endParaRPr lang="en-US" sz="1450" dirty="0"/>
          </a:p>
        </p:txBody>
      </p:sp>
      <p:sp>
        <p:nvSpPr>
          <p:cNvPr id="11" name="Text 9"/>
          <p:cNvSpPr/>
          <p:nvPr/>
        </p:nvSpPr>
        <p:spPr>
          <a:xfrm>
            <a:off x="4502810"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resets the section</a:t>
            </a:r>
            <a:endParaRPr lang="en-US" sz="1100" dirty="0"/>
          </a:p>
        </p:txBody>
      </p:sp>
      <p:sp>
        <p:nvSpPr>
          <p:cNvPr id="12" name="Text 10"/>
          <p:cNvSpPr/>
          <p:nvPr/>
        </p:nvSpPr>
        <p:spPr>
          <a:xfrm>
            <a:off x="4502810" y="2286000"/>
            <a:ext cx="3186074" cy="188366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Sets and glassware. Five to ten wine glasses polished on a slow night, fifteen when busy. Twenty-five to forty napkin folds. Oyster napkins daily. Salt and pepper. Final reset for tomorrow.</a:t>
            </a:r>
            <a:endParaRPr lang="en-US" sz="1100" dirty="0"/>
          </a:p>
        </p:txBody>
      </p:sp>
      <p:sp>
        <p:nvSpPr>
          <p:cNvPr id="13" name="Shape 11"/>
          <p:cNvSpPr/>
          <p:nvPr/>
        </p:nvSpPr>
        <p:spPr>
          <a:xfrm>
            <a:off x="8072933" y="1572768"/>
            <a:ext cx="3551834" cy="2743200"/>
          </a:xfrm>
          <a:prstGeom prst="roundRect">
            <a:avLst>
              <a:gd name="adj" fmla="val 2000"/>
            </a:avLst>
          </a:prstGeom>
          <a:solidFill>
            <a:srgbClr val="F2E9D8"/>
          </a:solidFill>
          <a:ln w="12700">
            <a:solidFill>
              <a:srgbClr val="E4D8C0"/>
            </a:solidFill>
            <a:prstDash val="solid"/>
          </a:ln>
        </p:spPr>
      </p:sp>
      <p:sp>
        <p:nvSpPr>
          <p:cNvPr id="14" name="Text 12"/>
          <p:cNvSpPr/>
          <p:nvPr/>
        </p:nvSpPr>
        <p:spPr>
          <a:xfrm>
            <a:off x="8255813" y="1719072"/>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The back team</a:t>
            </a:r>
            <a:endParaRPr lang="en-US" sz="1450" dirty="0"/>
          </a:p>
        </p:txBody>
      </p:sp>
      <p:sp>
        <p:nvSpPr>
          <p:cNvPr id="15" name="Text 13"/>
          <p:cNvSpPr/>
          <p:nvPr/>
        </p:nvSpPr>
        <p:spPr>
          <a:xfrm>
            <a:off x="8255813"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divides stations evenly</a:t>
            </a:r>
            <a:endParaRPr lang="en-US" sz="1100" dirty="0"/>
          </a:p>
        </p:txBody>
      </p:sp>
      <p:sp>
        <p:nvSpPr>
          <p:cNvPr id="16" name="Text 14"/>
          <p:cNvSpPr/>
          <p:nvPr/>
        </p:nvSpPr>
        <p:spPr>
          <a:xfrm>
            <a:off x="8255813" y="2286000"/>
            <a:ext cx="3186074" cy="188366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Bread, soup, soda machine, tea, to-go, trays. Silverware racked, polished, stored — one full rack slow, two busy. The back closer takes trash, sweep, mop, dessert station, the chocolate, and the final walkthrough.</a:t>
            </a:r>
            <a:endParaRPr lang="en-US" sz="1100" dirty="0"/>
          </a:p>
        </p:txBody>
      </p:sp>
      <p:sp>
        <p:nvSpPr>
          <p:cNvPr id="17" name="Shape 15"/>
          <p:cNvSpPr/>
          <p:nvPr/>
        </p:nvSpPr>
        <p:spPr>
          <a:xfrm>
            <a:off x="566928" y="4590288"/>
            <a:ext cx="11057839" cy="749808"/>
          </a:xfrm>
          <a:prstGeom prst="roundRect">
            <a:avLst>
              <a:gd name="adj" fmla="val 7317"/>
            </a:avLst>
          </a:prstGeom>
          <a:solidFill>
            <a:srgbClr val="F3E7E4"/>
          </a:solidFill>
          <a:ln w="12700">
            <a:solidFill>
              <a:srgbClr val="E2CCC7"/>
            </a:solidFill>
            <a:prstDash val="solid"/>
          </a:ln>
        </p:spPr>
      </p:sp>
      <p:sp>
        <p:nvSpPr>
          <p:cNvPr id="18" name="Text 16"/>
          <p:cNvSpPr/>
          <p:nvPr/>
        </p:nvSpPr>
        <p:spPr>
          <a:xfrm>
            <a:off x="768096" y="4663440"/>
            <a:ext cx="10655503" cy="603504"/>
          </a:xfrm>
          <a:prstGeom prst="rect">
            <a:avLst/>
          </a:prstGeom>
          <a:noFill/>
          <a:ln/>
        </p:spPr>
        <p:txBody>
          <a:bodyPr wrap="square" lIns="0" tIns="0" rIns="0" bIns="0" rtlCol="0" anchor="ctr"/>
          <a:lstStyle/>
          <a:p>
            <a:pPr indent="0" marL="0">
              <a:lnSpc>
                <a:spcPts val="1600"/>
              </a:lnSpc>
              <a:buNone/>
            </a:pPr>
            <a:r>
              <a:rPr lang="en-US" sz="1250" b="1" dirty="0">
                <a:solidFill>
                  <a:srgbClr val="59201C"/>
                </a:solidFill>
                <a:latin typeface="Calibri" pitchFamily="34" charset="0"/>
                <a:ea typeface="Calibri" pitchFamily="34" charset="-122"/>
                <a:cs typeface="Calibri" pitchFamily="34" charset="-120"/>
              </a:rPr>
              <a:t>House rule:  </a:t>
            </a:r>
            <a:pPr indent="0" marL="0">
              <a:lnSpc>
                <a:spcPts val="1600"/>
              </a:lnSpc>
              <a:buNone/>
            </a:pPr>
            <a:r>
              <a:rPr lang="en-US" sz="1250" dirty="0">
                <a:solidFill>
                  <a:srgbClr val="2B2118"/>
                </a:solidFill>
                <a:latin typeface="Calibri" pitchFamily="34" charset="0"/>
                <a:ea typeface="Calibri" pitchFamily="34" charset="-122"/>
                <a:cs typeface="Calibri" pitchFamily="34" charset="-120"/>
              </a:rPr>
              <a:t>side work divides equally, the team helps each other so everyone finishes together, and a manager approves before checkout.</a:t>
            </a:r>
            <a:endParaRPr lang="en-US" sz="12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Toast — ringing the night</a:t>
            </a:r>
            <a:endParaRPr lang="en-US" sz="3400" dirty="0"/>
          </a:p>
        </p:txBody>
      </p:sp>
      <p:sp>
        <p:nvSpPr>
          <p:cNvPr id="3" name="Text 1"/>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7 — Opening, Closing, and Toast</a:t>
            </a:r>
            <a:endParaRPr lang="en-US" sz="950" dirty="0"/>
          </a:p>
        </p:txBody>
      </p:sp>
      <p:sp>
        <p:nvSpPr>
          <p:cNvPr id="4" name="Shape 2"/>
          <p:cNvSpPr/>
          <p:nvPr/>
        </p:nvSpPr>
        <p:spPr>
          <a:xfrm>
            <a:off x="566928" y="1508760"/>
            <a:ext cx="365760" cy="365760"/>
          </a:xfrm>
          <a:prstGeom prst="ellipse">
            <a:avLst/>
          </a:prstGeom>
          <a:solidFill>
            <a:srgbClr val="59201C"/>
          </a:solidFill>
          <a:ln w="12700">
            <a:solidFill>
              <a:srgbClr val="59201C"/>
            </a:solidFill>
            <a:prstDash val="solid"/>
          </a:ln>
        </p:spPr>
      </p:sp>
      <p:sp>
        <p:nvSpPr>
          <p:cNvPr id="5" name="Text 3"/>
          <p:cNvSpPr/>
          <p:nvPr/>
        </p:nvSpPr>
        <p:spPr>
          <a:xfrm>
            <a:off x="566928" y="150876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6" name="Text 4"/>
          <p:cNvSpPr/>
          <p:nvPr/>
        </p:nvSpPr>
        <p:spPr>
          <a:xfrm>
            <a:off x="1069848" y="1481328"/>
            <a:ext cx="10554919" cy="470916"/>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Ring soups-and-salads and entrees together.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No time gap. That is how coursing gets confused.</a:t>
            </a:r>
            <a:endParaRPr lang="en-US" sz="1300" dirty="0"/>
          </a:p>
        </p:txBody>
      </p:sp>
      <p:sp>
        <p:nvSpPr>
          <p:cNvPr id="7" name="Shape 5"/>
          <p:cNvSpPr/>
          <p:nvPr/>
        </p:nvSpPr>
        <p:spPr>
          <a:xfrm>
            <a:off x="566928" y="2034540"/>
            <a:ext cx="365760" cy="365760"/>
          </a:xfrm>
          <a:prstGeom prst="ellipse">
            <a:avLst/>
          </a:prstGeom>
          <a:solidFill>
            <a:srgbClr val="59201C"/>
          </a:solidFill>
          <a:ln w="12700">
            <a:solidFill>
              <a:srgbClr val="59201C"/>
            </a:solidFill>
            <a:prstDash val="solid"/>
          </a:ln>
        </p:spPr>
      </p:sp>
      <p:sp>
        <p:nvSpPr>
          <p:cNvPr id="8" name="Text 6"/>
          <p:cNvSpPr/>
          <p:nvPr/>
        </p:nvSpPr>
        <p:spPr>
          <a:xfrm>
            <a:off x="566928" y="203454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9" name="Text 7"/>
          <p:cNvSpPr/>
          <p:nvPr/>
        </p:nvSpPr>
        <p:spPr>
          <a:xfrm>
            <a:off x="1069848" y="2007108"/>
            <a:ext cx="10554919" cy="470916"/>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Every allergy gets ringed in.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Every modification gets attached to the right seat.</a:t>
            </a:r>
            <a:endParaRPr lang="en-US" sz="1300" dirty="0"/>
          </a:p>
        </p:txBody>
      </p:sp>
      <p:sp>
        <p:nvSpPr>
          <p:cNvPr id="10" name="Shape 8"/>
          <p:cNvSpPr/>
          <p:nvPr/>
        </p:nvSpPr>
        <p:spPr>
          <a:xfrm>
            <a:off x="566928" y="2560320"/>
            <a:ext cx="365760" cy="365760"/>
          </a:xfrm>
          <a:prstGeom prst="ellipse">
            <a:avLst/>
          </a:prstGeom>
          <a:solidFill>
            <a:srgbClr val="59201C"/>
          </a:solidFill>
          <a:ln w="12700">
            <a:solidFill>
              <a:srgbClr val="59201C"/>
            </a:solidFill>
            <a:prstDash val="solid"/>
          </a:ln>
        </p:spPr>
      </p:sp>
      <p:sp>
        <p:nvSpPr>
          <p:cNvPr id="11" name="Text 9"/>
          <p:cNvSpPr/>
          <p:nvPr/>
        </p:nvSpPr>
        <p:spPr>
          <a:xfrm>
            <a:off x="566928" y="256032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2" name="Text 10"/>
          <p:cNvSpPr/>
          <p:nvPr/>
        </p:nvSpPr>
        <p:spPr>
          <a:xfrm>
            <a:off x="1069848" y="2532888"/>
            <a:ext cx="10554919" cy="470916"/>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Every special request is confirmed by a chef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before you promise it. Every single time.</a:t>
            </a:r>
            <a:endParaRPr lang="en-US" sz="1300" dirty="0"/>
          </a:p>
        </p:txBody>
      </p:sp>
      <p:sp>
        <p:nvSpPr>
          <p:cNvPr id="13" name="Shape 11"/>
          <p:cNvSpPr/>
          <p:nvPr/>
        </p:nvSpPr>
        <p:spPr>
          <a:xfrm>
            <a:off x="566928" y="3086100"/>
            <a:ext cx="365760" cy="365760"/>
          </a:xfrm>
          <a:prstGeom prst="ellipse">
            <a:avLst/>
          </a:prstGeom>
          <a:solidFill>
            <a:srgbClr val="59201C"/>
          </a:solidFill>
          <a:ln w="12700">
            <a:solidFill>
              <a:srgbClr val="59201C"/>
            </a:solidFill>
            <a:prstDash val="solid"/>
          </a:ln>
        </p:spPr>
      </p:sp>
      <p:sp>
        <p:nvSpPr>
          <p:cNvPr id="14" name="Text 12"/>
          <p:cNvSpPr/>
          <p:nvPr/>
        </p:nvSpPr>
        <p:spPr>
          <a:xfrm>
            <a:off x="566928" y="308610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5" name="Text 13"/>
          <p:cNvSpPr/>
          <p:nvPr/>
        </p:nvSpPr>
        <p:spPr>
          <a:xfrm>
            <a:off x="1069848" y="3058668"/>
            <a:ext cx="10554919" cy="470916"/>
          </a:xfrm>
          <a:prstGeom prst="rect">
            <a:avLst/>
          </a:prstGeom>
          <a:noFill/>
          <a:ln/>
        </p:spPr>
        <p:txBody>
          <a:bodyPr wrap="square" lIns="0" tIns="0" rIns="0" bIns="0" rtlCol="0" anchor="t"/>
          <a:lstStyle/>
          <a:p>
            <a:pPr indent="0" marL="0">
              <a:lnSpc>
                <a:spcPts val="1600"/>
              </a:lnSpc>
              <a:buNone/>
            </a:pPr>
            <a:r>
              <a:rPr lang="en-US" sz="1300" b="1" dirty="0">
                <a:solidFill>
                  <a:srgbClr val="59201C"/>
                </a:solidFill>
                <a:latin typeface="Calibri" pitchFamily="34" charset="0"/>
                <a:ea typeface="Calibri" pitchFamily="34" charset="-122"/>
                <a:cs typeface="Calibri" pitchFamily="34" charset="-120"/>
              </a:rPr>
              <a:t>Gift cards sell at the bar top, </a:t>
            </a:r>
            <a:endParaRPr lang="en-US" sz="1300" dirty="0"/>
          </a:p>
          <a:p>
            <a:pPr indent="0" marL="0">
              <a:lnSpc>
                <a:spcPts val="1600"/>
              </a:lnSpc>
              <a:buNone/>
            </a:pPr>
            <a:r>
              <a:rPr lang="en-US" sz="1250" dirty="0">
                <a:solidFill>
                  <a:srgbClr val="2B2118"/>
                </a:solidFill>
                <a:latin typeface="Calibri" pitchFamily="34" charset="0"/>
                <a:ea typeface="Calibri" pitchFamily="34" charset="-122"/>
                <a:cs typeface="Calibri" pitchFamily="34" charset="-120"/>
              </a:rPr>
              <a:t>not the host stand. Walk the buyer over.</a:t>
            </a:r>
            <a:endParaRPr lang="en-US" sz="1300" dirty="0"/>
          </a:p>
        </p:txBody>
      </p:sp>
      <p:sp>
        <p:nvSpPr>
          <p:cNvPr id="16" name="Text 14"/>
          <p:cNvSpPr/>
          <p:nvPr/>
        </p:nvSpPr>
        <p:spPr>
          <a:xfrm>
            <a:off x="566928" y="3694176"/>
            <a:ext cx="11057839" cy="292608"/>
          </a:xfrm>
          <a:prstGeom prst="rect">
            <a:avLst/>
          </a:prstGeom>
          <a:noFill/>
          <a:ln/>
        </p:spPr>
        <p:txBody>
          <a:bodyPr wrap="square" lIns="0" tIns="0" rIns="0" bIns="0" rtlCol="0" anchor="ctr"/>
          <a:lstStyle/>
          <a:p>
            <a:pPr indent="0" marL="0">
              <a:buNone/>
            </a:pPr>
            <a:r>
              <a:rPr lang="en-US" sz="1600" b="1" dirty="0">
                <a:solidFill>
                  <a:srgbClr val="59201C"/>
                </a:solidFill>
                <a:latin typeface="Cambria" pitchFamily="34" charset="0"/>
                <a:ea typeface="Cambria" pitchFamily="34" charset="-122"/>
                <a:cs typeface="Cambria" pitchFamily="34" charset="-120"/>
              </a:rPr>
              <a:t>The money rules, locked</a:t>
            </a:r>
            <a:endParaRPr lang="en-US" sz="1600" dirty="0"/>
          </a:p>
        </p:txBody>
      </p:sp>
      <p:sp>
        <p:nvSpPr>
          <p:cNvPr id="17" name="Shape 15"/>
          <p:cNvSpPr/>
          <p:nvPr/>
        </p:nvSpPr>
        <p:spPr>
          <a:xfrm>
            <a:off x="566928" y="4078224"/>
            <a:ext cx="3551834" cy="1170432"/>
          </a:xfrm>
          <a:prstGeom prst="roundRect">
            <a:avLst>
              <a:gd name="adj" fmla="val 4688"/>
            </a:avLst>
          </a:prstGeom>
          <a:solidFill>
            <a:srgbClr val="F2E9D8"/>
          </a:solidFill>
          <a:ln w="12700">
            <a:solidFill>
              <a:srgbClr val="E4D8C0"/>
            </a:solidFill>
            <a:prstDash val="solid"/>
          </a:ln>
        </p:spPr>
      </p:sp>
      <p:sp>
        <p:nvSpPr>
          <p:cNvPr id="18" name="Text 16"/>
          <p:cNvSpPr/>
          <p:nvPr/>
        </p:nvSpPr>
        <p:spPr>
          <a:xfrm>
            <a:off x="749808" y="4224528"/>
            <a:ext cx="3186074" cy="310896"/>
          </a:xfrm>
          <a:prstGeom prst="rect">
            <a:avLst/>
          </a:prstGeom>
          <a:noFill/>
          <a:ln/>
        </p:spPr>
        <p:txBody>
          <a:bodyPr wrap="square" lIns="0" tIns="0" rIns="0" bIns="0" rtlCol="0" anchor="ctr"/>
          <a:lstStyle/>
          <a:p>
            <a:pPr indent="0" marL="0">
              <a:buNone/>
            </a:pPr>
            <a:r>
              <a:rPr lang="en-US" sz="1150" b="1" dirty="0">
                <a:solidFill>
                  <a:srgbClr val="59201C"/>
                </a:solidFill>
                <a:latin typeface="Cambria" pitchFamily="34" charset="0"/>
                <a:ea typeface="Cambria" pitchFamily="34" charset="-122"/>
                <a:cs typeface="Cambria" pitchFamily="34" charset="-120"/>
              </a:rPr>
              <a:t>Toast withholds 2%</a:t>
            </a:r>
            <a:endParaRPr lang="en-US" sz="1150" dirty="0"/>
          </a:p>
        </p:txBody>
      </p:sp>
      <p:sp>
        <p:nvSpPr>
          <p:cNvPr id="19" name="Text 17"/>
          <p:cNvSpPr/>
          <p:nvPr/>
        </p:nvSpPr>
        <p:spPr>
          <a:xfrm>
            <a:off x="749808" y="4535424"/>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of credit tips</a:t>
            </a:r>
            <a:endParaRPr lang="en-US" sz="1100" dirty="0"/>
          </a:p>
        </p:txBody>
      </p:sp>
      <p:sp>
        <p:nvSpPr>
          <p:cNvPr id="20" name="Shape 18"/>
          <p:cNvSpPr/>
          <p:nvPr/>
        </p:nvSpPr>
        <p:spPr>
          <a:xfrm>
            <a:off x="4319930" y="4078224"/>
            <a:ext cx="3551834" cy="1170432"/>
          </a:xfrm>
          <a:prstGeom prst="roundRect">
            <a:avLst>
              <a:gd name="adj" fmla="val 4688"/>
            </a:avLst>
          </a:prstGeom>
          <a:solidFill>
            <a:srgbClr val="F2E9D8"/>
          </a:solidFill>
          <a:ln w="12700">
            <a:solidFill>
              <a:srgbClr val="E4D8C0"/>
            </a:solidFill>
            <a:prstDash val="solid"/>
          </a:ln>
        </p:spPr>
      </p:sp>
      <p:sp>
        <p:nvSpPr>
          <p:cNvPr id="21" name="Text 19"/>
          <p:cNvSpPr/>
          <p:nvPr/>
        </p:nvSpPr>
        <p:spPr>
          <a:xfrm>
            <a:off x="4502810" y="4224528"/>
            <a:ext cx="3186074" cy="310896"/>
          </a:xfrm>
          <a:prstGeom prst="rect">
            <a:avLst/>
          </a:prstGeom>
          <a:noFill/>
          <a:ln/>
        </p:spPr>
        <p:txBody>
          <a:bodyPr wrap="square" lIns="0" tIns="0" rIns="0" bIns="0" rtlCol="0" anchor="ctr"/>
          <a:lstStyle/>
          <a:p>
            <a:pPr indent="0" marL="0">
              <a:buNone/>
            </a:pPr>
            <a:r>
              <a:rPr lang="en-US" sz="1150" b="1" dirty="0">
                <a:solidFill>
                  <a:srgbClr val="59201C"/>
                </a:solidFill>
                <a:latin typeface="Cambria" pitchFamily="34" charset="0"/>
                <a:ea typeface="Cambria" pitchFamily="34" charset="-122"/>
                <a:cs typeface="Cambria" pitchFamily="34" charset="-120"/>
              </a:rPr>
              <a:t>Tip-outs come off TEAM NET SALES</a:t>
            </a:r>
            <a:endParaRPr lang="en-US" sz="1150" dirty="0"/>
          </a:p>
        </p:txBody>
      </p:sp>
      <p:sp>
        <p:nvSpPr>
          <p:cNvPr id="22" name="Text 20"/>
          <p:cNvSpPr/>
          <p:nvPr/>
        </p:nvSpPr>
        <p:spPr>
          <a:xfrm>
            <a:off x="4502810" y="4535424"/>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bar 1% · busser 1.5% · expo 0.5% — each rounded UP to the next dollar. No expo scheduled means no expo line.</a:t>
            </a:r>
            <a:endParaRPr lang="en-US" sz="1100" dirty="0"/>
          </a:p>
        </p:txBody>
      </p:sp>
      <p:sp>
        <p:nvSpPr>
          <p:cNvPr id="23" name="Shape 21"/>
          <p:cNvSpPr/>
          <p:nvPr/>
        </p:nvSpPr>
        <p:spPr>
          <a:xfrm>
            <a:off x="8072933" y="4078224"/>
            <a:ext cx="3551834" cy="1170432"/>
          </a:xfrm>
          <a:prstGeom prst="roundRect">
            <a:avLst>
              <a:gd name="adj" fmla="val 4688"/>
            </a:avLst>
          </a:prstGeom>
          <a:solidFill>
            <a:srgbClr val="F2E9D8"/>
          </a:solidFill>
          <a:ln w="12700">
            <a:solidFill>
              <a:srgbClr val="E4D8C0"/>
            </a:solidFill>
            <a:prstDash val="solid"/>
          </a:ln>
        </p:spPr>
      </p:sp>
      <p:sp>
        <p:nvSpPr>
          <p:cNvPr id="24" name="Text 22"/>
          <p:cNvSpPr/>
          <p:nvPr/>
        </p:nvSpPr>
        <p:spPr>
          <a:xfrm>
            <a:off x="8255813" y="4224528"/>
            <a:ext cx="3186074" cy="310896"/>
          </a:xfrm>
          <a:prstGeom prst="rect">
            <a:avLst/>
          </a:prstGeom>
          <a:noFill/>
          <a:ln/>
        </p:spPr>
        <p:txBody>
          <a:bodyPr wrap="square" lIns="0" tIns="0" rIns="0" bIns="0" rtlCol="0" anchor="ctr"/>
          <a:lstStyle/>
          <a:p>
            <a:pPr indent="0" marL="0">
              <a:buNone/>
            </a:pPr>
            <a:r>
              <a:rPr lang="en-US" sz="1150" b="1" dirty="0">
                <a:solidFill>
                  <a:srgbClr val="59201C"/>
                </a:solidFill>
                <a:latin typeface="Cambria" pitchFamily="34" charset="0"/>
                <a:ea typeface="Cambria" pitchFamily="34" charset="-122"/>
                <a:cs typeface="Cambria" pitchFamily="34" charset="-120"/>
              </a:rPr>
              <a:t>Comps come off team net before tip-outs</a:t>
            </a:r>
            <a:endParaRPr lang="en-US" sz="1150" dirty="0"/>
          </a:p>
        </p:txBody>
      </p:sp>
      <p:sp>
        <p:nvSpPr>
          <p:cNvPr id="25" name="Text 23"/>
          <p:cNvSpPr/>
          <p:nvPr/>
        </p:nvSpPr>
        <p:spPr>
          <a:xfrm>
            <a:off x="8255813" y="4535424"/>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promos do not · gift cards count in net sales</a:t>
            </a:r>
            <a:endParaRPr lang="en-US" sz="1100" dirty="0"/>
          </a:p>
        </p:txBody>
      </p:sp>
      <p:sp>
        <p:nvSpPr>
          <p:cNvPr id="26" name="Shape 24"/>
          <p:cNvSpPr/>
          <p:nvPr/>
        </p:nvSpPr>
        <p:spPr>
          <a:xfrm>
            <a:off x="566928" y="5449824"/>
            <a:ext cx="3551834" cy="1170432"/>
          </a:xfrm>
          <a:prstGeom prst="roundRect">
            <a:avLst>
              <a:gd name="adj" fmla="val 4688"/>
            </a:avLst>
          </a:prstGeom>
          <a:solidFill>
            <a:srgbClr val="F2E9D8"/>
          </a:solidFill>
          <a:ln w="12700">
            <a:solidFill>
              <a:srgbClr val="E4D8C0"/>
            </a:solidFill>
            <a:prstDash val="solid"/>
          </a:ln>
        </p:spPr>
      </p:sp>
      <p:sp>
        <p:nvSpPr>
          <p:cNvPr id="27" name="Text 25"/>
          <p:cNvSpPr/>
          <p:nvPr/>
        </p:nvSpPr>
        <p:spPr>
          <a:xfrm>
            <a:off x="749808" y="5596128"/>
            <a:ext cx="3186074" cy="310896"/>
          </a:xfrm>
          <a:prstGeom prst="rect">
            <a:avLst/>
          </a:prstGeom>
          <a:noFill/>
          <a:ln/>
        </p:spPr>
        <p:txBody>
          <a:bodyPr wrap="square" lIns="0" tIns="0" rIns="0" bIns="0" rtlCol="0" anchor="ctr"/>
          <a:lstStyle/>
          <a:p>
            <a:pPr indent="0" marL="0">
              <a:buNone/>
            </a:pPr>
            <a:r>
              <a:rPr lang="en-US" sz="1150" b="1" dirty="0">
                <a:solidFill>
                  <a:srgbClr val="59201C"/>
                </a:solidFill>
                <a:latin typeface="Cambria" pitchFamily="34" charset="0"/>
                <a:ea typeface="Cambria" pitchFamily="34" charset="-122"/>
                <a:cs typeface="Cambria" pitchFamily="34" charset="-120"/>
              </a:rPr>
              <a:t>Parties of six or more</a:t>
            </a:r>
            <a:endParaRPr lang="en-US" sz="1150" dirty="0"/>
          </a:p>
        </p:txBody>
      </p:sp>
      <p:sp>
        <p:nvSpPr>
          <p:cNvPr id="28" name="Text 26"/>
          <p:cNvSpPr/>
          <p:nvPr/>
        </p:nvSpPr>
        <p:spPr>
          <a:xfrm>
            <a:off x="749808" y="5907024"/>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can take the auto-gratuity — you must tell the guest, always</a:t>
            </a:r>
            <a:endParaRPr lang="en-US" sz="1100" dirty="0"/>
          </a:p>
        </p:txBody>
      </p:sp>
      <p:sp>
        <p:nvSpPr>
          <p:cNvPr id="29" name="Shape 27"/>
          <p:cNvSpPr/>
          <p:nvPr/>
        </p:nvSpPr>
        <p:spPr>
          <a:xfrm>
            <a:off x="4319930" y="5449824"/>
            <a:ext cx="3551834" cy="1170432"/>
          </a:xfrm>
          <a:prstGeom prst="roundRect">
            <a:avLst>
              <a:gd name="adj" fmla="val 4688"/>
            </a:avLst>
          </a:prstGeom>
          <a:solidFill>
            <a:srgbClr val="F2E9D8"/>
          </a:solidFill>
          <a:ln w="12700">
            <a:solidFill>
              <a:srgbClr val="E4D8C0"/>
            </a:solidFill>
            <a:prstDash val="solid"/>
          </a:ln>
        </p:spPr>
      </p:sp>
      <p:sp>
        <p:nvSpPr>
          <p:cNvPr id="30" name="Text 28"/>
          <p:cNvSpPr/>
          <p:nvPr/>
        </p:nvSpPr>
        <p:spPr>
          <a:xfrm>
            <a:off x="4502810" y="5596128"/>
            <a:ext cx="3186074" cy="310896"/>
          </a:xfrm>
          <a:prstGeom prst="rect">
            <a:avLst/>
          </a:prstGeom>
          <a:noFill/>
          <a:ln/>
        </p:spPr>
        <p:txBody>
          <a:bodyPr wrap="square" lIns="0" tIns="0" rIns="0" bIns="0" rtlCol="0" anchor="ctr"/>
          <a:lstStyle/>
          <a:p>
            <a:pPr indent="0" marL="0">
              <a:buNone/>
            </a:pPr>
            <a:r>
              <a:rPr lang="en-US" sz="1150" b="1" dirty="0">
                <a:solidFill>
                  <a:srgbClr val="59201C"/>
                </a:solidFill>
                <a:latin typeface="Cambria" pitchFamily="34" charset="0"/>
                <a:ea typeface="Cambria" pitchFamily="34" charset="-122"/>
                <a:cs typeface="Cambria" pitchFamily="34" charset="-120"/>
              </a:rPr>
              <a:t>Banquets booked through Lillian</a:t>
            </a:r>
            <a:endParaRPr lang="en-US" sz="1150" dirty="0"/>
          </a:p>
        </p:txBody>
      </p:sp>
      <p:sp>
        <p:nvSpPr>
          <p:cNvPr id="31" name="Text 29"/>
          <p:cNvSpPr/>
          <p:nvPr/>
        </p:nvSpPr>
        <p:spPr>
          <a:xfrm>
            <a:off x="4502810" y="5907024"/>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run 23% auto-grat: twenty points plus her three as banquet coordinator. A big walk-in party on the regular menu is NOT a banquet.</a:t>
            </a:r>
            <a:endParaRPr lang="en-US" sz="1100" dirty="0"/>
          </a:p>
        </p:txBody>
      </p:sp>
      <p:sp>
        <p:nvSpPr>
          <p:cNvPr id="32" name="Shape 30"/>
          <p:cNvSpPr/>
          <p:nvPr/>
        </p:nvSpPr>
        <p:spPr>
          <a:xfrm>
            <a:off x="8072933" y="5449824"/>
            <a:ext cx="3551834" cy="1170432"/>
          </a:xfrm>
          <a:prstGeom prst="roundRect">
            <a:avLst>
              <a:gd name="adj" fmla="val 4688"/>
            </a:avLst>
          </a:prstGeom>
          <a:solidFill>
            <a:srgbClr val="F2E9D8"/>
          </a:solidFill>
          <a:ln w="12700">
            <a:solidFill>
              <a:srgbClr val="E4D8C0"/>
            </a:solidFill>
            <a:prstDash val="solid"/>
          </a:ln>
        </p:spPr>
      </p:sp>
      <p:sp>
        <p:nvSpPr>
          <p:cNvPr id="33" name="Text 31"/>
          <p:cNvSpPr/>
          <p:nvPr/>
        </p:nvSpPr>
        <p:spPr>
          <a:xfrm>
            <a:off x="8255813" y="5596128"/>
            <a:ext cx="3186074" cy="310896"/>
          </a:xfrm>
          <a:prstGeom prst="rect">
            <a:avLst/>
          </a:prstGeom>
          <a:noFill/>
          <a:ln/>
        </p:spPr>
        <p:txBody>
          <a:bodyPr wrap="square" lIns="0" tIns="0" rIns="0" bIns="0" rtlCol="0" anchor="ctr"/>
          <a:lstStyle/>
          <a:p>
            <a:pPr indent="0" marL="0">
              <a:buNone/>
            </a:pPr>
            <a:r>
              <a:rPr lang="en-US" sz="1150" b="1" dirty="0">
                <a:solidFill>
                  <a:srgbClr val="59201C"/>
                </a:solidFill>
                <a:latin typeface="Cambria" pitchFamily="34" charset="0"/>
                <a:ea typeface="Cambria" pitchFamily="34" charset="-122"/>
                <a:cs typeface="Cambria" pitchFamily="34" charset="-120"/>
              </a:rPr>
              <a:t>Pool minus tip-outs is the team's</a:t>
            </a:r>
            <a:endParaRPr lang="en-US" sz="1150" dirty="0"/>
          </a:p>
        </p:txBody>
      </p:sp>
      <p:sp>
        <p:nvSpPr>
          <p:cNvPr id="34" name="Text 32"/>
          <p:cNvSpPr/>
          <p:nvPr/>
        </p:nvSpPr>
        <p:spPr>
          <a:xfrm>
            <a:off x="8255813" y="5907024"/>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split 50/50, back server takes the odd dollar. Polisher, when one exists, is a flat $10 per team, $5 solo.</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Place the document here</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Day 7 — Opening, Closing, and Toast</a:t>
            </a:r>
            <a:endParaRPr lang="en-US" sz="1350" dirty="0"/>
          </a:p>
        </p:txBody>
      </p:sp>
      <p:sp>
        <p:nvSpPr>
          <p:cNvPr id="4" name="Shape 2"/>
          <p:cNvSpPr/>
          <p:nvPr/>
        </p:nvSpPr>
        <p:spPr>
          <a:xfrm>
            <a:off x="566928" y="1481328"/>
            <a:ext cx="11057839" cy="3310128"/>
          </a:xfrm>
          <a:prstGeom prst="roundRect">
            <a:avLst>
              <a:gd name="adj" fmla="val 2210"/>
            </a:avLst>
          </a:prstGeom>
          <a:solidFill>
            <a:srgbClr val="FBF3E2"/>
          </a:solidFill>
          <a:ln w="28575">
            <a:solidFill>
              <a:srgbClr val="B0812F"/>
            </a:solidFill>
            <a:prstDash val="dash"/>
          </a:ln>
        </p:spPr>
      </p:sp>
      <p:sp>
        <p:nvSpPr>
          <p:cNvPr id="5" name="Text 3"/>
          <p:cNvSpPr/>
          <p:nvPr/>
        </p:nvSpPr>
        <p:spPr>
          <a:xfrm>
            <a:off x="566928" y="1847088"/>
            <a:ext cx="11057839" cy="329184"/>
          </a:xfrm>
          <a:prstGeom prst="rect">
            <a:avLst/>
          </a:prstGeom>
          <a:noFill/>
          <a:ln/>
        </p:spPr>
        <p:txBody>
          <a:bodyPr wrap="square" lIns="0" tIns="0" rIns="0" bIns="0" rtlCol="0" anchor="ctr"/>
          <a:lstStyle/>
          <a:p>
            <a:pPr algn="ctr" indent="0" marL="0">
              <a:buNone/>
            </a:pPr>
            <a:r>
              <a:rPr lang="en-US" sz="1300" b="1" spc="300" kern="0" dirty="0">
                <a:solidFill>
                  <a:srgbClr val="B0812F"/>
                </a:solidFill>
                <a:latin typeface="Calibri" pitchFamily="34" charset="0"/>
                <a:ea typeface="Calibri" pitchFamily="34" charset="-122"/>
                <a:cs typeface="Calibri" pitchFamily="34" charset="-120"/>
              </a:rPr>
              <a:t>PLACE PICTURE OF</a:t>
            </a:r>
            <a:endParaRPr lang="en-US" sz="1300" dirty="0"/>
          </a:p>
        </p:txBody>
      </p:sp>
      <p:sp>
        <p:nvSpPr>
          <p:cNvPr id="6" name="Text 4"/>
          <p:cNvSpPr/>
          <p:nvPr/>
        </p:nvSpPr>
        <p:spPr>
          <a:xfrm>
            <a:off x="1207008" y="2212848"/>
            <a:ext cx="9777679" cy="1371600"/>
          </a:xfrm>
          <a:prstGeom prst="rect">
            <a:avLst/>
          </a:prstGeom>
          <a:noFill/>
          <a:ln/>
        </p:spPr>
        <p:txBody>
          <a:bodyPr wrap="square" lIns="0" tIns="0" rIns="0" bIns="0" rtlCol="0" anchor="ctr"/>
          <a:lstStyle/>
          <a:p>
            <a:pPr algn="ctr" indent="0" marL="0">
              <a:lnSpc>
                <a:spcPts val="3800"/>
              </a:lnSpc>
              <a:buNone/>
            </a:pPr>
            <a:r>
              <a:rPr lang="en-US" sz="3100" b="1" dirty="0">
                <a:solidFill>
                  <a:srgbClr val="59201C"/>
                </a:solidFill>
                <a:latin typeface="Cambria" pitchFamily="34" charset="0"/>
                <a:ea typeface="Cambria" pitchFamily="34" charset="-122"/>
                <a:cs typeface="Cambria" pitchFamily="34" charset="-120"/>
              </a:rPr>
              <a:t>THE GIFT CARD, PROMO TAB AND BANQUET SHEETS</a:t>
            </a:r>
            <a:endParaRPr lang="en-US" sz="3100" dirty="0"/>
          </a:p>
        </p:txBody>
      </p:sp>
      <p:sp>
        <p:nvSpPr>
          <p:cNvPr id="7" name="Text 5"/>
          <p:cNvSpPr/>
          <p:nvPr/>
        </p:nvSpPr>
        <p:spPr>
          <a:xfrm>
            <a:off x="566928" y="3657600"/>
            <a:ext cx="11057839" cy="329184"/>
          </a:xfrm>
          <a:prstGeom prst="rect">
            <a:avLst/>
          </a:prstGeom>
          <a:noFill/>
          <a:ln/>
        </p:spPr>
        <p:txBody>
          <a:bodyPr wrap="square" lIns="0" tIns="0" rIns="0" bIns="0" rtlCol="0" anchor="ctr"/>
          <a:lstStyle/>
          <a:p>
            <a:pPr algn="ctr" indent="0" marL="0">
              <a:buNone/>
            </a:pPr>
            <a:r>
              <a:rPr lang="en-US" sz="1300" b="1" spc="300" kern="0" dirty="0">
                <a:solidFill>
                  <a:srgbClr val="B0812F"/>
                </a:solidFill>
                <a:latin typeface="Calibri" pitchFamily="34" charset="0"/>
                <a:ea typeface="Calibri" pitchFamily="34" charset="-122"/>
                <a:cs typeface="Calibri" pitchFamily="34" charset="-120"/>
              </a:rPr>
              <a:t>HERE</a:t>
            </a:r>
            <a:endParaRPr lang="en-US" sz="1300" dirty="0"/>
          </a:p>
        </p:txBody>
      </p:sp>
      <p:sp>
        <p:nvSpPr>
          <p:cNvPr id="8" name="Text 6"/>
          <p:cNvSpPr/>
          <p:nvPr/>
        </p:nvSpPr>
        <p:spPr>
          <a:xfrm>
            <a:off x="1481328" y="4041648"/>
            <a:ext cx="9229039" cy="566928"/>
          </a:xfrm>
          <a:prstGeom prst="rect">
            <a:avLst/>
          </a:prstGeom>
          <a:noFill/>
          <a:ln/>
        </p:spPr>
        <p:txBody>
          <a:bodyPr wrap="square" lIns="0" tIns="0" rIns="0" bIns="0" rtlCol="0" anchor="t"/>
          <a:lstStyle/>
          <a:p>
            <a:pPr algn="ctr" indent="0" marL="0">
              <a:lnSpc>
                <a:spcPts val="1600"/>
              </a:lnSpc>
              <a:buNone/>
            </a:pPr>
            <a:r>
              <a:rPr lang="en-US" sz="1200" i="1" dirty="0">
                <a:solidFill>
                  <a:srgbClr val="6B5B4B"/>
                </a:solidFill>
                <a:latin typeface="Calibri" pitchFamily="34" charset="0"/>
                <a:ea typeface="Calibri" pitchFamily="34" charset="-122"/>
                <a:cs typeface="Calibri" pitchFamily="34" charset="-120"/>
              </a:rPr>
              <a:t>Card types and how each one rings, the promo tab procedure step by step, and the banquet count sheets. Ask the next time a banquet runs.</a:t>
            </a:r>
            <a:endParaRPr lang="en-US" sz="1200" dirty="0"/>
          </a:p>
        </p:txBody>
      </p:sp>
      <p:sp>
        <p:nvSpPr>
          <p:cNvPr id="9" name="Text 7"/>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7 — Opening, Closing, and Toast</a:t>
            </a:r>
            <a:endParaRPr lang="en-US" sz="9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Seat numbers for everything</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The original sheet says it in capitals, and so will we</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7 — Opening, Closing, and Toast</a:t>
            </a:r>
            <a:endParaRPr lang="en-US" sz="950" dirty="0"/>
          </a:p>
        </p:txBody>
      </p:sp>
      <p:sp>
        <p:nvSpPr>
          <p:cNvPr id="5" name="Text 3"/>
          <p:cNvSpPr/>
          <p:nvPr/>
        </p:nvSpPr>
        <p:spPr>
          <a:xfrm>
            <a:off x="566928" y="1627632"/>
            <a:ext cx="11057839" cy="786384"/>
          </a:xfrm>
          <a:prstGeom prst="rect">
            <a:avLst/>
          </a:prstGeom>
          <a:noFill/>
          <a:ln/>
        </p:spPr>
        <p:txBody>
          <a:bodyPr wrap="square" lIns="0" tIns="0" rIns="0" bIns="0" rtlCol="0" anchor="ctr"/>
          <a:lstStyle/>
          <a:p>
            <a:pPr algn="ctr" indent="0" marL="0">
              <a:buNone/>
            </a:pPr>
            <a:r>
              <a:rPr lang="en-US" sz="4000" b="1" spc="200" kern="0" dirty="0">
                <a:solidFill>
                  <a:srgbClr val="59201C"/>
                </a:solidFill>
                <a:latin typeface="Cambria" pitchFamily="34" charset="0"/>
                <a:ea typeface="Cambria" pitchFamily="34" charset="-122"/>
                <a:cs typeface="Cambria" pitchFamily="34" charset="-120"/>
              </a:rPr>
              <a:t>SEAT NUMBERS FOR EVERYTHING</a:t>
            </a:r>
            <a:endParaRPr lang="en-US" sz="4000" dirty="0"/>
          </a:p>
        </p:txBody>
      </p:sp>
      <p:sp>
        <p:nvSpPr>
          <p:cNvPr id="6" name="Text 4"/>
          <p:cNvSpPr/>
          <p:nvPr/>
        </p:nvSpPr>
        <p:spPr>
          <a:xfrm>
            <a:off x="566928" y="2615184"/>
            <a:ext cx="5300320" cy="292608"/>
          </a:xfrm>
          <a:prstGeom prst="rect">
            <a:avLst/>
          </a:prstGeom>
          <a:noFill/>
          <a:ln/>
        </p:spPr>
        <p:txBody>
          <a:bodyPr wrap="square" lIns="0" tIns="0" rIns="0" bIns="0" rtlCol="0" anchor="ctr"/>
          <a:lstStyle/>
          <a:p>
            <a:pPr indent="0" marL="0">
              <a:buNone/>
            </a:pPr>
            <a:r>
              <a:rPr lang="en-US" sz="1500" b="1" dirty="0">
                <a:solidFill>
                  <a:srgbClr val="59201C"/>
                </a:solidFill>
                <a:latin typeface="Cambria" pitchFamily="34" charset="0"/>
                <a:ea typeface="Cambria" pitchFamily="34" charset="-122"/>
                <a:cs typeface="Cambria" pitchFamily="34" charset="-120"/>
              </a:rPr>
              <a:t>What the pivot point system does</a:t>
            </a:r>
            <a:endParaRPr lang="en-US" sz="1500" dirty="0"/>
          </a:p>
        </p:txBody>
      </p:sp>
      <p:sp>
        <p:nvSpPr>
          <p:cNvPr id="7" name="Text 5"/>
          <p:cNvSpPr/>
          <p:nvPr/>
        </p:nvSpPr>
        <p:spPr>
          <a:xfrm>
            <a:off x="566928" y="2999232"/>
            <a:ext cx="5300320" cy="3127248"/>
          </a:xfrm>
          <a:prstGeom prst="rect">
            <a:avLst/>
          </a:prstGeom>
          <a:noFill/>
          <a:ln/>
        </p:spPr>
        <p:txBody>
          <a:bodyPr wrap="square" lIns="0" tIns="0" rIns="0" bIns="0" rtlCol="0" anchor="t"/>
          <a:lstStyle/>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A table of eight gets eight right plates without a single “who had the salmon?”</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Every position at the table has a number.</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Every item rings to its seat.</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Anyone can run any tray — that is the whole point.</a:t>
            </a:r>
            <a:endParaRPr lang="en-US" sz="1250" dirty="0"/>
          </a:p>
        </p:txBody>
      </p:sp>
      <p:sp>
        <p:nvSpPr>
          <p:cNvPr id="8" name="Text 6"/>
          <p:cNvSpPr/>
          <p:nvPr/>
        </p:nvSpPr>
        <p:spPr>
          <a:xfrm>
            <a:off x="6324448" y="2615184"/>
            <a:ext cx="5300320" cy="292608"/>
          </a:xfrm>
          <a:prstGeom prst="rect">
            <a:avLst/>
          </a:prstGeom>
          <a:noFill/>
          <a:ln/>
        </p:spPr>
        <p:txBody>
          <a:bodyPr wrap="square" lIns="0" tIns="0" rIns="0" bIns="0" rtlCol="0" anchor="ctr"/>
          <a:lstStyle/>
          <a:p>
            <a:pPr indent="0" marL="0">
              <a:buNone/>
            </a:pPr>
            <a:r>
              <a:rPr lang="en-US" sz="1500" b="1" dirty="0">
                <a:solidFill>
                  <a:srgbClr val="59201C"/>
                </a:solidFill>
                <a:latin typeface="Cambria" pitchFamily="34" charset="0"/>
                <a:ea typeface="Cambria" pitchFamily="34" charset="-122"/>
                <a:cs typeface="Cambria" pitchFamily="34" charset="-120"/>
              </a:rPr>
              <a:t>What it takes from you</a:t>
            </a:r>
            <a:endParaRPr lang="en-US" sz="1500" dirty="0"/>
          </a:p>
        </p:txBody>
      </p:sp>
      <p:sp>
        <p:nvSpPr>
          <p:cNvPr id="9" name="Text 7"/>
          <p:cNvSpPr/>
          <p:nvPr/>
        </p:nvSpPr>
        <p:spPr>
          <a:xfrm>
            <a:off x="6324448" y="2999232"/>
            <a:ext cx="5300320" cy="3127248"/>
          </a:xfrm>
          <a:prstGeom prst="rect">
            <a:avLst/>
          </a:prstGeom>
          <a:noFill/>
          <a:ln/>
        </p:spPr>
        <p:txBody>
          <a:bodyPr wrap="square" lIns="0" tIns="0" rIns="0" bIns="0" rtlCol="0" anchor="t"/>
          <a:lstStyle/>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Agree on the pivot with your front server before the table sits, every shift.</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Ring modifications to the seat, not to the ticket.</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Write the ticket so someone who has never met the table can run it.</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On big tables this is the difference between a clean drop and an apology.</a:t>
            </a:r>
            <a:endParaRPr lang="en-US" sz="12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Place the document here</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Day 7 — Opening, Closing, and Toast</a:t>
            </a:r>
            <a:endParaRPr lang="en-US" sz="1350" dirty="0"/>
          </a:p>
        </p:txBody>
      </p:sp>
      <p:sp>
        <p:nvSpPr>
          <p:cNvPr id="4" name="Shape 2"/>
          <p:cNvSpPr/>
          <p:nvPr/>
        </p:nvSpPr>
        <p:spPr>
          <a:xfrm>
            <a:off x="566928" y="1481328"/>
            <a:ext cx="11057839" cy="3310128"/>
          </a:xfrm>
          <a:prstGeom prst="roundRect">
            <a:avLst>
              <a:gd name="adj" fmla="val 2210"/>
            </a:avLst>
          </a:prstGeom>
          <a:solidFill>
            <a:srgbClr val="FBF3E2"/>
          </a:solidFill>
          <a:ln w="28575">
            <a:solidFill>
              <a:srgbClr val="B0812F"/>
            </a:solidFill>
            <a:prstDash val="dash"/>
          </a:ln>
        </p:spPr>
      </p:sp>
      <p:sp>
        <p:nvSpPr>
          <p:cNvPr id="5" name="Text 3"/>
          <p:cNvSpPr/>
          <p:nvPr/>
        </p:nvSpPr>
        <p:spPr>
          <a:xfrm>
            <a:off x="566928" y="1847088"/>
            <a:ext cx="11057839" cy="329184"/>
          </a:xfrm>
          <a:prstGeom prst="rect">
            <a:avLst/>
          </a:prstGeom>
          <a:noFill/>
          <a:ln/>
        </p:spPr>
        <p:txBody>
          <a:bodyPr wrap="square" lIns="0" tIns="0" rIns="0" bIns="0" rtlCol="0" anchor="ctr"/>
          <a:lstStyle/>
          <a:p>
            <a:pPr algn="ctr" indent="0" marL="0">
              <a:buNone/>
            </a:pPr>
            <a:r>
              <a:rPr lang="en-US" sz="1300" b="1" spc="300" kern="0" dirty="0">
                <a:solidFill>
                  <a:srgbClr val="B0812F"/>
                </a:solidFill>
                <a:latin typeface="Calibri" pitchFamily="34" charset="0"/>
                <a:ea typeface="Calibri" pitchFamily="34" charset="-122"/>
                <a:cs typeface="Calibri" pitchFamily="34" charset="-120"/>
              </a:rPr>
              <a:t>PLACE PICTURE OF</a:t>
            </a:r>
            <a:endParaRPr lang="en-US" sz="1300" dirty="0"/>
          </a:p>
        </p:txBody>
      </p:sp>
      <p:sp>
        <p:nvSpPr>
          <p:cNvPr id="6" name="Text 4"/>
          <p:cNvSpPr/>
          <p:nvPr/>
        </p:nvSpPr>
        <p:spPr>
          <a:xfrm>
            <a:off x="1207008" y="2212848"/>
            <a:ext cx="9777679" cy="1371600"/>
          </a:xfrm>
          <a:prstGeom prst="rect">
            <a:avLst/>
          </a:prstGeom>
          <a:noFill/>
          <a:ln/>
        </p:spPr>
        <p:txBody>
          <a:bodyPr wrap="square" lIns="0" tIns="0" rIns="0" bIns="0" rtlCol="0" anchor="ctr"/>
          <a:lstStyle/>
          <a:p>
            <a:pPr algn="ctr" indent="0" marL="0">
              <a:lnSpc>
                <a:spcPts val="3800"/>
              </a:lnSpc>
              <a:buNone/>
            </a:pPr>
            <a:r>
              <a:rPr lang="en-US" sz="3100" b="1" dirty="0">
                <a:solidFill>
                  <a:srgbClr val="59201C"/>
                </a:solidFill>
                <a:latin typeface="Cambria" pitchFamily="34" charset="0"/>
                <a:ea typeface="Cambria" pitchFamily="34" charset="-122"/>
                <a:cs typeface="Cambria" pitchFamily="34" charset="-120"/>
              </a:rPr>
              <a:t>THE FLOOR PLAN WITH TABLE AND SEAT NUMBERS</a:t>
            </a:r>
            <a:endParaRPr lang="en-US" sz="3100" dirty="0"/>
          </a:p>
        </p:txBody>
      </p:sp>
      <p:sp>
        <p:nvSpPr>
          <p:cNvPr id="7" name="Text 5"/>
          <p:cNvSpPr/>
          <p:nvPr/>
        </p:nvSpPr>
        <p:spPr>
          <a:xfrm>
            <a:off x="566928" y="3657600"/>
            <a:ext cx="11057839" cy="329184"/>
          </a:xfrm>
          <a:prstGeom prst="rect">
            <a:avLst/>
          </a:prstGeom>
          <a:noFill/>
          <a:ln/>
        </p:spPr>
        <p:txBody>
          <a:bodyPr wrap="square" lIns="0" tIns="0" rIns="0" bIns="0" rtlCol="0" anchor="ctr"/>
          <a:lstStyle/>
          <a:p>
            <a:pPr algn="ctr" indent="0" marL="0">
              <a:buNone/>
            </a:pPr>
            <a:r>
              <a:rPr lang="en-US" sz="1300" b="1" spc="300" kern="0" dirty="0">
                <a:solidFill>
                  <a:srgbClr val="B0812F"/>
                </a:solidFill>
                <a:latin typeface="Calibri" pitchFamily="34" charset="0"/>
                <a:ea typeface="Calibri" pitchFamily="34" charset="-122"/>
                <a:cs typeface="Calibri" pitchFamily="34" charset="-120"/>
              </a:rPr>
              <a:t>HERE</a:t>
            </a:r>
            <a:endParaRPr lang="en-US" sz="1300" dirty="0"/>
          </a:p>
        </p:txBody>
      </p:sp>
      <p:sp>
        <p:nvSpPr>
          <p:cNvPr id="8" name="Text 6"/>
          <p:cNvSpPr/>
          <p:nvPr/>
        </p:nvSpPr>
        <p:spPr>
          <a:xfrm>
            <a:off x="1481328" y="4041648"/>
            <a:ext cx="9229039" cy="566928"/>
          </a:xfrm>
          <a:prstGeom prst="rect">
            <a:avLst/>
          </a:prstGeom>
          <a:noFill/>
          <a:ln/>
        </p:spPr>
        <p:txBody>
          <a:bodyPr wrap="square" lIns="0" tIns="0" rIns="0" bIns="0" rtlCol="0" anchor="t"/>
          <a:lstStyle/>
          <a:p>
            <a:pPr algn="ctr" indent="0" marL="0">
              <a:lnSpc>
                <a:spcPts val="1600"/>
              </a:lnSpc>
              <a:buNone/>
            </a:pPr>
            <a:r>
              <a:rPr lang="en-US" sz="1200" i="1" dirty="0">
                <a:solidFill>
                  <a:srgbClr val="6B5B4B"/>
                </a:solidFill>
                <a:latin typeface="Calibri" pitchFamily="34" charset="0"/>
                <a:ea typeface="Calibri" pitchFamily="34" charset="-122"/>
                <a:cs typeface="Calibri" pitchFamily="34" charset="-120"/>
              </a:rPr>
              <a:t>The pivot point for every table shape in the building. This is the biggest one on the list — when it lands, this chapter becomes a map instead of a promise.</a:t>
            </a:r>
            <a:endParaRPr lang="en-US" sz="1200" dirty="0"/>
          </a:p>
        </p:txBody>
      </p:sp>
      <p:sp>
        <p:nvSpPr>
          <p:cNvPr id="9" name="Text 7"/>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7 — Opening, Closing, and Toast</a:t>
            </a:r>
            <a:endParaRPr lang="en-US" sz="9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59201C"/>
        </a:solidFill>
      </p:bgPr>
    </p:bg>
    <p:spTree>
      <p:nvGrpSpPr>
        <p:cNvPr id="1" name=""/>
        <p:cNvGrpSpPr/>
        <p:nvPr/>
      </p:nvGrpSpPr>
      <p:grpSpPr>
        <a:xfrm>
          <a:off x="0" y="0"/>
          <a:ext cx="0" cy="0"/>
          <a:chOff x="0" y="0"/>
          <a:chExt cx="0" cy="0"/>
        </a:xfrm>
      </p:grpSpPr>
      <p:sp>
        <p:nvSpPr>
          <p:cNvPr id="2" name="Shape 0"/>
          <p:cNvSpPr/>
          <p:nvPr/>
        </p:nvSpPr>
        <p:spPr>
          <a:xfrm>
            <a:off x="566928" y="1737360"/>
            <a:ext cx="1051560" cy="1051560"/>
          </a:xfrm>
          <a:prstGeom prst="ellipse">
            <a:avLst/>
          </a:prstGeom>
          <a:solidFill>
            <a:srgbClr val="F7EFE4"/>
          </a:solidFill>
          <a:ln w="12700">
            <a:solidFill>
              <a:srgbClr val="F7EFE4"/>
            </a:solidFill>
            <a:prstDash val="solid"/>
          </a:ln>
        </p:spPr>
      </p:sp>
      <p:sp>
        <p:nvSpPr>
          <p:cNvPr id="3" name="Text 1"/>
          <p:cNvSpPr/>
          <p:nvPr/>
        </p:nvSpPr>
        <p:spPr>
          <a:xfrm>
            <a:off x="566928" y="1737360"/>
            <a:ext cx="1051560" cy="1051560"/>
          </a:xfrm>
          <a:prstGeom prst="rect">
            <a:avLst/>
          </a:prstGeom>
          <a:noFill/>
          <a:ln/>
        </p:spPr>
        <p:txBody>
          <a:bodyPr wrap="square" lIns="0" tIns="0" rIns="0" bIns="0" rtlCol="0" anchor="ctr"/>
          <a:lstStyle/>
          <a:p>
            <a:pPr algn="ctr" indent="0" marL="0">
              <a:buNone/>
            </a:pPr>
            <a:r>
              <a:rPr lang="en-US" sz="4000" b="1" dirty="0">
                <a:solidFill>
                  <a:srgbClr val="59201C"/>
                </a:solidFill>
                <a:latin typeface="Cambria" pitchFamily="34" charset="0"/>
                <a:ea typeface="Cambria" pitchFamily="34" charset="-122"/>
                <a:cs typeface="Cambria" pitchFamily="34" charset="-120"/>
              </a:rPr>
              <a:t>8</a:t>
            </a:r>
            <a:endParaRPr lang="en-US" sz="4000" dirty="0"/>
          </a:p>
        </p:txBody>
      </p:sp>
      <p:sp>
        <p:nvSpPr>
          <p:cNvPr id="4" name="Text 2"/>
          <p:cNvSpPr/>
          <p:nvPr/>
        </p:nvSpPr>
        <p:spPr>
          <a:xfrm>
            <a:off x="1938528" y="1700784"/>
            <a:ext cx="9686239" cy="786384"/>
          </a:xfrm>
          <a:prstGeom prst="rect">
            <a:avLst/>
          </a:prstGeom>
          <a:noFill/>
          <a:ln/>
        </p:spPr>
        <p:txBody>
          <a:bodyPr wrap="square" lIns="0" tIns="0" rIns="0" bIns="0" rtlCol="0" anchor="ctr"/>
          <a:lstStyle/>
          <a:p>
            <a:pPr indent="0" marL="0">
              <a:buNone/>
            </a:pPr>
            <a:r>
              <a:rPr lang="en-US" sz="4000" b="1" dirty="0">
                <a:solidFill>
                  <a:srgbClr val="F7EFE4"/>
                </a:solidFill>
                <a:latin typeface="Cambria" pitchFamily="34" charset="0"/>
                <a:ea typeface="Cambria" pitchFamily="34" charset="-122"/>
                <a:cs typeface="Cambria" pitchFamily="34" charset="-120"/>
              </a:rPr>
              <a:t>Mock Serves</a:t>
            </a:r>
            <a:endParaRPr lang="en-US" sz="4000" dirty="0"/>
          </a:p>
        </p:txBody>
      </p:sp>
      <p:sp>
        <p:nvSpPr>
          <p:cNvPr id="5" name="Text 3"/>
          <p:cNvSpPr/>
          <p:nvPr/>
        </p:nvSpPr>
        <p:spPr>
          <a:xfrm>
            <a:off x="1938528" y="2542032"/>
            <a:ext cx="9686239" cy="1371600"/>
          </a:xfrm>
          <a:prstGeom prst="rect">
            <a:avLst/>
          </a:prstGeom>
          <a:noFill/>
          <a:ln/>
        </p:spPr>
        <p:txBody>
          <a:bodyPr wrap="square" lIns="0" tIns="0" rIns="0" bIns="0" rtlCol="0" anchor="ctr"/>
          <a:lstStyle/>
          <a:p>
            <a:pPr indent="0" marL="0">
              <a:lnSpc>
                <a:spcPts val="2100"/>
              </a:lnSpc>
              <a:buNone/>
            </a:pPr>
            <a:r>
              <a:rPr lang="en-US" sz="1400" i="1" dirty="0">
                <a:solidFill>
                  <a:srgbClr val="E8D6C8"/>
                </a:solidFill>
                <a:latin typeface="Calibri" pitchFamily="34" charset="0"/>
                <a:ea typeface="Calibri" pitchFamily="34" charset="-122"/>
                <a:cs typeface="Calibri" pitchFamily="34" charset="-120"/>
              </a:rPr>
              <a:t>Front and back get paired for semi-full service with correct glasses and plates, full ticket ringing, and sticky notes on plates and glasses.</a:t>
            </a:r>
            <a:endParaRPr lang="en-US" sz="1400" dirty="0"/>
          </a:p>
        </p:txBody>
      </p:sp>
      <p:sp>
        <p:nvSpPr>
          <p:cNvPr id="6" name="Text 4"/>
          <p:cNvSpPr/>
          <p:nvPr/>
        </p:nvSpPr>
        <p:spPr>
          <a:xfrm>
            <a:off x="566928" y="6199632"/>
            <a:ext cx="11057839" cy="274320"/>
          </a:xfrm>
          <a:prstGeom prst="rect">
            <a:avLst/>
          </a:prstGeom>
          <a:noFill/>
          <a:ln/>
        </p:spPr>
        <p:txBody>
          <a:bodyPr wrap="square" lIns="0" tIns="0" rIns="0" bIns="0" rtlCol="0" anchor="ctr"/>
          <a:lstStyle/>
          <a:p>
            <a:pPr indent="0" marL="0">
              <a:buNone/>
            </a:pPr>
            <a:r>
              <a:rPr lang="en-US" sz="1050" dirty="0">
                <a:solidFill>
                  <a:srgbClr val="C9A99A"/>
                </a:solidFill>
                <a:latin typeface="Calibri" pitchFamily="34" charset="0"/>
                <a:ea typeface="Calibri" pitchFamily="34" charset="-122"/>
                <a:cs typeface="Calibri" pitchFamily="34" charset="-120"/>
              </a:rPr>
              <a:t>From the original Mo's Training Itinerary</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Mock serves</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Dress rehearsal — the food is sticky notes and the standard is real</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8 — Mock Serves</a:t>
            </a:r>
            <a:endParaRPr lang="en-US" sz="950" dirty="0"/>
          </a:p>
        </p:txBody>
      </p:sp>
      <p:sp>
        <p:nvSpPr>
          <p:cNvPr id="5" name="Text 3"/>
          <p:cNvSpPr/>
          <p:nvPr/>
        </p:nvSpPr>
        <p:spPr>
          <a:xfrm>
            <a:off x="566928" y="1572768"/>
            <a:ext cx="5300320" cy="292608"/>
          </a:xfrm>
          <a:prstGeom prst="rect">
            <a:avLst/>
          </a:prstGeom>
          <a:noFill/>
          <a:ln/>
        </p:spPr>
        <p:txBody>
          <a:bodyPr wrap="square" lIns="0" tIns="0" rIns="0" bIns="0" rtlCol="0" anchor="ctr"/>
          <a:lstStyle/>
          <a:p>
            <a:pPr indent="0" marL="0">
              <a:buNone/>
            </a:pPr>
            <a:r>
              <a:rPr lang="en-US" sz="1500" b="1" dirty="0">
                <a:solidFill>
                  <a:srgbClr val="59201C"/>
                </a:solidFill>
                <a:latin typeface="Cambria" pitchFamily="34" charset="0"/>
                <a:ea typeface="Cambria" pitchFamily="34" charset="-122"/>
                <a:cs typeface="Cambria" pitchFamily="34" charset="-120"/>
              </a:rPr>
              <a:t>How it runs</a:t>
            </a:r>
            <a:endParaRPr lang="en-US" sz="1500" dirty="0"/>
          </a:p>
        </p:txBody>
      </p:sp>
      <p:sp>
        <p:nvSpPr>
          <p:cNvPr id="6" name="Text 4"/>
          <p:cNvSpPr/>
          <p:nvPr/>
        </p:nvSpPr>
        <p:spPr>
          <a:xfrm>
            <a:off x="566928" y="1956816"/>
            <a:ext cx="5300320" cy="4169664"/>
          </a:xfrm>
          <a:prstGeom prst="rect">
            <a:avLst/>
          </a:prstGeom>
          <a:noFill/>
          <a:ln/>
        </p:spPr>
        <p:txBody>
          <a:bodyPr wrap="square" lIns="0" tIns="0" rIns="0" bIns="0" rtlCol="0" anchor="t"/>
          <a:lstStyle/>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A front and a back get paired and run real tables.</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Every step of Day 6 runs at full speed — greet, drinks in the correct glassware, apps on the correct plates, coursing, marking, clearing from the right, two-bite checkbacks.</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The ticket gets rung in Toast for real, seat numbers and all, so the kitchen screen looks exactly like a live Friday.</a:t>
            </a:r>
            <a:endParaRPr lang="en-US" sz="1250" dirty="0"/>
          </a:p>
        </p:txBody>
      </p:sp>
      <p:sp>
        <p:nvSpPr>
          <p:cNvPr id="7" name="Text 5"/>
          <p:cNvSpPr/>
          <p:nvPr/>
        </p:nvSpPr>
        <p:spPr>
          <a:xfrm>
            <a:off x="6324448" y="1572768"/>
            <a:ext cx="5300320" cy="292608"/>
          </a:xfrm>
          <a:prstGeom prst="rect">
            <a:avLst/>
          </a:prstGeom>
          <a:noFill/>
          <a:ln/>
        </p:spPr>
        <p:txBody>
          <a:bodyPr wrap="square" lIns="0" tIns="0" rIns="0" bIns="0" rtlCol="0" anchor="ctr"/>
          <a:lstStyle/>
          <a:p>
            <a:pPr indent="0" marL="0">
              <a:buNone/>
            </a:pPr>
            <a:r>
              <a:rPr lang="en-US" sz="1500" b="1" dirty="0">
                <a:solidFill>
                  <a:srgbClr val="59201C"/>
                </a:solidFill>
                <a:latin typeface="Cambria" pitchFamily="34" charset="0"/>
                <a:ea typeface="Cambria" pitchFamily="34" charset="-122"/>
                <a:cs typeface="Cambria" pitchFamily="34" charset="-120"/>
              </a:rPr>
              <a:t>What good looks like</a:t>
            </a:r>
            <a:endParaRPr lang="en-US" sz="1500" dirty="0"/>
          </a:p>
        </p:txBody>
      </p:sp>
      <p:sp>
        <p:nvSpPr>
          <p:cNvPr id="8" name="Text 6"/>
          <p:cNvSpPr/>
          <p:nvPr/>
        </p:nvSpPr>
        <p:spPr>
          <a:xfrm>
            <a:off x="6324448" y="1956816"/>
            <a:ext cx="5300320" cy="4169664"/>
          </a:xfrm>
          <a:prstGeom prst="rect">
            <a:avLst/>
          </a:prstGeom>
          <a:noFill/>
          <a:ln/>
        </p:spPr>
        <p:txBody>
          <a:bodyPr wrap="square" lIns="0" tIns="0" rIns="0" bIns="0" rtlCol="0" anchor="t"/>
          <a:lstStyle/>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The pair moves like one person. The back knows the front's ticket without asking.</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Nobody reaches across a guest. Nobody's hands are empty leaving the room.</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The pepper gets offered after every drop.</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The sticky note that says “medium rare filet, seat 3” lands in front of seat 3 every time.</a:t>
            </a:r>
            <a:endParaRPr lang="en-US" sz="1250" dirty="0"/>
          </a:p>
        </p:txBody>
      </p:sp>
      <p:sp>
        <p:nvSpPr>
          <p:cNvPr id="9" name="Shape 7"/>
          <p:cNvSpPr/>
          <p:nvPr/>
        </p:nvSpPr>
        <p:spPr>
          <a:xfrm>
            <a:off x="566928" y="4937760"/>
            <a:ext cx="11057839" cy="749808"/>
          </a:xfrm>
          <a:prstGeom prst="roundRect">
            <a:avLst>
              <a:gd name="adj" fmla="val 7317"/>
            </a:avLst>
          </a:prstGeom>
          <a:solidFill>
            <a:srgbClr val="F3E7E4"/>
          </a:solidFill>
          <a:ln w="12700">
            <a:solidFill>
              <a:srgbClr val="E2CCC7"/>
            </a:solidFill>
            <a:prstDash val="solid"/>
          </a:ln>
        </p:spPr>
      </p:sp>
      <p:sp>
        <p:nvSpPr>
          <p:cNvPr id="10" name="Text 8"/>
          <p:cNvSpPr/>
          <p:nvPr/>
        </p:nvSpPr>
        <p:spPr>
          <a:xfrm>
            <a:off x="768096" y="5010912"/>
            <a:ext cx="10655503" cy="603504"/>
          </a:xfrm>
          <a:prstGeom prst="rect">
            <a:avLst/>
          </a:prstGeom>
          <a:noFill/>
          <a:ln/>
        </p:spPr>
        <p:txBody>
          <a:bodyPr wrap="square" lIns="0" tIns="0" rIns="0" bIns="0" rtlCol="0" anchor="ctr"/>
          <a:lstStyle/>
          <a:p>
            <a:pPr indent="0" marL="0">
              <a:lnSpc>
                <a:spcPts val="1600"/>
              </a:lnSpc>
              <a:buNone/>
            </a:pPr>
            <a:r>
              <a:rPr lang="en-US" sz="1250" b="1" dirty="0">
                <a:solidFill>
                  <a:srgbClr val="59201C"/>
                </a:solidFill>
                <a:latin typeface="Calibri" pitchFamily="34" charset="0"/>
                <a:ea typeface="Calibri" pitchFamily="34" charset="-122"/>
                <a:cs typeface="Calibri" pitchFamily="34" charset="-120"/>
              </a:rPr>
              <a:t>Treat the mock table like a table that tips.  </a:t>
            </a:r>
            <a:pPr indent="0" marL="0">
              <a:lnSpc>
                <a:spcPts val="1600"/>
              </a:lnSpc>
              <a:buNone/>
            </a:pPr>
            <a:r>
              <a:rPr lang="en-US" sz="1250" dirty="0">
                <a:solidFill>
                  <a:srgbClr val="2B2118"/>
                </a:solidFill>
                <a:latin typeface="Calibri" pitchFamily="34" charset="0"/>
                <a:ea typeface="Calibri" pitchFamily="34" charset="-122"/>
                <a:cs typeface="Calibri" pitchFamily="34" charset="-120"/>
              </a:rPr>
              <a:t>The habits you build empty-handed are the ones that show up when it is full.</a:t>
            </a:r>
            <a:endParaRPr lang="en-US" sz="12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Place the document here</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Day 8 — Mock Serves</a:t>
            </a:r>
            <a:endParaRPr lang="en-US" sz="1350" dirty="0"/>
          </a:p>
        </p:txBody>
      </p:sp>
      <p:sp>
        <p:nvSpPr>
          <p:cNvPr id="4" name="Shape 2"/>
          <p:cNvSpPr/>
          <p:nvPr/>
        </p:nvSpPr>
        <p:spPr>
          <a:xfrm>
            <a:off x="566928" y="1481328"/>
            <a:ext cx="11057839" cy="3310128"/>
          </a:xfrm>
          <a:prstGeom prst="roundRect">
            <a:avLst>
              <a:gd name="adj" fmla="val 2210"/>
            </a:avLst>
          </a:prstGeom>
          <a:solidFill>
            <a:srgbClr val="FBF3E2"/>
          </a:solidFill>
          <a:ln w="28575">
            <a:solidFill>
              <a:srgbClr val="B0812F"/>
            </a:solidFill>
            <a:prstDash val="dash"/>
          </a:ln>
        </p:spPr>
      </p:sp>
      <p:sp>
        <p:nvSpPr>
          <p:cNvPr id="5" name="Text 3"/>
          <p:cNvSpPr/>
          <p:nvPr/>
        </p:nvSpPr>
        <p:spPr>
          <a:xfrm>
            <a:off x="566928" y="1847088"/>
            <a:ext cx="11057839" cy="329184"/>
          </a:xfrm>
          <a:prstGeom prst="rect">
            <a:avLst/>
          </a:prstGeom>
          <a:noFill/>
          <a:ln/>
        </p:spPr>
        <p:txBody>
          <a:bodyPr wrap="square" lIns="0" tIns="0" rIns="0" bIns="0" rtlCol="0" anchor="ctr"/>
          <a:lstStyle/>
          <a:p>
            <a:pPr algn="ctr" indent="0" marL="0">
              <a:buNone/>
            </a:pPr>
            <a:r>
              <a:rPr lang="en-US" sz="1300" b="1" spc="300" kern="0" dirty="0">
                <a:solidFill>
                  <a:srgbClr val="B0812F"/>
                </a:solidFill>
                <a:latin typeface="Calibri" pitchFamily="34" charset="0"/>
                <a:ea typeface="Calibri" pitchFamily="34" charset="-122"/>
                <a:cs typeface="Calibri" pitchFamily="34" charset="-120"/>
              </a:rPr>
              <a:t>PLACE PICTURE OF</a:t>
            </a:r>
            <a:endParaRPr lang="en-US" sz="1300" dirty="0"/>
          </a:p>
        </p:txBody>
      </p:sp>
      <p:sp>
        <p:nvSpPr>
          <p:cNvPr id="6" name="Text 4"/>
          <p:cNvSpPr/>
          <p:nvPr/>
        </p:nvSpPr>
        <p:spPr>
          <a:xfrm>
            <a:off x="1207008" y="2212848"/>
            <a:ext cx="9777679" cy="1371600"/>
          </a:xfrm>
          <a:prstGeom prst="rect">
            <a:avLst/>
          </a:prstGeom>
          <a:noFill/>
          <a:ln/>
        </p:spPr>
        <p:txBody>
          <a:bodyPr wrap="square" lIns="0" tIns="0" rIns="0" bIns="0" rtlCol="0" anchor="ctr"/>
          <a:lstStyle/>
          <a:p>
            <a:pPr algn="ctr" indent="0" marL="0">
              <a:lnSpc>
                <a:spcPts val="3800"/>
              </a:lnSpc>
              <a:buNone/>
            </a:pPr>
            <a:r>
              <a:rPr lang="en-US" sz="3100" b="1" dirty="0">
                <a:solidFill>
                  <a:srgbClr val="59201C"/>
                </a:solidFill>
                <a:latin typeface="Cambria" pitchFamily="34" charset="0"/>
                <a:ea typeface="Cambria" pitchFamily="34" charset="-122"/>
                <a:cs typeface="Cambria" pitchFamily="34" charset="-120"/>
              </a:rPr>
              <a:t>THE OFFICIAL MOCK-SERVE CHECKLIST</a:t>
            </a:r>
            <a:endParaRPr lang="en-US" sz="3100" dirty="0"/>
          </a:p>
        </p:txBody>
      </p:sp>
      <p:sp>
        <p:nvSpPr>
          <p:cNvPr id="7" name="Text 5"/>
          <p:cNvSpPr/>
          <p:nvPr/>
        </p:nvSpPr>
        <p:spPr>
          <a:xfrm>
            <a:off x="566928" y="3657600"/>
            <a:ext cx="11057839" cy="329184"/>
          </a:xfrm>
          <a:prstGeom prst="rect">
            <a:avLst/>
          </a:prstGeom>
          <a:noFill/>
          <a:ln/>
        </p:spPr>
        <p:txBody>
          <a:bodyPr wrap="square" lIns="0" tIns="0" rIns="0" bIns="0" rtlCol="0" anchor="ctr"/>
          <a:lstStyle/>
          <a:p>
            <a:pPr algn="ctr" indent="0" marL="0">
              <a:buNone/>
            </a:pPr>
            <a:r>
              <a:rPr lang="en-US" sz="1300" b="1" spc="300" kern="0" dirty="0">
                <a:solidFill>
                  <a:srgbClr val="B0812F"/>
                </a:solidFill>
                <a:latin typeface="Calibri" pitchFamily="34" charset="0"/>
                <a:ea typeface="Calibri" pitchFamily="34" charset="-122"/>
                <a:cs typeface="Calibri" pitchFamily="34" charset="-120"/>
              </a:rPr>
              <a:t>HERE</a:t>
            </a:r>
            <a:endParaRPr lang="en-US" sz="1300" dirty="0"/>
          </a:p>
        </p:txBody>
      </p:sp>
      <p:sp>
        <p:nvSpPr>
          <p:cNvPr id="8" name="Text 6"/>
          <p:cNvSpPr/>
          <p:nvPr/>
        </p:nvSpPr>
        <p:spPr>
          <a:xfrm>
            <a:off x="1481328" y="4041648"/>
            <a:ext cx="9229039" cy="566928"/>
          </a:xfrm>
          <a:prstGeom prst="rect">
            <a:avLst/>
          </a:prstGeom>
          <a:noFill/>
          <a:ln/>
        </p:spPr>
        <p:txBody>
          <a:bodyPr wrap="square" lIns="0" tIns="0" rIns="0" bIns="0" rtlCol="0" anchor="t"/>
          <a:lstStyle/>
          <a:p>
            <a:pPr algn="ctr" indent="0" marL="0">
              <a:lnSpc>
                <a:spcPts val="1600"/>
              </a:lnSpc>
              <a:buNone/>
            </a:pPr>
            <a:r>
              <a:rPr lang="en-US" sz="1200" i="1" dirty="0">
                <a:solidFill>
                  <a:srgbClr val="6B5B4B"/>
                </a:solidFill>
                <a:latin typeface="Calibri" pitchFamily="34" charset="0"/>
                <a:ea typeface="Calibri" pitchFamily="34" charset="-122"/>
                <a:cs typeface="Calibri" pitchFamily="34" charset="-120"/>
              </a:rPr>
              <a:t>If a printed one existed, so scoring matches the original standard instead of a manager's memory.</a:t>
            </a:r>
            <a:endParaRPr lang="en-US" sz="1200" dirty="0"/>
          </a:p>
        </p:txBody>
      </p:sp>
      <p:sp>
        <p:nvSpPr>
          <p:cNvPr id="9" name="Text 7"/>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8 — Mock Serves</a:t>
            </a:r>
            <a:endParaRPr lang="en-US" sz="9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59201C"/>
        </a:solidFill>
      </p:bgPr>
    </p:bg>
    <p:spTree>
      <p:nvGrpSpPr>
        <p:cNvPr id="1" name=""/>
        <p:cNvGrpSpPr/>
        <p:nvPr/>
      </p:nvGrpSpPr>
      <p:grpSpPr>
        <a:xfrm>
          <a:off x="0" y="0"/>
          <a:ext cx="0" cy="0"/>
          <a:chOff x="0" y="0"/>
          <a:chExt cx="0" cy="0"/>
        </a:xfrm>
      </p:grpSpPr>
      <p:sp>
        <p:nvSpPr>
          <p:cNvPr id="2" name="Shape 0"/>
          <p:cNvSpPr/>
          <p:nvPr/>
        </p:nvSpPr>
        <p:spPr>
          <a:xfrm>
            <a:off x="566928" y="1737360"/>
            <a:ext cx="1051560" cy="1051560"/>
          </a:xfrm>
          <a:prstGeom prst="ellipse">
            <a:avLst/>
          </a:prstGeom>
          <a:solidFill>
            <a:srgbClr val="F7EFE4"/>
          </a:solidFill>
          <a:ln w="12700">
            <a:solidFill>
              <a:srgbClr val="F7EFE4"/>
            </a:solidFill>
            <a:prstDash val="solid"/>
          </a:ln>
        </p:spPr>
      </p:sp>
      <p:sp>
        <p:nvSpPr>
          <p:cNvPr id="3" name="Text 1"/>
          <p:cNvSpPr/>
          <p:nvPr/>
        </p:nvSpPr>
        <p:spPr>
          <a:xfrm>
            <a:off x="566928" y="1737360"/>
            <a:ext cx="1051560" cy="1051560"/>
          </a:xfrm>
          <a:prstGeom prst="rect">
            <a:avLst/>
          </a:prstGeom>
          <a:noFill/>
          <a:ln/>
        </p:spPr>
        <p:txBody>
          <a:bodyPr wrap="square" lIns="0" tIns="0" rIns="0" bIns="0" rtlCol="0" anchor="ctr"/>
          <a:lstStyle/>
          <a:p>
            <a:pPr algn="ctr" indent="0" marL="0">
              <a:buNone/>
            </a:pPr>
            <a:r>
              <a:rPr lang="en-US" sz="4000" b="1" dirty="0">
                <a:solidFill>
                  <a:srgbClr val="59201C"/>
                </a:solidFill>
                <a:latin typeface="Cambria" pitchFamily="34" charset="0"/>
                <a:ea typeface="Cambria" pitchFamily="34" charset="-122"/>
                <a:cs typeface="Cambria" pitchFamily="34" charset="-120"/>
              </a:rPr>
              <a:t>9</a:t>
            </a:r>
            <a:endParaRPr lang="en-US" sz="4000" dirty="0"/>
          </a:p>
        </p:txBody>
      </p:sp>
      <p:sp>
        <p:nvSpPr>
          <p:cNvPr id="4" name="Text 2"/>
          <p:cNvSpPr/>
          <p:nvPr/>
        </p:nvSpPr>
        <p:spPr>
          <a:xfrm>
            <a:off x="1938528" y="1700784"/>
            <a:ext cx="9686239" cy="786384"/>
          </a:xfrm>
          <a:prstGeom prst="rect">
            <a:avLst/>
          </a:prstGeom>
          <a:noFill/>
          <a:ln/>
        </p:spPr>
        <p:txBody>
          <a:bodyPr wrap="square" lIns="0" tIns="0" rIns="0" bIns="0" rtlCol="0" anchor="ctr"/>
          <a:lstStyle/>
          <a:p>
            <a:pPr indent="0" marL="0">
              <a:buNone/>
            </a:pPr>
            <a:r>
              <a:rPr lang="en-US" sz="4000" b="1" dirty="0">
                <a:solidFill>
                  <a:srgbClr val="F7EFE4"/>
                </a:solidFill>
                <a:latin typeface="Cambria" pitchFamily="34" charset="0"/>
                <a:ea typeface="Cambria" pitchFamily="34" charset="-122"/>
                <a:cs typeface="Cambria" pitchFamily="34" charset="-120"/>
              </a:rPr>
              <a:t>Wine and Spirits</a:t>
            </a:r>
            <a:endParaRPr lang="en-US" sz="4000" dirty="0"/>
          </a:p>
        </p:txBody>
      </p:sp>
      <p:sp>
        <p:nvSpPr>
          <p:cNvPr id="5" name="Text 3"/>
          <p:cNvSpPr/>
          <p:nvPr/>
        </p:nvSpPr>
        <p:spPr>
          <a:xfrm>
            <a:off x="1938528" y="2542032"/>
            <a:ext cx="9686239" cy="1371600"/>
          </a:xfrm>
          <a:prstGeom prst="rect">
            <a:avLst/>
          </a:prstGeom>
          <a:noFill/>
          <a:ln/>
        </p:spPr>
        <p:txBody>
          <a:bodyPr wrap="square" lIns="0" tIns="0" rIns="0" bIns="0" rtlCol="0" anchor="ctr"/>
          <a:lstStyle/>
          <a:p>
            <a:pPr indent="0" marL="0">
              <a:lnSpc>
                <a:spcPts val="2100"/>
              </a:lnSpc>
              <a:buNone/>
            </a:pPr>
            <a:r>
              <a:rPr lang="en-US" sz="1400" i="1" dirty="0">
                <a:solidFill>
                  <a:srgbClr val="E8D6C8"/>
                </a:solidFill>
                <a:latin typeface="Calibri" pitchFamily="34" charset="0"/>
                <a:ea typeface="Calibri" pitchFamily="34" charset="-122"/>
                <a:cs typeface="Calibri" pitchFamily="34" charset="-120"/>
              </a:rPr>
              <a:t>Origins of spirits, specialty and seasonal cocktails, wine overview, the whiskey list, origins of wine — tannin, body, aging — new world versus old world, red versus white versus rosé, wine by the glass tasting, and the bartenders' recipe list.</a:t>
            </a:r>
            <a:endParaRPr lang="en-US" sz="1400" dirty="0"/>
          </a:p>
        </p:txBody>
      </p:sp>
      <p:sp>
        <p:nvSpPr>
          <p:cNvPr id="6" name="Text 4"/>
          <p:cNvSpPr/>
          <p:nvPr/>
        </p:nvSpPr>
        <p:spPr>
          <a:xfrm>
            <a:off x="566928" y="6199632"/>
            <a:ext cx="11057839" cy="274320"/>
          </a:xfrm>
          <a:prstGeom prst="rect">
            <a:avLst/>
          </a:prstGeom>
          <a:noFill/>
          <a:ln/>
        </p:spPr>
        <p:txBody>
          <a:bodyPr wrap="square" lIns="0" tIns="0" rIns="0" bIns="0" rtlCol="0" anchor="ctr"/>
          <a:lstStyle/>
          <a:p>
            <a:pPr indent="0" marL="0">
              <a:buNone/>
            </a:pPr>
            <a:r>
              <a:rPr lang="en-US" sz="1050" dirty="0">
                <a:solidFill>
                  <a:srgbClr val="C9A99A"/>
                </a:solidFill>
                <a:latin typeface="Calibri" pitchFamily="34" charset="0"/>
                <a:ea typeface="Calibri" pitchFamily="34" charset="-122"/>
                <a:cs typeface="Calibri" pitchFamily="34" charset="-120"/>
              </a:rPr>
              <a:t>From the original Mo's Training Itinerary</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Origins of spirits</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Every spirit is the same trick: ferment something, then distill it</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9 — Wine and Spirits</a:t>
            </a:r>
            <a:endParaRPr lang="en-US" sz="950" dirty="0"/>
          </a:p>
        </p:txBody>
      </p:sp>
      <p:sp>
        <p:nvSpPr>
          <p:cNvPr id="5" name="Shape 3"/>
          <p:cNvSpPr/>
          <p:nvPr/>
        </p:nvSpPr>
        <p:spPr>
          <a:xfrm>
            <a:off x="566928" y="1572768"/>
            <a:ext cx="2613584" cy="1207008"/>
          </a:xfrm>
          <a:prstGeom prst="roundRect">
            <a:avLst>
              <a:gd name="adj" fmla="val 4545"/>
            </a:avLst>
          </a:prstGeom>
          <a:solidFill>
            <a:srgbClr val="F2E9D8"/>
          </a:solidFill>
          <a:ln w="12700">
            <a:solidFill>
              <a:srgbClr val="E4D8C0"/>
            </a:solidFill>
            <a:prstDash val="solid"/>
          </a:ln>
        </p:spPr>
      </p:sp>
      <p:sp>
        <p:nvSpPr>
          <p:cNvPr id="6" name="Text 4"/>
          <p:cNvSpPr/>
          <p:nvPr/>
        </p:nvSpPr>
        <p:spPr>
          <a:xfrm>
            <a:off x="749808" y="1719072"/>
            <a:ext cx="2247824" cy="310896"/>
          </a:xfrm>
          <a:prstGeom prst="rect">
            <a:avLst/>
          </a:prstGeom>
          <a:noFill/>
          <a:ln/>
        </p:spPr>
        <p:txBody>
          <a:bodyPr wrap="square" lIns="0" tIns="0" rIns="0" bIns="0" rtlCol="0" anchor="ctr"/>
          <a:lstStyle/>
          <a:p>
            <a:pPr indent="0" marL="0">
              <a:buNone/>
            </a:pPr>
            <a:r>
              <a:rPr lang="en-US" sz="1300" b="1" dirty="0">
                <a:solidFill>
                  <a:srgbClr val="59201C"/>
                </a:solidFill>
                <a:latin typeface="Cambria" pitchFamily="34" charset="0"/>
                <a:ea typeface="Cambria" pitchFamily="34" charset="-122"/>
                <a:cs typeface="Cambria" pitchFamily="34" charset="-120"/>
              </a:rPr>
              <a:t>Bourbon</a:t>
            </a:r>
            <a:endParaRPr lang="en-US" sz="1300" dirty="0"/>
          </a:p>
        </p:txBody>
      </p:sp>
      <p:sp>
        <p:nvSpPr>
          <p:cNvPr id="7" name="Text 5"/>
          <p:cNvSpPr/>
          <p:nvPr/>
        </p:nvSpPr>
        <p:spPr>
          <a:xfrm>
            <a:off x="749808" y="2066544"/>
            <a:ext cx="2247824" cy="566928"/>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American whiskey, at least 51% corn, aged in new charred oak. Sweet, vanilla, caramel.</a:t>
            </a:r>
            <a:endParaRPr lang="en-US" sz="1000" dirty="0"/>
          </a:p>
        </p:txBody>
      </p:sp>
      <p:sp>
        <p:nvSpPr>
          <p:cNvPr id="8" name="Shape 6"/>
          <p:cNvSpPr/>
          <p:nvPr/>
        </p:nvSpPr>
        <p:spPr>
          <a:xfrm>
            <a:off x="3381680" y="1572768"/>
            <a:ext cx="2613584" cy="1207008"/>
          </a:xfrm>
          <a:prstGeom prst="roundRect">
            <a:avLst>
              <a:gd name="adj" fmla="val 4545"/>
            </a:avLst>
          </a:prstGeom>
          <a:solidFill>
            <a:srgbClr val="F2E9D8"/>
          </a:solidFill>
          <a:ln w="12700">
            <a:solidFill>
              <a:srgbClr val="E4D8C0"/>
            </a:solidFill>
            <a:prstDash val="solid"/>
          </a:ln>
        </p:spPr>
      </p:sp>
      <p:sp>
        <p:nvSpPr>
          <p:cNvPr id="9" name="Text 7"/>
          <p:cNvSpPr/>
          <p:nvPr/>
        </p:nvSpPr>
        <p:spPr>
          <a:xfrm>
            <a:off x="3564560" y="1719072"/>
            <a:ext cx="2247824" cy="310896"/>
          </a:xfrm>
          <a:prstGeom prst="rect">
            <a:avLst/>
          </a:prstGeom>
          <a:noFill/>
          <a:ln/>
        </p:spPr>
        <p:txBody>
          <a:bodyPr wrap="square" lIns="0" tIns="0" rIns="0" bIns="0" rtlCol="0" anchor="ctr"/>
          <a:lstStyle/>
          <a:p>
            <a:pPr indent="0" marL="0">
              <a:buNone/>
            </a:pPr>
            <a:r>
              <a:rPr lang="en-US" sz="1300" b="1" dirty="0">
                <a:solidFill>
                  <a:srgbClr val="59201C"/>
                </a:solidFill>
                <a:latin typeface="Cambria" pitchFamily="34" charset="0"/>
                <a:ea typeface="Cambria" pitchFamily="34" charset="-122"/>
                <a:cs typeface="Cambria" pitchFamily="34" charset="-120"/>
              </a:rPr>
              <a:t>Rye</a:t>
            </a:r>
            <a:endParaRPr lang="en-US" sz="1300" dirty="0"/>
          </a:p>
        </p:txBody>
      </p:sp>
      <p:sp>
        <p:nvSpPr>
          <p:cNvPr id="10" name="Text 8"/>
          <p:cNvSpPr/>
          <p:nvPr/>
        </p:nvSpPr>
        <p:spPr>
          <a:xfrm>
            <a:off x="3564560" y="2066544"/>
            <a:ext cx="2247824" cy="566928"/>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Swaps corn dominance for rye grain. Spicier, drier.</a:t>
            </a:r>
            <a:endParaRPr lang="en-US" sz="1000" dirty="0"/>
          </a:p>
        </p:txBody>
      </p:sp>
      <p:sp>
        <p:nvSpPr>
          <p:cNvPr id="11" name="Shape 9"/>
          <p:cNvSpPr/>
          <p:nvPr/>
        </p:nvSpPr>
        <p:spPr>
          <a:xfrm>
            <a:off x="6196432" y="1572768"/>
            <a:ext cx="2613584" cy="1207008"/>
          </a:xfrm>
          <a:prstGeom prst="roundRect">
            <a:avLst>
              <a:gd name="adj" fmla="val 4545"/>
            </a:avLst>
          </a:prstGeom>
          <a:solidFill>
            <a:srgbClr val="F2E9D8"/>
          </a:solidFill>
          <a:ln w="12700">
            <a:solidFill>
              <a:srgbClr val="E4D8C0"/>
            </a:solidFill>
            <a:prstDash val="solid"/>
          </a:ln>
        </p:spPr>
      </p:sp>
      <p:sp>
        <p:nvSpPr>
          <p:cNvPr id="12" name="Text 10"/>
          <p:cNvSpPr/>
          <p:nvPr/>
        </p:nvSpPr>
        <p:spPr>
          <a:xfrm>
            <a:off x="6379312" y="1719072"/>
            <a:ext cx="2247824" cy="310896"/>
          </a:xfrm>
          <a:prstGeom prst="rect">
            <a:avLst/>
          </a:prstGeom>
          <a:noFill/>
          <a:ln/>
        </p:spPr>
        <p:txBody>
          <a:bodyPr wrap="square" lIns="0" tIns="0" rIns="0" bIns="0" rtlCol="0" anchor="ctr"/>
          <a:lstStyle/>
          <a:p>
            <a:pPr indent="0" marL="0">
              <a:buNone/>
            </a:pPr>
            <a:r>
              <a:rPr lang="en-US" sz="1300" b="1" dirty="0">
                <a:solidFill>
                  <a:srgbClr val="59201C"/>
                </a:solidFill>
                <a:latin typeface="Cambria" pitchFamily="34" charset="0"/>
                <a:ea typeface="Cambria" pitchFamily="34" charset="-122"/>
                <a:cs typeface="Cambria" pitchFamily="34" charset="-120"/>
              </a:rPr>
              <a:t>Tennessee</a:t>
            </a:r>
            <a:endParaRPr lang="en-US" sz="1300" dirty="0"/>
          </a:p>
        </p:txBody>
      </p:sp>
      <p:sp>
        <p:nvSpPr>
          <p:cNvPr id="13" name="Text 11"/>
          <p:cNvSpPr/>
          <p:nvPr/>
        </p:nvSpPr>
        <p:spPr>
          <a:xfrm>
            <a:off x="6379312" y="2066544"/>
            <a:ext cx="2247824" cy="566928"/>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Bourbon's cousin, filtered through charcoal.</a:t>
            </a:r>
            <a:endParaRPr lang="en-US" sz="1000" dirty="0"/>
          </a:p>
        </p:txBody>
      </p:sp>
      <p:sp>
        <p:nvSpPr>
          <p:cNvPr id="14" name="Shape 12"/>
          <p:cNvSpPr/>
          <p:nvPr/>
        </p:nvSpPr>
        <p:spPr>
          <a:xfrm>
            <a:off x="9011183" y="1572768"/>
            <a:ext cx="2613584" cy="1207008"/>
          </a:xfrm>
          <a:prstGeom prst="roundRect">
            <a:avLst>
              <a:gd name="adj" fmla="val 4545"/>
            </a:avLst>
          </a:prstGeom>
          <a:solidFill>
            <a:srgbClr val="F2E9D8"/>
          </a:solidFill>
          <a:ln w="12700">
            <a:solidFill>
              <a:srgbClr val="E4D8C0"/>
            </a:solidFill>
            <a:prstDash val="solid"/>
          </a:ln>
        </p:spPr>
      </p:sp>
      <p:sp>
        <p:nvSpPr>
          <p:cNvPr id="15" name="Text 13"/>
          <p:cNvSpPr/>
          <p:nvPr/>
        </p:nvSpPr>
        <p:spPr>
          <a:xfrm>
            <a:off x="9194063" y="1719072"/>
            <a:ext cx="2247824" cy="310896"/>
          </a:xfrm>
          <a:prstGeom prst="rect">
            <a:avLst/>
          </a:prstGeom>
          <a:noFill/>
          <a:ln/>
        </p:spPr>
        <p:txBody>
          <a:bodyPr wrap="square" lIns="0" tIns="0" rIns="0" bIns="0" rtlCol="0" anchor="ctr"/>
          <a:lstStyle/>
          <a:p>
            <a:pPr indent="0" marL="0">
              <a:buNone/>
            </a:pPr>
            <a:r>
              <a:rPr lang="en-US" sz="1300" b="1" dirty="0">
                <a:solidFill>
                  <a:srgbClr val="59201C"/>
                </a:solidFill>
                <a:latin typeface="Cambria" pitchFamily="34" charset="0"/>
                <a:ea typeface="Cambria" pitchFamily="34" charset="-122"/>
                <a:cs typeface="Cambria" pitchFamily="34" charset="-120"/>
              </a:rPr>
              <a:t>Scotch</a:t>
            </a:r>
            <a:endParaRPr lang="en-US" sz="1300" dirty="0"/>
          </a:p>
        </p:txBody>
      </p:sp>
      <p:sp>
        <p:nvSpPr>
          <p:cNvPr id="16" name="Text 14"/>
          <p:cNvSpPr/>
          <p:nvPr/>
        </p:nvSpPr>
        <p:spPr>
          <a:xfrm>
            <a:off x="9194063" y="2066544"/>
            <a:ext cx="2247824" cy="566928"/>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Malted barley in Scotland. Highland malts run honeyed, Islay malts run smoky and peaty.</a:t>
            </a:r>
            <a:endParaRPr lang="en-US" sz="1000" dirty="0"/>
          </a:p>
        </p:txBody>
      </p:sp>
      <p:sp>
        <p:nvSpPr>
          <p:cNvPr id="17" name="Shape 15"/>
          <p:cNvSpPr/>
          <p:nvPr/>
        </p:nvSpPr>
        <p:spPr>
          <a:xfrm>
            <a:off x="566928" y="2980944"/>
            <a:ext cx="2613584" cy="1207008"/>
          </a:xfrm>
          <a:prstGeom prst="roundRect">
            <a:avLst>
              <a:gd name="adj" fmla="val 4545"/>
            </a:avLst>
          </a:prstGeom>
          <a:solidFill>
            <a:srgbClr val="F2E9D8"/>
          </a:solidFill>
          <a:ln w="12700">
            <a:solidFill>
              <a:srgbClr val="E4D8C0"/>
            </a:solidFill>
            <a:prstDash val="solid"/>
          </a:ln>
        </p:spPr>
      </p:sp>
      <p:sp>
        <p:nvSpPr>
          <p:cNvPr id="18" name="Text 16"/>
          <p:cNvSpPr/>
          <p:nvPr/>
        </p:nvSpPr>
        <p:spPr>
          <a:xfrm>
            <a:off x="749808" y="3127248"/>
            <a:ext cx="2247824" cy="310896"/>
          </a:xfrm>
          <a:prstGeom prst="rect">
            <a:avLst/>
          </a:prstGeom>
          <a:noFill/>
          <a:ln/>
        </p:spPr>
        <p:txBody>
          <a:bodyPr wrap="square" lIns="0" tIns="0" rIns="0" bIns="0" rtlCol="0" anchor="ctr"/>
          <a:lstStyle/>
          <a:p>
            <a:pPr indent="0" marL="0">
              <a:buNone/>
            </a:pPr>
            <a:r>
              <a:rPr lang="en-US" sz="1300" b="1" dirty="0">
                <a:solidFill>
                  <a:srgbClr val="59201C"/>
                </a:solidFill>
                <a:latin typeface="Cambria" pitchFamily="34" charset="0"/>
                <a:ea typeface="Cambria" pitchFamily="34" charset="-122"/>
                <a:cs typeface="Cambria" pitchFamily="34" charset="-120"/>
              </a:rPr>
              <a:t>Irish</a:t>
            </a:r>
            <a:endParaRPr lang="en-US" sz="1300" dirty="0"/>
          </a:p>
        </p:txBody>
      </p:sp>
      <p:sp>
        <p:nvSpPr>
          <p:cNvPr id="19" name="Text 17"/>
          <p:cNvSpPr/>
          <p:nvPr/>
        </p:nvSpPr>
        <p:spPr>
          <a:xfrm>
            <a:off x="749808" y="3474720"/>
            <a:ext cx="2247824" cy="566928"/>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Usually triple-distilled. Lighter, smoother.</a:t>
            </a:r>
            <a:endParaRPr lang="en-US" sz="1000" dirty="0"/>
          </a:p>
        </p:txBody>
      </p:sp>
      <p:sp>
        <p:nvSpPr>
          <p:cNvPr id="20" name="Shape 18"/>
          <p:cNvSpPr/>
          <p:nvPr/>
        </p:nvSpPr>
        <p:spPr>
          <a:xfrm>
            <a:off x="3381680" y="2980944"/>
            <a:ext cx="2613584" cy="1207008"/>
          </a:xfrm>
          <a:prstGeom prst="roundRect">
            <a:avLst>
              <a:gd name="adj" fmla="val 4545"/>
            </a:avLst>
          </a:prstGeom>
          <a:solidFill>
            <a:srgbClr val="F2E9D8"/>
          </a:solidFill>
          <a:ln w="12700">
            <a:solidFill>
              <a:srgbClr val="E4D8C0"/>
            </a:solidFill>
            <a:prstDash val="solid"/>
          </a:ln>
        </p:spPr>
      </p:sp>
      <p:sp>
        <p:nvSpPr>
          <p:cNvPr id="21" name="Text 19"/>
          <p:cNvSpPr/>
          <p:nvPr/>
        </p:nvSpPr>
        <p:spPr>
          <a:xfrm>
            <a:off x="3564560" y="3127248"/>
            <a:ext cx="2247824" cy="310896"/>
          </a:xfrm>
          <a:prstGeom prst="rect">
            <a:avLst/>
          </a:prstGeom>
          <a:noFill/>
          <a:ln/>
        </p:spPr>
        <p:txBody>
          <a:bodyPr wrap="square" lIns="0" tIns="0" rIns="0" bIns="0" rtlCol="0" anchor="ctr"/>
          <a:lstStyle/>
          <a:p>
            <a:pPr indent="0" marL="0">
              <a:buNone/>
            </a:pPr>
            <a:r>
              <a:rPr lang="en-US" sz="1300" b="1" dirty="0">
                <a:solidFill>
                  <a:srgbClr val="59201C"/>
                </a:solidFill>
                <a:latin typeface="Cambria" pitchFamily="34" charset="0"/>
                <a:ea typeface="Cambria" pitchFamily="34" charset="-122"/>
                <a:cs typeface="Cambria" pitchFamily="34" charset="-120"/>
              </a:rPr>
              <a:t>Cognac</a:t>
            </a:r>
            <a:endParaRPr lang="en-US" sz="1300" dirty="0"/>
          </a:p>
        </p:txBody>
      </p:sp>
      <p:sp>
        <p:nvSpPr>
          <p:cNvPr id="22" name="Text 20"/>
          <p:cNvSpPr/>
          <p:nvPr/>
        </p:nvSpPr>
        <p:spPr>
          <a:xfrm>
            <a:off x="3564560" y="3474720"/>
            <a:ext cx="2247824" cy="566928"/>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Distilled wine from one region of France, aged in oak. VS, VSOP, XO mark rising age.</a:t>
            </a:r>
            <a:endParaRPr lang="en-US" sz="1000" dirty="0"/>
          </a:p>
        </p:txBody>
      </p:sp>
      <p:sp>
        <p:nvSpPr>
          <p:cNvPr id="23" name="Shape 21"/>
          <p:cNvSpPr/>
          <p:nvPr/>
        </p:nvSpPr>
        <p:spPr>
          <a:xfrm>
            <a:off x="6196432" y="2980944"/>
            <a:ext cx="2613584" cy="1207008"/>
          </a:xfrm>
          <a:prstGeom prst="roundRect">
            <a:avLst>
              <a:gd name="adj" fmla="val 4545"/>
            </a:avLst>
          </a:prstGeom>
          <a:solidFill>
            <a:srgbClr val="F2E9D8"/>
          </a:solidFill>
          <a:ln w="12700">
            <a:solidFill>
              <a:srgbClr val="E4D8C0"/>
            </a:solidFill>
            <a:prstDash val="solid"/>
          </a:ln>
        </p:spPr>
      </p:sp>
      <p:sp>
        <p:nvSpPr>
          <p:cNvPr id="24" name="Text 22"/>
          <p:cNvSpPr/>
          <p:nvPr/>
        </p:nvSpPr>
        <p:spPr>
          <a:xfrm>
            <a:off x="6379312" y="3127248"/>
            <a:ext cx="2247824" cy="310896"/>
          </a:xfrm>
          <a:prstGeom prst="rect">
            <a:avLst/>
          </a:prstGeom>
          <a:noFill/>
          <a:ln/>
        </p:spPr>
        <p:txBody>
          <a:bodyPr wrap="square" lIns="0" tIns="0" rIns="0" bIns="0" rtlCol="0" anchor="ctr"/>
          <a:lstStyle/>
          <a:p>
            <a:pPr indent="0" marL="0">
              <a:buNone/>
            </a:pPr>
            <a:r>
              <a:rPr lang="en-US" sz="1300" b="1" dirty="0">
                <a:solidFill>
                  <a:srgbClr val="59201C"/>
                </a:solidFill>
                <a:latin typeface="Cambria" pitchFamily="34" charset="0"/>
                <a:ea typeface="Cambria" pitchFamily="34" charset="-122"/>
                <a:cs typeface="Cambria" pitchFamily="34" charset="-120"/>
              </a:rPr>
              <a:t>Tequila</a:t>
            </a:r>
            <a:endParaRPr lang="en-US" sz="1300" dirty="0"/>
          </a:p>
        </p:txBody>
      </p:sp>
      <p:sp>
        <p:nvSpPr>
          <p:cNvPr id="25" name="Text 23"/>
          <p:cNvSpPr/>
          <p:nvPr/>
        </p:nvSpPr>
        <p:spPr>
          <a:xfrm>
            <a:off x="6379312" y="3474720"/>
            <a:ext cx="2247824" cy="566928"/>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Distilled blue agave. Blanco unaged and bright, reposado rests in oak, añejo goes deeper.</a:t>
            </a:r>
            <a:endParaRPr lang="en-US" sz="1000" dirty="0"/>
          </a:p>
        </p:txBody>
      </p:sp>
      <p:sp>
        <p:nvSpPr>
          <p:cNvPr id="26" name="Shape 24"/>
          <p:cNvSpPr/>
          <p:nvPr/>
        </p:nvSpPr>
        <p:spPr>
          <a:xfrm>
            <a:off x="9011183" y="2980944"/>
            <a:ext cx="2613584" cy="1207008"/>
          </a:xfrm>
          <a:prstGeom prst="roundRect">
            <a:avLst>
              <a:gd name="adj" fmla="val 4545"/>
            </a:avLst>
          </a:prstGeom>
          <a:solidFill>
            <a:srgbClr val="F2E9D8"/>
          </a:solidFill>
          <a:ln w="12700">
            <a:solidFill>
              <a:srgbClr val="E4D8C0"/>
            </a:solidFill>
            <a:prstDash val="solid"/>
          </a:ln>
        </p:spPr>
      </p:sp>
      <p:sp>
        <p:nvSpPr>
          <p:cNvPr id="27" name="Text 25"/>
          <p:cNvSpPr/>
          <p:nvPr/>
        </p:nvSpPr>
        <p:spPr>
          <a:xfrm>
            <a:off x="9194063" y="3127248"/>
            <a:ext cx="2247824" cy="310896"/>
          </a:xfrm>
          <a:prstGeom prst="rect">
            <a:avLst/>
          </a:prstGeom>
          <a:noFill/>
          <a:ln/>
        </p:spPr>
        <p:txBody>
          <a:bodyPr wrap="square" lIns="0" tIns="0" rIns="0" bIns="0" rtlCol="0" anchor="ctr"/>
          <a:lstStyle/>
          <a:p>
            <a:pPr indent="0" marL="0">
              <a:buNone/>
            </a:pPr>
            <a:r>
              <a:rPr lang="en-US" sz="1300" b="1" dirty="0">
                <a:solidFill>
                  <a:srgbClr val="59201C"/>
                </a:solidFill>
                <a:latin typeface="Cambria" pitchFamily="34" charset="0"/>
                <a:ea typeface="Cambria" pitchFamily="34" charset="-122"/>
                <a:cs typeface="Cambria" pitchFamily="34" charset="-120"/>
              </a:rPr>
              <a:t>Rum</a:t>
            </a:r>
            <a:endParaRPr lang="en-US" sz="1300" dirty="0"/>
          </a:p>
        </p:txBody>
      </p:sp>
      <p:sp>
        <p:nvSpPr>
          <p:cNvPr id="28" name="Text 26"/>
          <p:cNvSpPr/>
          <p:nvPr/>
        </p:nvSpPr>
        <p:spPr>
          <a:xfrm>
            <a:off x="9194063" y="3474720"/>
            <a:ext cx="2247824" cy="566928"/>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Sugarcane.</a:t>
            </a:r>
            <a:endParaRPr lang="en-US" sz="1000" dirty="0"/>
          </a:p>
        </p:txBody>
      </p:sp>
      <p:sp>
        <p:nvSpPr>
          <p:cNvPr id="29" name="Shape 27"/>
          <p:cNvSpPr/>
          <p:nvPr/>
        </p:nvSpPr>
        <p:spPr>
          <a:xfrm>
            <a:off x="566928" y="4389120"/>
            <a:ext cx="2613584" cy="1207008"/>
          </a:xfrm>
          <a:prstGeom prst="roundRect">
            <a:avLst>
              <a:gd name="adj" fmla="val 4545"/>
            </a:avLst>
          </a:prstGeom>
          <a:solidFill>
            <a:srgbClr val="F2E9D8"/>
          </a:solidFill>
          <a:ln w="12700">
            <a:solidFill>
              <a:srgbClr val="E4D8C0"/>
            </a:solidFill>
            <a:prstDash val="solid"/>
          </a:ln>
        </p:spPr>
      </p:sp>
      <p:sp>
        <p:nvSpPr>
          <p:cNvPr id="30" name="Text 28"/>
          <p:cNvSpPr/>
          <p:nvPr/>
        </p:nvSpPr>
        <p:spPr>
          <a:xfrm>
            <a:off x="749808" y="4535424"/>
            <a:ext cx="2247824" cy="310896"/>
          </a:xfrm>
          <a:prstGeom prst="rect">
            <a:avLst/>
          </a:prstGeom>
          <a:noFill/>
          <a:ln/>
        </p:spPr>
        <p:txBody>
          <a:bodyPr wrap="square" lIns="0" tIns="0" rIns="0" bIns="0" rtlCol="0" anchor="ctr"/>
          <a:lstStyle/>
          <a:p>
            <a:pPr indent="0" marL="0">
              <a:buNone/>
            </a:pPr>
            <a:r>
              <a:rPr lang="en-US" sz="1300" b="1" dirty="0">
                <a:solidFill>
                  <a:srgbClr val="59201C"/>
                </a:solidFill>
                <a:latin typeface="Cambria" pitchFamily="34" charset="0"/>
                <a:ea typeface="Cambria" pitchFamily="34" charset="-122"/>
                <a:cs typeface="Cambria" pitchFamily="34" charset="-120"/>
              </a:rPr>
              <a:t>Vodka</a:t>
            </a:r>
            <a:endParaRPr lang="en-US" sz="1300" dirty="0"/>
          </a:p>
        </p:txBody>
      </p:sp>
      <p:sp>
        <p:nvSpPr>
          <p:cNvPr id="31" name="Text 29"/>
          <p:cNvSpPr/>
          <p:nvPr/>
        </p:nvSpPr>
        <p:spPr>
          <a:xfrm>
            <a:off x="749808" y="4882896"/>
            <a:ext cx="2247824" cy="566928"/>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The neutral spirit — distilled clean on purpose.</a:t>
            </a:r>
            <a:endParaRPr lang="en-US" sz="1000" dirty="0"/>
          </a:p>
        </p:txBody>
      </p:sp>
      <p:sp>
        <p:nvSpPr>
          <p:cNvPr id="32" name="Shape 30"/>
          <p:cNvSpPr/>
          <p:nvPr/>
        </p:nvSpPr>
        <p:spPr>
          <a:xfrm>
            <a:off x="3381680" y="4389120"/>
            <a:ext cx="2613584" cy="1207008"/>
          </a:xfrm>
          <a:prstGeom prst="roundRect">
            <a:avLst>
              <a:gd name="adj" fmla="val 4545"/>
            </a:avLst>
          </a:prstGeom>
          <a:solidFill>
            <a:srgbClr val="F2E9D8"/>
          </a:solidFill>
          <a:ln w="12700">
            <a:solidFill>
              <a:srgbClr val="E4D8C0"/>
            </a:solidFill>
            <a:prstDash val="solid"/>
          </a:ln>
        </p:spPr>
      </p:sp>
      <p:sp>
        <p:nvSpPr>
          <p:cNvPr id="33" name="Text 31"/>
          <p:cNvSpPr/>
          <p:nvPr/>
        </p:nvSpPr>
        <p:spPr>
          <a:xfrm>
            <a:off x="3564560" y="4535424"/>
            <a:ext cx="2247824" cy="310896"/>
          </a:xfrm>
          <a:prstGeom prst="rect">
            <a:avLst/>
          </a:prstGeom>
          <a:noFill/>
          <a:ln/>
        </p:spPr>
        <p:txBody>
          <a:bodyPr wrap="square" lIns="0" tIns="0" rIns="0" bIns="0" rtlCol="0" anchor="ctr"/>
          <a:lstStyle/>
          <a:p>
            <a:pPr indent="0" marL="0">
              <a:buNone/>
            </a:pPr>
            <a:r>
              <a:rPr lang="en-US" sz="1300" b="1" dirty="0">
                <a:solidFill>
                  <a:srgbClr val="59201C"/>
                </a:solidFill>
                <a:latin typeface="Cambria" pitchFamily="34" charset="0"/>
                <a:ea typeface="Cambria" pitchFamily="34" charset="-122"/>
                <a:cs typeface="Cambria" pitchFamily="34" charset="-120"/>
              </a:rPr>
              <a:t>Gin</a:t>
            </a:r>
            <a:endParaRPr lang="en-US" sz="1300" dirty="0"/>
          </a:p>
        </p:txBody>
      </p:sp>
      <p:sp>
        <p:nvSpPr>
          <p:cNvPr id="34" name="Text 32"/>
          <p:cNvSpPr/>
          <p:nvPr/>
        </p:nvSpPr>
        <p:spPr>
          <a:xfrm>
            <a:off x="3564560" y="4882896"/>
            <a:ext cx="2247824" cy="566928"/>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Vodka's cousin sent through botanicals, juniper leading.</a:t>
            </a:r>
            <a:endParaRPr lang="en-US" sz="1000" dirty="0"/>
          </a:p>
        </p:txBody>
      </p:sp>
      <p:sp>
        <p:nvSpPr>
          <p:cNvPr id="35" name="Shape 33"/>
          <p:cNvSpPr/>
          <p:nvPr/>
        </p:nvSpPr>
        <p:spPr>
          <a:xfrm>
            <a:off x="6196432" y="4389120"/>
            <a:ext cx="2613584" cy="1207008"/>
          </a:xfrm>
          <a:prstGeom prst="roundRect">
            <a:avLst>
              <a:gd name="adj" fmla="val 4545"/>
            </a:avLst>
          </a:prstGeom>
          <a:solidFill>
            <a:srgbClr val="F2E9D8"/>
          </a:solidFill>
          <a:ln w="12700">
            <a:solidFill>
              <a:srgbClr val="E4D8C0"/>
            </a:solidFill>
            <a:prstDash val="solid"/>
          </a:ln>
        </p:spPr>
      </p:sp>
      <p:sp>
        <p:nvSpPr>
          <p:cNvPr id="36" name="Text 34"/>
          <p:cNvSpPr/>
          <p:nvPr/>
        </p:nvSpPr>
        <p:spPr>
          <a:xfrm>
            <a:off x="6379312" y="4535424"/>
            <a:ext cx="2247824" cy="310896"/>
          </a:xfrm>
          <a:prstGeom prst="rect">
            <a:avLst/>
          </a:prstGeom>
          <a:noFill/>
          <a:ln/>
        </p:spPr>
        <p:txBody>
          <a:bodyPr wrap="square" lIns="0" tIns="0" rIns="0" bIns="0" rtlCol="0" anchor="ctr"/>
          <a:lstStyle/>
          <a:p>
            <a:pPr indent="0" marL="0">
              <a:buNone/>
            </a:pPr>
            <a:r>
              <a:rPr lang="en-US" sz="1300" b="1" dirty="0">
                <a:solidFill>
                  <a:srgbClr val="59201C"/>
                </a:solidFill>
                <a:latin typeface="Cambria" pitchFamily="34" charset="0"/>
                <a:ea typeface="Cambria" pitchFamily="34" charset="-122"/>
                <a:cs typeface="Cambria" pitchFamily="34" charset="-120"/>
              </a:rPr>
              <a:t>Port</a:t>
            </a:r>
            <a:endParaRPr lang="en-US" sz="1300" dirty="0"/>
          </a:p>
        </p:txBody>
      </p:sp>
      <p:sp>
        <p:nvSpPr>
          <p:cNvPr id="37" name="Text 35"/>
          <p:cNvSpPr/>
          <p:nvPr/>
        </p:nvSpPr>
        <p:spPr>
          <a:xfrm>
            <a:off x="6379312" y="4882896"/>
            <a:ext cx="2247824" cy="566928"/>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Wine fortified with spirit — which is why it drinks like dessert.</a:t>
            </a:r>
            <a:endParaRPr lang="en-US" sz="1000" dirty="0"/>
          </a:p>
        </p:txBody>
      </p:sp>
      <p:sp>
        <p:nvSpPr>
          <p:cNvPr id="38" name="Shape 36"/>
          <p:cNvSpPr/>
          <p:nvPr/>
        </p:nvSpPr>
        <p:spPr>
          <a:xfrm>
            <a:off x="9011183" y="4389120"/>
            <a:ext cx="2613584" cy="1207008"/>
          </a:xfrm>
          <a:prstGeom prst="roundRect">
            <a:avLst>
              <a:gd name="adj" fmla="val 4545"/>
            </a:avLst>
          </a:prstGeom>
          <a:solidFill>
            <a:srgbClr val="F2E9D8"/>
          </a:solidFill>
          <a:ln w="12700">
            <a:solidFill>
              <a:srgbClr val="E4D8C0"/>
            </a:solidFill>
            <a:prstDash val="solid"/>
          </a:ln>
        </p:spPr>
      </p:sp>
      <p:sp>
        <p:nvSpPr>
          <p:cNvPr id="39" name="Text 37"/>
          <p:cNvSpPr/>
          <p:nvPr/>
        </p:nvSpPr>
        <p:spPr>
          <a:xfrm>
            <a:off x="9194063" y="4535424"/>
            <a:ext cx="2247824" cy="310896"/>
          </a:xfrm>
          <a:prstGeom prst="rect">
            <a:avLst/>
          </a:prstGeom>
          <a:noFill/>
          <a:ln/>
        </p:spPr>
        <p:txBody>
          <a:bodyPr wrap="square" lIns="0" tIns="0" rIns="0" bIns="0" rtlCol="0" anchor="ctr"/>
          <a:lstStyle/>
          <a:p>
            <a:pPr indent="0" marL="0">
              <a:buNone/>
            </a:pPr>
            <a:r>
              <a:rPr lang="en-US" sz="1300" b="1" dirty="0">
                <a:solidFill>
                  <a:srgbClr val="59201C"/>
                </a:solidFill>
                <a:latin typeface="Cambria" pitchFamily="34" charset="0"/>
                <a:ea typeface="Cambria" pitchFamily="34" charset="-122"/>
                <a:cs typeface="Cambria" pitchFamily="34" charset="-120"/>
              </a:rPr>
              <a:t>What you ferment</a:t>
            </a:r>
            <a:endParaRPr lang="en-US" sz="1300" dirty="0"/>
          </a:p>
        </p:txBody>
      </p:sp>
      <p:sp>
        <p:nvSpPr>
          <p:cNvPr id="40" name="Text 38"/>
          <p:cNvSpPr/>
          <p:nvPr/>
        </p:nvSpPr>
        <p:spPr>
          <a:xfrm>
            <a:off x="9194063" y="4882896"/>
            <a:ext cx="2247824" cy="566928"/>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and what you age it in makes the family. That is the whole map.</a:t>
            </a:r>
            <a:endParaRPr lang="en-US" sz="1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The whiskey shelf</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How to walk it</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9 — Wine and Spirits</a:t>
            </a:r>
            <a:endParaRPr lang="en-US" sz="950" dirty="0"/>
          </a:p>
        </p:txBody>
      </p:sp>
      <p:sp>
        <p:nvSpPr>
          <p:cNvPr id="5" name="Shape 3"/>
          <p:cNvSpPr/>
          <p:nvPr/>
        </p:nvSpPr>
        <p:spPr>
          <a:xfrm>
            <a:off x="566928" y="1508760"/>
            <a:ext cx="365760" cy="365760"/>
          </a:xfrm>
          <a:prstGeom prst="ellipse">
            <a:avLst/>
          </a:prstGeom>
          <a:solidFill>
            <a:srgbClr val="59201C"/>
          </a:solidFill>
          <a:ln w="12700">
            <a:solidFill>
              <a:srgbClr val="59201C"/>
            </a:solidFill>
            <a:prstDash val="solid"/>
          </a:ln>
        </p:spPr>
      </p:sp>
      <p:sp>
        <p:nvSpPr>
          <p:cNvPr id="6" name="Text 4"/>
          <p:cNvSpPr/>
          <p:nvPr/>
        </p:nvSpPr>
        <p:spPr>
          <a:xfrm>
            <a:off x="566928" y="1508760"/>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7" name="Text 5"/>
          <p:cNvSpPr/>
          <p:nvPr/>
        </p:nvSpPr>
        <p:spPr>
          <a:xfrm>
            <a:off x="1069848" y="1481328"/>
            <a:ext cx="10554919" cy="883310"/>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The everyday wall runs $11 to $25.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Buffalo Trace is the classic house pour.</a:t>
            </a:r>
            <a:endParaRPr lang="en-US" sz="1250" dirty="0"/>
          </a:p>
        </p:txBody>
      </p:sp>
      <p:sp>
        <p:nvSpPr>
          <p:cNvPr id="8" name="Shape 6"/>
          <p:cNvSpPr/>
          <p:nvPr/>
        </p:nvSpPr>
        <p:spPr>
          <a:xfrm>
            <a:off x="566928" y="2446934"/>
            <a:ext cx="365760" cy="365760"/>
          </a:xfrm>
          <a:prstGeom prst="ellipse">
            <a:avLst/>
          </a:prstGeom>
          <a:solidFill>
            <a:srgbClr val="59201C"/>
          </a:solidFill>
          <a:ln w="12700">
            <a:solidFill>
              <a:srgbClr val="59201C"/>
            </a:solidFill>
            <a:prstDash val="solid"/>
          </a:ln>
        </p:spPr>
      </p:sp>
      <p:sp>
        <p:nvSpPr>
          <p:cNvPr id="9" name="Text 7"/>
          <p:cNvSpPr/>
          <p:nvPr/>
        </p:nvSpPr>
        <p:spPr>
          <a:xfrm>
            <a:off x="566928" y="2446934"/>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0" name="Text 8"/>
          <p:cNvSpPr/>
          <p:nvPr/>
        </p:nvSpPr>
        <p:spPr>
          <a:xfrm>
            <a:off x="1069848" y="2419502"/>
            <a:ext cx="10554919" cy="883310"/>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The built-in upsell line: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“Woodford on the rocks is great — have you tried the Double Oaked?”</a:t>
            </a:r>
            <a:endParaRPr lang="en-US" sz="1250" dirty="0"/>
          </a:p>
        </p:txBody>
      </p:sp>
      <p:sp>
        <p:nvSpPr>
          <p:cNvPr id="11" name="Shape 9"/>
          <p:cNvSpPr/>
          <p:nvPr/>
        </p:nvSpPr>
        <p:spPr>
          <a:xfrm>
            <a:off x="566928" y="3385109"/>
            <a:ext cx="365760" cy="365760"/>
          </a:xfrm>
          <a:prstGeom prst="ellipse">
            <a:avLst/>
          </a:prstGeom>
          <a:solidFill>
            <a:srgbClr val="59201C"/>
          </a:solidFill>
          <a:ln w="12700">
            <a:solidFill>
              <a:srgbClr val="59201C"/>
            </a:solidFill>
            <a:prstDash val="solid"/>
          </a:ln>
        </p:spPr>
      </p:sp>
      <p:sp>
        <p:nvSpPr>
          <p:cNvPr id="12" name="Text 10"/>
          <p:cNvSpPr/>
          <p:nvPr/>
        </p:nvSpPr>
        <p:spPr>
          <a:xfrm>
            <a:off x="566928" y="3385109"/>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3" name="Text 11"/>
          <p:cNvSpPr/>
          <p:nvPr/>
        </p:nvSpPr>
        <p:spPr>
          <a:xfrm>
            <a:off x="1069848" y="3357677"/>
            <a:ext cx="10554919" cy="883310"/>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The Bardstown shelf is story bottles.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The West Virginia Great Barrel collab in cherry-oak barrels, the Goose Island stout-barrel finish, and the Prime 47 Blend — a single barrel OUR people tasted in Bardstown, Kentucky and bought exclusively for our restaurants. You are pouring from a barrel our own team chose. There is no better whiskey story in the building.</a:t>
            </a:r>
            <a:endParaRPr lang="en-US" sz="1250" dirty="0"/>
          </a:p>
        </p:txBody>
      </p:sp>
      <p:sp>
        <p:nvSpPr>
          <p:cNvPr id="14" name="Shape 12"/>
          <p:cNvSpPr/>
          <p:nvPr/>
        </p:nvSpPr>
        <p:spPr>
          <a:xfrm>
            <a:off x="566928" y="4323283"/>
            <a:ext cx="365760" cy="365760"/>
          </a:xfrm>
          <a:prstGeom prst="ellipse">
            <a:avLst/>
          </a:prstGeom>
          <a:solidFill>
            <a:srgbClr val="59201C"/>
          </a:solidFill>
          <a:ln w="12700">
            <a:solidFill>
              <a:srgbClr val="59201C"/>
            </a:solidFill>
            <a:prstDash val="solid"/>
          </a:ln>
        </p:spPr>
      </p:sp>
      <p:sp>
        <p:nvSpPr>
          <p:cNvPr id="15" name="Text 13"/>
          <p:cNvSpPr/>
          <p:nvPr/>
        </p:nvSpPr>
        <p:spPr>
          <a:xfrm>
            <a:off x="566928" y="4323283"/>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6" name="Text 14"/>
          <p:cNvSpPr/>
          <p:nvPr/>
        </p:nvSpPr>
        <p:spPr>
          <a:xfrm>
            <a:off x="1069848" y="4295851"/>
            <a:ext cx="10554919" cy="883310"/>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The unicorn shelf is priced per ounce.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Pappy Van Winkle 10 through 15, Macallan 25, and Louis XIII cognac at $250 an ounce — the most expensive pour in the building.</a:t>
            </a:r>
            <a:endParaRPr lang="en-US" sz="1250" dirty="0"/>
          </a:p>
        </p:txBody>
      </p:sp>
      <p:sp>
        <p:nvSpPr>
          <p:cNvPr id="17" name="Shape 15"/>
          <p:cNvSpPr/>
          <p:nvPr/>
        </p:nvSpPr>
        <p:spPr>
          <a:xfrm>
            <a:off x="566928" y="5261458"/>
            <a:ext cx="365760" cy="365760"/>
          </a:xfrm>
          <a:prstGeom prst="ellipse">
            <a:avLst/>
          </a:prstGeom>
          <a:solidFill>
            <a:srgbClr val="59201C"/>
          </a:solidFill>
          <a:ln w="12700">
            <a:solidFill>
              <a:srgbClr val="59201C"/>
            </a:solidFill>
            <a:prstDash val="solid"/>
          </a:ln>
        </p:spPr>
      </p:sp>
      <p:sp>
        <p:nvSpPr>
          <p:cNvPr id="18" name="Text 16"/>
          <p:cNvSpPr/>
          <p:nvPr/>
        </p:nvSpPr>
        <p:spPr>
          <a:xfrm>
            <a:off x="566928" y="5261458"/>
            <a:ext cx="365760" cy="365760"/>
          </a:xfrm>
          <a:prstGeom prst="rect">
            <a:avLst/>
          </a:prstGeom>
          <a:noFill/>
          <a:ln/>
        </p:spPr>
        <p:txBody>
          <a:bodyPr wrap="square" lIns="0" tIns="0" rIns="0" bIns="0" rtlCol="0" anchor="ctr"/>
          <a:lstStyle/>
          <a:p>
            <a:pPr algn="ctr" indent="0" marL="0">
              <a:buNone/>
            </a:pPr>
            <a:r>
              <a:rPr lang="en-US" sz="1250" b="1" dirty="0">
                <a:solidFill>
                  <a:srgbClr val="F7EFE4"/>
                </a:solidFill>
                <a:latin typeface="Cambria" pitchFamily="34" charset="0"/>
                <a:ea typeface="Cambria" pitchFamily="34" charset="-122"/>
                <a:cs typeface="Cambria" pitchFamily="34" charset="-120"/>
              </a:rPr>
              <a:t>•</a:t>
            </a:r>
            <a:endParaRPr lang="en-US" sz="1250" dirty="0"/>
          </a:p>
        </p:txBody>
      </p:sp>
      <p:sp>
        <p:nvSpPr>
          <p:cNvPr id="19" name="Text 17"/>
          <p:cNvSpPr/>
          <p:nvPr/>
        </p:nvSpPr>
        <p:spPr>
          <a:xfrm>
            <a:off x="1069848" y="5234026"/>
            <a:ext cx="10554919" cy="883310"/>
          </a:xfrm>
          <a:prstGeom prst="rect">
            <a:avLst/>
          </a:prstGeom>
          <a:noFill/>
          <a:ln/>
        </p:spPr>
        <p:txBody>
          <a:bodyPr wrap="square" lIns="0" tIns="0" rIns="0" bIns="0" rtlCol="0" anchor="t"/>
          <a:lstStyle/>
          <a:p>
            <a:pPr indent="0" marL="0">
              <a:lnSpc>
                <a:spcPts val="1536"/>
              </a:lnSpc>
              <a:buNone/>
            </a:pPr>
            <a:r>
              <a:rPr lang="en-US" sz="1250" b="1" dirty="0">
                <a:solidFill>
                  <a:srgbClr val="59201C"/>
                </a:solidFill>
                <a:latin typeface="Calibri" pitchFamily="34" charset="0"/>
                <a:ea typeface="Calibri" pitchFamily="34" charset="-122"/>
                <a:cs typeface="Calibri" pitchFamily="34" charset="-120"/>
              </a:rPr>
              <a:t>Scotch runs friendly blends to peat monsters </a:t>
            </a:r>
            <a:endParaRPr lang="en-US" sz="1250" dirty="0"/>
          </a:p>
          <a:p>
            <a:pPr indent="0" marL="0">
              <a:lnSpc>
                <a:spcPts val="1536"/>
              </a:lnSpc>
              <a:buNone/>
            </a:pPr>
            <a:r>
              <a:rPr lang="en-US" sz="1200" dirty="0">
                <a:solidFill>
                  <a:srgbClr val="2B2118"/>
                </a:solidFill>
                <a:latin typeface="Calibri" pitchFamily="34" charset="0"/>
                <a:ea typeface="Calibri" pitchFamily="34" charset="-122"/>
                <a:cs typeface="Calibri" pitchFamily="34" charset="-120"/>
              </a:rPr>
              <a:t>— Lagavulin and Laphroaig. Ports are the dessert-course secret weapon.</a:t>
            </a:r>
            <a:endParaRPr lang="en-US" sz="12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Place the document here</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Day 9 — Wine and Spirits</a:t>
            </a:r>
            <a:endParaRPr lang="en-US" sz="1350" dirty="0"/>
          </a:p>
        </p:txBody>
      </p:sp>
      <p:sp>
        <p:nvSpPr>
          <p:cNvPr id="4" name="Shape 2"/>
          <p:cNvSpPr/>
          <p:nvPr/>
        </p:nvSpPr>
        <p:spPr>
          <a:xfrm>
            <a:off x="566928" y="1481328"/>
            <a:ext cx="11057839" cy="3310128"/>
          </a:xfrm>
          <a:prstGeom prst="roundRect">
            <a:avLst>
              <a:gd name="adj" fmla="val 2210"/>
            </a:avLst>
          </a:prstGeom>
          <a:solidFill>
            <a:srgbClr val="FBF3E2"/>
          </a:solidFill>
          <a:ln w="28575">
            <a:solidFill>
              <a:srgbClr val="B0812F"/>
            </a:solidFill>
            <a:prstDash val="dash"/>
          </a:ln>
        </p:spPr>
      </p:sp>
      <p:sp>
        <p:nvSpPr>
          <p:cNvPr id="5" name="Text 3"/>
          <p:cNvSpPr/>
          <p:nvPr/>
        </p:nvSpPr>
        <p:spPr>
          <a:xfrm>
            <a:off x="566928" y="1847088"/>
            <a:ext cx="11057839" cy="329184"/>
          </a:xfrm>
          <a:prstGeom prst="rect">
            <a:avLst/>
          </a:prstGeom>
          <a:noFill/>
          <a:ln/>
        </p:spPr>
        <p:txBody>
          <a:bodyPr wrap="square" lIns="0" tIns="0" rIns="0" bIns="0" rtlCol="0" anchor="ctr"/>
          <a:lstStyle/>
          <a:p>
            <a:pPr algn="ctr" indent="0" marL="0">
              <a:buNone/>
            </a:pPr>
            <a:r>
              <a:rPr lang="en-US" sz="1300" b="1" spc="300" kern="0" dirty="0">
                <a:solidFill>
                  <a:srgbClr val="B0812F"/>
                </a:solidFill>
                <a:latin typeface="Calibri" pitchFamily="34" charset="0"/>
                <a:ea typeface="Calibri" pitchFamily="34" charset="-122"/>
                <a:cs typeface="Calibri" pitchFamily="34" charset="-120"/>
              </a:rPr>
              <a:t>PLACE PICTURE OF</a:t>
            </a:r>
            <a:endParaRPr lang="en-US" sz="1300" dirty="0"/>
          </a:p>
        </p:txBody>
      </p:sp>
      <p:sp>
        <p:nvSpPr>
          <p:cNvPr id="6" name="Text 4"/>
          <p:cNvSpPr/>
          <p:nvPr/>
        </p:nvSpPr>
        <p:spPr>
          <a:xfrm>
            <a:off x="1207008" y="2212848"/>
            <a:ext cx="9777679" cy="1371600"/>
          </a:xfrm>
          <a:prstGeom prst="rect">
            <a:avLst/>
          </a:prstGeom>
          <a:noFill/>
          <a:ln/>
        </p:spPr>
        <p:txBody>
          <a:bodyPr wrap="square" lIns="0" tIns="0" rIns="0" bIns="0" rtlCol="0" anchor="ctr"/>
          <a:lstStyle/>
          <a:p>
            <a:pPr algn="ctr" indent="0" marL="0">
              <a:lnSpc>
                <a:spcPts val="3800"/>
              </a:lnSpc>
              <a:buNone/>
            </a:pPr>
            <a:r>
              <a:rPr lang="en-US" sz="3100" b="1" dirty="0">
                <a:solidFill>
                  <a:srgbClr val="59201C"/>
                </a:solidFill>
                <a:latin typeface="Cambria" pitchFamily="34" charset="0"/>
                <a:ea typeface="Cambria" pitchFamily="34" charset="-122"/>
                <a:cs typeface="Cambria" pitchFamily="34" charset="-120"/>
              </a:rPr>
              <a:t>THE STRAIGHT TEQUILA PAGE FROM TOAST</a:t>
            </a:r>
            <a:endParaRPr lang="en-US" sz="3100" dirty="0"/>
          </a:p>
        </p:txBody>
      </p:sp>
      <p:sp>
        <p:nvSpPr>
          <p:cNvPr id="7" name="Text 5"/>
          <p:cNvSpPr/>
          <p:nvPr/>
        </p:nvSpPr>
        <p:spPr>
          <a:xfrm>
            <a:off x="566928" y="3657600"/>
            <a:ext cx="11057839" cy="329184"/>
          </a:xfrm>
          <a:prstGeom prst="rect">
            <a:avLst/>
          </a:prstGeom>
          <a:noFill/>
          <a:ln/>
        </p:spPr>
        <p:txBody>
          <a:bodyPr wrap="square" lIns="0" tIns="0" rIns="0" bIns="0" rtlCol="0" anchor="ctr"/>
          <a:lstStyle/>
          <a:p>
            <a:pPr algn="ctr" indent="0" marL="0">
              <a:buNone/>
            </a:pPr>
            <a:r>
              <a:rPr lang="en-US" sz="1300" b="1" spc="300" kern="0" dirty="0">
                <a:solidFill>
                  <a:srgbClr val="B0812F"/>
                </a:solidFill>
                <a:latin typeface="Calibri" pitchFamily="34" charset="0"/>
                <a:ea typeface="Calibri" pitchFamily="34" charset="-122"/>
                <a:cs typeface="Calibri" pitchFamily="34" charset="-120"/>
              </a:rPr>
              <a:t>HERE</a:t>
            </a:r>
            <a:endParaRPr lang="en-US" sz="1300" dirty="0"/>
          </a:p>
        </p:txBody>
      </p:sp>
      <p:sp>
        <p:nvSpPr>
          <p:cNvPr id="8" name="Text 6"/>
          <p:cNvSpPr/>
          <p:nvPr/>
        </p:nvSpPr>
        <p:spPr>
          <a:xfrm>
            <a:off x="1481328" y="4041648"/>
            <a:ext cx="9229039" cy="566928"/>
          </a:xfrm>
          <a:prstGeom prst="rect">
            <a:avLst/>
          </a:prstGeom>
          <a:noFill/>
          <a:ln/>
        </p:spPr>
        <p:txBody>
          <a:bodyPr wrap="square" lIns="0" tIns="0" rIns="0" bIns="0" rtlCol="0" anchor="t"/>
          <a:lstStyle/>
          <a:p>
            <a:pPr algn="ctr" indent="0" marL="0">
              <a:lnSpc>
                <a:spcPts val="1600"/>
              </a:lnSpc>
              <a:buNone/>
            </a:pPr>
            <a:r>
              <a:rPr lang="en-US" sz="1200" i="1" dirty="0">
                <a:solidFill>
                  <a:srgbClr val="6B5B4B"/>
                </a:solidFill>
                <a:latin typeface="Calibri" pitchFamily="34" charset="0"/>
                <a:ea typeface="Calibri" pitchFamily="34" charset="-122"/>
                <a:cs typeface="Calibri" pitchFamily="34" charset="-120"/>
              </a:rPr>
              <a:t>Never captured. El Charro and LALO are what we pour into cocktails — the straight shelf is a blank we quote from Toast until this lands.</a:t>
            </a:r>
            <a:endParaRPr lang="en-US" sz="1200" dirty="0"/>
          </a:p>
        </p:txBody>
      </p:sp>
      <p:sp>
        <p:nvSpPr>
          <p:cNvPr id="9" name="Text 7"/>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9 — Wine and Spirits</a:t>
            </a:r>
            <a:endParaRPr lang="en-US" sz="9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The cocktails</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The active summer specialty list</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9 — Wine and Spirits</a:t>
            </a:r>
            <a:endParaRPr lang="en-US" sz="950" dirty="0"/>
          </a:p>
        </p:txBody>
      </p:sp>
      <p:sp>
        <p:nvSpPr>
          <p:cNvPr id="5" name="Shape 3"/>
          <p:cNvSpPr/>
          <p:nvPr/>
        </p:nvSpPr>
        <p:spPr>
          <a:xfrm>
            <a:off x="566928" y="1572768"/>
            <a:ext cx="3551834" cy="1481328"/>
          </a:xfrm>
          <a:prstGeom prst="roundRect">
            <a:avLst>
              <a:gd name="adj" fmla="val 3704"/>
            </a:avLst>
          </a:prstGeom>
          <a:solidFill>
            <a:srgbClr val="F2E9D8"/>
          </a:solidFill>
          <a:ln w="12700">
            <a:solidFill>
              <a:srgbClr val="E4D8C0"/>
            </a:solidFill>
            <a:prstDash val="solid"/>
          </a:ln>
        </p:spPr>
      </p:sp>
      <p:sp>
        <p:nvSpPr>
          <p:cNvPr id="6" name="Text 4"/>
          <p:cNvSpPr/>
          <p:nvPr/>
        </p:nvSpPr>
        <p:spPr>
          <a:xfrm>
            <a:off x="749808" y="1719072"/>
            <a:ext cx="3186074" cy="310896"/>
          </a:xfrm>
          <a:prstGeom prst="rect">
            <a:avLst/>
          </a:prstGeom>
          <a:noFill/>
          <a:ln/>
        </p:spPr>
        <p:txBody>
          <a:bodyPr wrap="square" lIns="0" tIns="0" rIns="0" bIns="0" rtlCol="0" anchor="ctr"/>
          <a:lstStyle/>
          <a:p>
            <a:pPr indent="0" marL="0">
              <a:buNone/>
            </a:pPr>
            <a:r>
              <a:rPr lang="en-US" sz="1300" b="1" dirty="0">
                <a:solidFill>
                  <a:srgbClr val="59201C"/>
                </a:solidFill>
                <a:latin typeface="Cambria" pitchFamily="34" charset="0"/>
                <a:ea typeface="Cambria" pitchFamily="34" charset="-122"/>
                <a:cs typeface="Cambria" pitchFamily="34" charset="-120"/>
              </a:rPr>
              <a:t>Lemon Bay</a:t>
            </a:r>
            <a:endParaRPr lang="en-US" sz="1300" dirty="0"/>
          </a:p>
        </p:txBody>
      </p:sp>
      <p:sp>
        <p:nvSpPr>
          <p:cNvPr id="7" name="Text 5"/>
          <p:cNvSpPr/>
          <p:nvPr/>
        </p:nvSpPr>
        <p:spPr>
          <a:xfrm>
            <a:off x="749808"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$15</a:t>
            </a:r>
            <a:endParaRPr lang="en-US" sz="1100" dirty="0"/>
          </a:p>
        </p:txBody>
      </p:sp>
      <p:sp>
        <p:nvSpPr>
          <p:cNvPr id="8" name="Text 6"/>
          <p:cNvSpPr/>
          <p:nvPr/>
        </p:nvSpPr>
        <p:spPr>
          <a:xfrm>
            <a:off x="749808" y="2286000"/>
            <a:ext cx="3186074" cy="621792"/>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Lemon vodka, herbal liqueur, coupe, basil oil drip. Light, tart, herbal.</a:t>
            </a:r>
            <a:endParaRPr lang="en-US" sz="1000" dirty="0"/>
          </a:p>
        </p:txBody>
      </p:sp>
      <p:sp>
        <p:nvSpPr>
          <p:cNvPr id="9" name="Shape 7"/>
          <p:cNvSpPr/>
          <p:nvPr/>
        </p:nvSpPr>
        <p:spPr>
          <a:xfrm>
            <a:off x="4319930" y="1572768"/>
            <a:ext cx="3551834" cy="1481328"/>
          </a:xfrm>
          <a:prstGeom prst="roundRect">
            <a:avLst>
              <a:gd name="adj" fmla="val 3704"/>
            </a:avLst>
          </a:prstGeom>
          <a:solidFill>
            <a:srgbClr val="F2E9D8"/>
          </a:solidFill>
          <a:ln w="12700">
            <a:solidFill>
              <a:srgbClr val="E4D8C0"/>
            </a:solidFill>
            <a:prstDash val="solid"/>
          </a:ln>
        </p:spPr>
      </p:sp>
      <p:sp>
        <p:nvSpPr>
          <p:cNvPr id="10" name="Text 8"/>
          <p:cNvSpPr/>
          <p:nvPr/>
        </p:nvSpPr>
        <p:spPr>
          <a:xfrm>
            <a:off x="4502810" y="1719072"/>
            <a:ext cx="3186074" cy="310896"/>
          </a:xfrm>
          <a:prstGeom prst="rect">
            <a:avLst/>
          </a:prstGeom>
          <a:noFill/>
          <a:ln/>
        </p:spPr>
        <p:txBody>
          <a:bodyPr wrap="square" lIns="0" tIns="0" rIns="0" bIns="0" rtlCol="0" anchor="ctr"/>
          <a:lstStyle/>
          <a:p>
            <a:pPr indent="0" marL="0">
              <a:buNone/>
            </a:pPr>
            <a:r>
              <a:rPr lang="en-US" sz="1300" b="1" dirty="0">
                <a:solidFill>
                  <a:srgbClr val="59201C"/>
                </a:solidFill>
                <a:latin typeface="Cambria" pitchFamily="34" charset="0"/>
                <a:ea typeface="Cambria" pitchFamily="34" charset="-122"/>
                <a:cs typeface="Cambria" pitchFamily="34" charset="-120"/>
              </a:rPr>
              <a:t>Cactus Flower Mule</a:t>
            </a:r>
            <a:endParaRPr lang="en-US" sz="1300" dirty="0"/>
          </a:p>
        </p:txBody>
      </p:sp>
      <p:sp>
        <p:nvSpPr>
          <p:cNvPr id="11" name="Text 9"/>
          <p:cNvSpPr/>
          <p:nvPr/>
        </p:nvSpPr>
        <p:spPr>
          <a:xfrm>
            <a:off x="4502810"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$13</a:t>
            </a:r>
            <a:endParaRPr lang="en-US" sz="1100" dirty="0"/>
          </a:p>
        </p:txBody>
      </p:sp>
      <p:sp>
        <p:nvSpPr>
          <p:cNvPr id="12" name="Text 10"/>
          <p:cNvSpPr/>
          <p:nvPr/>
        </p:nvSpPr>
        <p:spPr>
          <a:xfrm>
            <a:off x="4502810" y="2286000"/>
            <a:ext cx="3186074" cy="621792"/>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Prickly pear vodka, lime, prickly pear puree, ginger beer, copper mug. Prickly pear can read watermelon, kiwi, strawberry, even bubble gum.</a:t>
            </a:r>
            <a:endParaRPr lang="en-US" sz="1000" dirty="0"/>
          </a:p>
        </p:txBody>
      </p:sp>
      <p:sp>
        <p:nvSpPr>
          <p:cNvPr id="13" name="Shape 11"/>
          <p:cNvSpPr/>
          <p:nvPr/>
        </p:nvSpPr>
        <p:spPr>
          <a:xfrm>
            <a:off x="8072933" y="1572768"/>
            <a:ext cx="3551834" cy="1481328"/>
          </a:xfrm>
          <a:prstGeom prst="roundRect">
            <a:avLst>
              <a:gd name="adj" fmla="val 3704"/>
            </a:avLst>
          </a:prstGeom>
          <a:solidFill>
            <a:srgbClr val="F2E9D8"/>
          </a:solidFill>
          <a:ln w="12700">
            <a:solidFill>
              <a:srgbClr val="E4D8C0"/>
            </a:solidFill>
            <a:prstDash val="solid"/>
          </a:ln>
        </p:spPr>
      </p:sp>
      <p:sp>
        <p:nvSpPr>
          <p:cNvPr id="14" name="Text 12"/>
          <p:cNvSpPr/>
          <p:nvPr/>
        </p:nvSpPr>
        <p:spPr>
          <a:xfrm>
            <a:off x="8255813" y="1719072"/>
            <a:ext cx="3186074" cy="310896"/>
          </a:xfrm>
          <a:prstGeom prst="rect">
            <a:avLst/>
          </a:prstGeom>
          <a:noFill/>
          <a:ln/>
        </p:spPr>
        <p:txBody>
          <a:bodyPr wrap="square" lIns="0" tIns="0" rIns="0" bIns="0" rtlCol="0" anchor="ctr"/>
          <a:lstStyle/>
          <a:p>
            <a:pPr indent="0" marL="0">
              <a:buNone/>
            </a:pPr>
            <a:r>
              <a:rPr lang="en-US" sz="1300" b="1" dirty="0">
                <a:solidFill>
                  <a:srgbClr val="59201C"/>
                </a:solidFill>
                <a:latin typeface="Cambria" pitchFamily="34" charset="0"/>
                <a:ea typeface="Cambria" pitchFamily="34" charset="-122"/>
                <a:cs typeface="Cambria" pitchFamily="34" charset="-120"/>
              </a:rPr>
              <a:t>Ruby &amp; Jade</a:t>
            </a:r>
            <a:endParaRPr lang="en-US" sz="1300" dirty="0"/>
          </a:p>
        </p:txBody>
      </p:sp>
      <p:sp>
        <p:nvSpPr>
          <p:cNvPr id="15" name="Text 13"/>
          <p:cNvSpPr/>
          <p:nvPr/>
        </p:nvSpPr>
        <p:spPr>
          <a:xfrm>
            <a:off x="8255813"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$15</a:t>
            </a:r>
            <a:endParaRPr lang="en-US" sz="1100" dirty="0"/>
          </a:p>
        </p:txBody>
      </p:sp>
      <p:sp>
        <p:nvSpPr>
          <p:cNvPr id="16" name="Text 14"/>
          <p:cNvSpPr/>
          <p:nvPr/>
        </p:nvSpPr>
        <p:spPr>
          <a:xfrm>
            <a:off x="8255813" y="2286000"/>
            <a:ext cx="3186074" cy="621792"/>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Strawberry-kiwi infused LALO Blanco. Candy vibe, bright fruit.</a:t>
            </a:r>
            <a:endParaRPr lang="en-US" sz="1000" dirty="0"/>
          </a:p>
        </p:txBody>
      </p:sp>
      <p:sp>
        <p:nvSpPr>
          <p:cNvPr id="17" name="Shape 15"/>
          <p:cNvSpPr/>
          <p:nvPr/>
        </p:nvSpPr>
        <p:spPr>
          <a:xfrm>
            <a:off x="566928" y="3255264"/>
            <a:ext cx="3551834" cy="1481328"/>
          </a:xfrm>
          <a:prstGeom prst="roundRect">
            <a:avLst>
              <a:gd name="adj" fmla="val 3704"/>
            </a:avLst>
          </a:prstGeom>
          <a:solidFill>
            <a:srgbClr val="F2E9D8"/>
          </a:solidFill>
          <a:ln w="12700">
            <a:solidFill>
              <a:srgbClr val="E4D8C0"/>
            </a:solidFill>
            <a:prstDash val="solid"/>
          </a:ln>
        </p:spPr>
      </p:sp>
      <p:sp>
        <p:nvSpPr>
          <p:cNvPr id="18" name="Text 16"/>
          <p:cNvSpPr/>
          <p:nvPr/>
        </p:nvSpPr>
        <p:spPr>
          <a:xfrm>
            <a:off x="749808" y="3401568"/>
            <a:ext cx="3186074" cy="310896"/>
          </a:xfrm>
          <a:prstGeom prst="rect">
            <a:avLst/>
          </a:prstGeom>
          <a:noFill/>
          <a:ln/>
        </p:spPr>
        <p:txBody>
          <a:bodyPr wrap="square" lIns="0" tIns="0" rIns="0" bIns="0" rtlCol="0" anchor="ctr"/>
          <a:lstStyle/>
          <a:p>
            <a:pPr indent="0" marL="0">
              <a:buNone/>
            </a:pPr>
            <a:r>
              <a:rPr lang="en-US" sz="1300" b="1" dirty="0">
                <a:solidFill>
                  <a:srgbClr val="59201C"/>
                </a:solidFill>
                <a:latin typeface="Cambria" pitchFamily="34" charset="0"/>
                <a:ea typeface="Cambria" pitchFamily="34" charset="-122"/>
                <a:cs typeface="Cambria" pitchFamily="34" charset="-120"/>
              </a:rPr>
              <a:t>Chilean Sea Breeze</a:t>
            </a:r>
            <a:endParaRPr lang="en-US" sz="1300" dirty="0"/>
          </a:p>
        </p:txBody>
      </p:sp>
      <p:sp>
        <p:nvSpPr>
          <p:cNvPr id="19" name="Text 17"/>
          <p:cNvSpPr/>
          <p:nvPr/>
        </p:nvSpPr>
        <p:spPr>
          <a:xfrm>
            <a:off x="749808" y="3712464"/>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$15</a:t>
            </a:r>
            <a:endParaRPr lang="en-US" sz="1100" dirty="0"/>
          </a:p>
        </p:txBody>
      </p:sp>
      <p:sp>
        <p:nvSpPr>
          <p:cNvPr id="20" name="Text 18"/>
          <p:cNvSpPr/>
          <p:nvPr/>
        </p:nvSpPr>
        <p:spPr>
          <a:xfrm>
            <a:off x="749808" y="3968496"/>
            <a:ext cx="3186074" cy="621792"/>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El Charro Reposado, Ancho Reyes chile liqueur, pineapple, sweet and sour. The one for someone who wants to taste the alcohol.</a:t>
            </a:r>
            <a:endParaRPr lang="en-US" sz="1000" dirty="0"/>
          </a:p>
        </p:txBody>
      </p:sp>
      <p:sp>
        <p:nvSpPr>
          <p:cNvPr id="21" name="Shape 19"/>
          <p:cNvSpPr/>
          <p:nvPr/>
        </p:nvSpPr>
        <p:spPr>
          <a:xfrm>
            <a:off x="4319930" y="3255264"/>
            <a:ext cx="3551834" cy="1481328"/>
          </a:xfrm>
          <a:prstGeom prst="roundRect">
            <a:avLst>
              <a:gd name="adj" fmla="val 3704"/>
            </a:avLst>
          </a:prstGeom>
          <a:solidFill>
            <a:srgbClr val="F2E9D8"/>
          </a:solidFill>
          <a:ln w="12700">
            <a:solidFill>
              <a:srgbClr val="E4D8C0"/>
            </a:solidFill>
            <a:prstDash val="solid"/>
          </a:ln>
        </p:spPr>
      </p:sp>
      <p:sp>
        <p:nvSpPr>
          <p:cNvPr id="22" name="Text 20"/>
          <p:cNvSpPr/>
          <p:nvPr/>
        </p:nvSpPr>
        <p:spPr>
          <a:xfrm>
            <a:off x="4502810" y="3401568"/>
            <a:ext cx="3186074" cy="310896"/>
          </a:xfrm>
          <a:prstGeom prst="rect">
            <a:avLst/>
          </a:prstGeom>
          <a:noFill/>
          <a:ln/>
        </p:spPr>
        <p:txBody>
          <a:bodyPr wrap="square" lIns="0" tIns="0" rIns="0" bIns="0" rtlCol="0" anchor="ctr"/>
          <a:lstStyle/>
          <a:p>
            <a:pPr indent="0" marL="0">
              <a:buNone/>
            </a:pPr>
            <a:r>
              <a:rPr lang="en-US" sz="1300" b="1" dirty="0">
                <a:solidFill>
                  <a:srgbClr val="59201C"/>
                </a:solidFill>
                <a:latin typeface="Cambria" pitchFamily="34" charset="0"/>
                <a:ea typeface="Cambria" pitchFamily="34" charset="-122"/>
                <a:cs typeface="Cambria" pitchFamily="34" charset="-120"/>
              </a:rPr>
              <a:t>Pittsburghed Peach</a:t>
            </a:r>
            <a:endParaRPr lang="en-US" sz="1300" dirty="0"/>
          </a:p>
        </p:txBody>
      </p:sp>
      <p:sp>
        <p:nvSpPr>
          <p:cNvPr id="23" name="Text 21"/>
          <p:cNvSpPr/>
          <p:nvPr/>
        </p:nvSpPr>
        <p:spPr>
          <a:xfrm>
            <a:off x="4502810" y="3712464"/>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$17</a:t>
            </a:r>
            <a:endParaRPr lang="en-US" sz="1100" dirty="0"/>
          </a:p>
        </p:txBody>
      </p:sp>
      <p:sp>
        <p:nvSpPr>
          <p:cNvPr id="24" name="Text 22"/>
          <p:cNvSpPr/>
          <p:nvPr/>
        </p:nvSpPr>
        <p:spPr>
          <a:xfrm>
            <a:off x="4502810" y="3968496"/>
            <a:ext cx="3186074" cy="621792"/>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High West Campfire, peach, lemon, orange bitters. Lightly smoky — smokeable for +$3.</a:t>
            </a:r>
            <a:endParaRPr lang="en-US" sz="1000" dirty="0"/>
          </a:p>
        </p:txBody>
      </p:sp>
      <p:sp>
        <p:nvSpPr>
          <p:cNvPr id="25" name="Shape 23"/>
          <p:cNvSpPr/>
          <p:nvPr/>
        </p:nvSpPr>
        <p:spPr>
          <a:xfrm>
            <a:off x="8072933" y="3255264"/>
            <a:ext cx="3551834" cy="1481328"/>
          </a:xfrm>
          <a:prstGeom prst="roundRect">
            <a:avLst>
              <a:gd name="adj" fmla="val 3704"/>
            </a:avLst>
          </a:prstGeom>
          <a:solidFill>
            <a:srgbClr val="F2E9D8"/>
          </a:solidFill>
          <a:ln w="12700">
            <a:solidFill>
              <a:srgbClr val="E4D8C0"/>
            </a:solidFill>
            <a:prstDash val="solid"/>
          </a:ln>
        </p:spPr>
      </p:sp>
      <p:sp>
        <p:nvSpPr>
          <p:cNvPr id="26" name="Text 24"/>
          <p:cNvSpPr/>
          <p:nvPr/>
        </p:nvSpPr>
        <p:spPr>
          <a:xfrm>
            <a:off x="8255813" y="3401568"/>
            <a:ext cx="3186074" cy="310896"/>
          </a:xfrm>
          <a:prstGeom prst="rect">
            <a:avLst/>
          </a:prstGeom>
          <a:noFill/>
          <a:ln/>
        </p:spPr>
        <p:txBody>
          <a:bodyPr wrap="square" lIns="0" tIns="0" rIns="0" bIns="0" rtlCol="0" anchor="ctr"/>
          <a:lstStyle/>
          <a:p>
            <a:pPr indent="0" marL="0">
              <a:buNone/>
            </a:pPr>
            <a:r>
              <a:rPr lang="en-US" sz="1300" b="1" dirty="0">
                <a:solidFill>
                  <a:srgbClr val="59201C"/>
                </a:solidFill>
                <a:latin typeface="Cambria" pitchFamily="34" charset="0"/>
                <a:ea typeface="Cambria" pitchFamily="34" charset="-122"/>
                <a:cs typeface="Cambria" pitchFamily="34" charset="-120"/>
              </a:rPr>
              <a:t>Street Treat Spritz</a:t>
            </a:r>
            <a:endParaRPr lang="en-US" sz="1300" dirty="0"/>
          </a:p>
        </p:txBody>
      </p:sp>
      <p:sp>
        <p:nvSpPr>
          <p:cNvPr id="27" name="Text 25"/>
          <p:cNvSpPr/>
          <p:nvPr/>
        </p:nvSpPr>
        <p:spPr>
          <a:xfrm>
            <a:off x="8255813" y="3712464"/>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$18</a:t>
            </a:r>
            <a:endParaRPr lang="en-US" sz="1100" dirty="0"/>
          </a:p>
        </p:txBody>
      </p:sp>
      <p:sp>
        <p:nvSpPr>
          <p:cNvPr id="28" name="Text 26"/>
          <p:cNvSpPr/>
          <p:nvPr/>
        </p:nvSpPr>
        <p:spPr>
          <a:xfrm>
            <a:off x="8255813" y="3968496"/>
            <a:ext cx="3186074" cy="621792"/>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Watermelon vodka, limoncello, Prosecco, Tajin dust. Bubbly and fresh.</a:t>
            </a:r>
            <a:endParaRPr lang="en-US" sz="1000" dirty="0"/>
          </a:p>
        </p:txBody>
      </p:sp>
      <p:sp>
        <p:nvSpPr>
          <p:cNvPr id="29" name="Shape 27"/>
          <p:cNvSpPr/>
          <p:nvPr/>
        </p:nvSpPr>
        <p:spPr>
          <a:xfrm>
            <a:off x="566928" y="4937760"/>
            <a:ext cx="3551834" cy="1481328"/>
          </a:xfrm>
          <a:prstGeom prst="roundRect">
            <a:avLst>
              <a:gd name="adj" fmla="val 3704"/>
            </a:avLst>
          </a:prstGeom>
          <a:solidFill>
            <a:srgbClr val="F2E9D8"/>
          </a:solidFill>
          <a:ln w="12700">
            <a:solidFill>
              <a:srgbClr val="E4D8C0"/>
            </a:solidFill>
            <a:prstDash val="solid"/>
          </a:ln>
        </p:spPr>
      </p:sp>
      <p:sp>
        <p:nvSpPr>
          <p:cNvPr id="30" name="Text 28"/>
          <p:cNvSpPr/>
          <p:nvPr/>
        </p:nvSpPr>
        <p:spPr>
          <a:xfrm>
            <a:off x="749808" y="5084064"/>
            <a:ext cx="3186074" cy="310896"/>
          </a:xfrm>
          <a:prstGeom prst="rect">
            <a:avLst/>
          </a:prstGeom>
          <a:noFill/>
          <a:ln/>
        </p:spPr>
        <p:txBody>
          <a:bodyPr wrap="square" lIns="0" tIns="0" rIns="0" bIns="0" rtlCol="0" anchor="ctr"/>
          <a:lstStyle/>
          <a:p>
            <a:pPr indent="0" marL="0">
              <a:buNone/>
            </a:pPr>
            <a:r>
              <a:rPr lang="en-US" sz="1300" b="1" dirty="0">
                <a:solidFill>
                  <a:srgbClr val="59201C"/>
                </a:solidFill>
                <a:latin typeface="Cambria" pitchFamily="34" charset="0"/>
                <a:ea typeface="Cambria" pitchFamily="34" charset="-122"/>
                <a:cs typeface="Cambria" pitchFamily="34" charset="-120"/>
              </a:rPr>
              <a:t>Golden Hour</a:t>
            </a:r>
            <a:endParaRPr lang="en-US" sz="1300" dirty="0"/>
          </a:p>
        </p:txBody>
      </p:sp>
      <p:sp>
        <p:nvSpPr>
          <p:cNvPr id="31" name="Text 29"/>
          <p:cNvSpPr/>
          <p:nvPr/>
        </p:nvSpPr>
        <p:spPr>
          <a:xfrm>
            <a:off x="749808" y="5394960"/>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$15</a:t>
            </a:r>
            <a:endParaRPr lang="en-US" sz="1100" dirty="0"/>
          </a:p>
        </p:txBody>
      </p:sp>
      <p:sp>
        <p:nvSpPr>
          <p:cNvPr id="32" name="Text 30"/>
          <p:cNvSpPr/>
          <p:nvPr/>
        </p:nvSpPr>
        <p:spPr>
          <a:xfrm>
            <a:off x="749808" y="5650992"/>
            <a:ext cx="3186074" cy="621792"/>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Bacardi Limon, passionfruit, mango, lemon. Tropical and balanced.</a:t>
            </a:r>
            <a:endParaRPr lang="en-US" sz="1000" dirty="0"/>
          </a:p>
        </p:txBody>
      </p:sp>
      <p:sp>
        <p:nvSpPr>
          <p:cNvPr id="33" name="Shape 31"/>
          <p:cNvSpPr/>
          <p:nvPr/>
        </p:nvSpPr>
        <p:spPr>
          <a:xfrm>
            <a:off x="4319930" y="4937760"/>
            <a:ext cx="3551834" cy="1481328"/>
          </a:xfrm>
          <a:prstGeom prst="roundRect">
            <a:avLst>
              <a:gd name="adj" fmla="val 3704"/>
            </a:avLst>
          </a:prstGeom>
          <a:solidFill>
            <a:srgbClr val="F2E9D8"/>
          </a:solidFill>
          <a:ln w="12700">
            <a:solidFill>
              <a:srgbClr val="E4D8C0"/>
            </a:solidFill>
            <a:prstDash val="solid"/>
          </a:ln>
        </p:spPr>
      </p:sp>
      <p:sp>
        <p:nvSpPr>
          <p:cNvPr id="34" name="Text 32"/>
          <p:cNvSpPr/>
          <p:nvPr/>
        </p:nvSpPr>
        <p:spPr>
          <a:xfrm>
            <a:off x="4502810" y="5084064"/>
            <a:ext cx="3186074" cy="310896"/>
          </a:xfrm>
          <a:prstGeom prst="rect">
            <a:avLst/>
          </a:prstGeom>
          <a:noFill/>
          <a:ln/>
        </p:spPr>
        <p:txBody>
          <a:bodyPr wrap="square" lIns="0" tIns="0" rIns="0" bIns="0" rtlCol="0" anchor="ctr"/>
          <a:lstStyle/>
          <a:p>
            <a:pPr indent="0" marL="0">
              <a:buNone/>
            </a:pPr>
            <a:r>
              <a:rPr lang="en-US" sz="1300" b="1" dirty="0">
                <a:solidFill>
                  <a:srgbClr val="59201C"/>
                </a:solidFill>
                <a:latin typeface="Cambria" pitchFamily="34" charset="0"/>
                <a:ea typeface="Cambria" pitchFamily="34" charset="-122"/>
                <a:cs typeface="Cambria" pitchFamily="34" charset="-120"/>
              </a:rPr>
              <a:t>Sweet &amp; Salty</a:t>
            </a:r>
            <a:endParaRPr lang="en-US" sz="1300" dirty="0"/>
          </a:p>
        </p:txBody>
      </p:sp>
      <p:sp>
        <p:nvSpPr>
          <p:cNvPr id="35" name="Text 33"/>
          <p:cNvSpPr/>
          <p:nvPr/>
        </p:nvSpPr>
        <p:spPr>
          <a:xfrm>
            <a:off x="4502810" y="5394960"/>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$13</a:t>
            </a:r>
            <a:endParaRPr lang="en-US" sz="1100" dirty="0"/>
          </a:p>
        </p:txBody>
      </p:sp>
      <p:sp>
        <p:nvSpPr>
          <p:cNvPr id="36" name="Text 34"/>
          <p:cNvSpPr/>
          <p:nvPr/>
        </p:nvSpPr>
        <p:spPr>
          <a:xfrm>
            <a:off x="4502810" y="5650992"/>
            <a:ext cx="3186074" cy="621792"/>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The Tito's grapefruit draft-style cocktail with the half-salt rim.</a:t>
            </a:r>
            <a:endParaRPr lang="en-US" sz="1000" dirty="0"/>
          </a:p>
        </p:txBody>
      </p:sp>
      <p:sp>
        <p:nvSpPr>
          <p:cNvPr id="37" name="Shape 35"/>
          <p:cNvSpPr/>
          <p:nvPr/>
        </p:nvSpPr>
        <p:spPr>
          <a:xfrm>
            <a:off x="8072933" y="4937760"/>
            <a:ext cx="3551834" cy="1481328"/>
          </a:xfrm>
          <a:prstGeom prst="roundRect">
            <a:avLst>
              <a:gd name="adj" fmla="val 3704"/>
            </a:avLst>
          </a:prstGeom>
          <a:solidFill>
            <a:srgbClr val="F2E9D8"/>
          </a:solidFill>
          <a:ln w="12700">
            <a:solidFill>
              <a:srgbClr val="E4D8C0"/>
            </a:solidFill>
            <a:prstDash val="solid"/>
          </a:ln>
        </p:spPr>
      </p:sp>
      <p:sp>
        <p:nvSpPr>
          <p:cNvPr id="38" name="Text 36"/>
          <p:cNvSpPr/>
          <p:nvPr/>
        </p:nvSpPr>
        <p:spPr>
          <a:xfrm>
            <a:off x="8255813" y="5084064"/>
            <a:ext cx="3186074" cy="310896"/>
          </a:xfrm>
          <a:prstGeom prst="rect">
            <a:avLst/>
          </a:prstGeom>
          <a:noFill/>
          <a:ln/>
        </p:spPr>
        <p:txBody>
          <a:bodyPr wrap="square" lIns="0" tIns="0" rIns="0" bIns="0" rtlCol="0" anchor="ctr"/>
          <a:lstStyle/>
          <a:p>
            <a:pPr indent="0" marL="0">
              <a:buNone/>
            </a:pPr>
            <a:r>
              <a:rPr lang="en-US" sz="1300" b="1" dirty="0">
                <a:solidFill>
                  <a:srgbClr val="59201C"/>
                </a:solidFill>
                <a:latin typeface="Cambria" pitchFamily="34" charset="0"/>
                <a:ea typeface="Cambria" pitchFamily="34" charset="-122"/>
                <a:cs typeface="Cambria" pitchFamily="34" charset="-120"/>
              </a:rPr>
              <a:t>Lychee Icee</a:t>
            </a:r>
            <a:endParaRPr lang="en-US" sz="1300" dirty="0"/>
          </a:p>
        </p:txBody>
      </p:sp>
      <p:sp>
        <p:nvSpPr>
          <p:cNvPr id="39" name="Text 37"/>
          <p:cNvSpPr/>
          <p:nvPr/>
        </p:nvSpPr>
        <p:spPr>
          <a:xfrm>
            <a:off x="8255813" y="5394960"/>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$15</a:t>
            </a:r>
            <a:endParaRPr lang="en-US" sz="1100" dirty="0"/>
          </a:p>
        </p:txBody>
      </p:sp>
      <p:sp>
        <p:nvSpPr>
          <p:cNvPr id="40" name="Text 38"/>
          <p:cNvSpPr/>
          <p:nvPr/>
        </p:nvSpPr>
        <p:spPr>
          <a:xfrm>
            <a:off x="8255813" y="5650992"/>
            <a:ext cx="3186074" cy="621792"/>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Bombay Sapphire, St-Germain, tonic over a frozen lychee-juice rock. The drier, floral one.</a:t>
            </a:r>
            <a:endParaRPr lang="en-US" sz="1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The cocktails</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Mo's signatures, dessert cocktails, and the lanes you memorize</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9 — Wine and Spirits</a:t>
            </a:r>
            <a:endParaRPr lang="en-US" sz="950" dirty="0"/>
          </a:p>
        </p:txBody>
      </p:sp>
      <p:sp>
        <p:nvSpPr>
          <p:cNvPr id="5" name="Text 3"/>
          <p:cNvSpPr/>
          <p:nvPr/>
        </p:nvSpPr>
        <p:spPr>
          <a:xfrm>
            <a:off x="566928" y="1572768"/>
            <a:ext cx="5300320" cy="292608"/>
          </a:xfrm>
          <a:prstGeom prst="rect">
            <a:avLst/>
          </a:prstGeom>
          <a:noFill/>
          <a:ln/>
        </p:spPr>
        <p:txBody>
          <a:bodyPr wrap="square" lIns="0" tIns="0" rIns="0" bIns="0" rtlCol="0" anchor="ctr"/>
          <a:lstStyle/>
          <a:p>
            <a:pPr indent="0" marL="0">
              <a:buNone/>
            </a:pPr>
            <a:r>
              <a:rPr lang="en-US" sz="1500" b="1" dirty="0">
                <a:solidFill>
                  <a:srgbClr val="59201C"/>
                </a:solidFill>
                <a:latin typeface="Cambria" pitchFamily="34" charset="0"/>
                <a:ea typeface="Cambria" pitchFamily="34" charset="-122"/>
                <a:cs typeface="Cambria" pitchFamily="34" charset="-120"/>
              </a:rPr>
              <a:t>Signatures and dessert</a:t>
            </a:r>
            <a:endParaRPr lang="en-US" sz="1500" dirty="0"/>
          </a:p>
        </p:txBody>
      </p:sp>
      <p:sp>
        <p:nvSpPr>
          <p:cNvPr id="6" name="Text 4"/>
          <p:cNvSpPr/>
          <p:nvPr/>
        </p:nvSpPr>
        <p:spPr>
          <a:xfrm>
            <a:off x="566928" y="1956816"/>
            <a:ext cx="5300320" cy="4169664"/>
          </a:xfrm>
          <a:prstGeom prst="rect">
            <a:avLst/>
          </a:prstGeom>
          <a:noFill/>
          <a:ln/>
        </p:spPr>
        <p:txBody>
          <a:bodyPr wrap="square" lIns="0" tIns="0" rIns="0" bIns="0" rtlCol="0" anchor="t"/>
          <a:lstStyle/>
          <a:p>
            <a:pPr marL="177800" indent="-177800">
              <a:lnSpc>
                <a:spcPts val="1495"/>
              </a:lnSpc>
              <a:spcAft>
                <a:spcPts val="600"/>
              </a:spcAft>
              <a:buSzPct val="100000"/>
              <a:buChar char="•"/>
            </a:pPr>
            <a:r>
              <a:rPr lang="en-US" sz="1150" dirty="0">
                <a:solidFill>
                  <a:srgbClr val="2B2118"/>
                </a:solidFill>
                <a:latin typeface="Calibri" pitchFamily="34" charset="0"/>
                <a:ea typeface="Calibri" pitchFamily="34" charset="-122"/>
                <a:cs typeface="Calibri" pitchFamily="34" charset="-120"/>
              </a:rPr>
              <a:t>Mo's Signature Old Fashioned $16 — Knob Creek, muddled cherry and orange.</a:t>
            </a:r>
            <a:endParaRPr lang="en-US" sz="1150" dirty="0"/>
          </a:p>
          <a:p>
            <a:pPr marL="177800" indent="-177800">
              <a:lnSpc>
                <a:spcPts val="1495"/>
              </a:lnSpc>
              <a:spcAft>
                <a:spcPts val="600"/>
              </a:spcAft>
              <a:buSzPct val="100000"/>
              <a:buChar char="•"/>
            </a:pPr>
            <a:r>
              <a:rPr lang="en-US" sz="1150" dirty="0">
                <a:solidFill>
                  <a:srgbClr val="2B2118"/>
                </a:solidFill>
                <a:latin typeface="Calibri" pitchFamily="34" charset="0"/>
                <a:ea typeface="Calibri" pitchFamily="34" charset="-122"/>
                <a:cs typeface="Calibri" pitchFamily="34" charset="-120"/>
              </a:rPr>
              <a:t>Smoked Draft Old Fashioned $17 — Buffalo Trace, vanilla, bitters, smoked water on draft. Our one tap line, and the +$3 smoke show.</a:t>
            </a:r>
            <a:endParaRPr lang="en-US" sz="1150" dirty="0"/>
          </a:p>
          <a:p>
            <a:pPr marL="177800" indent="-177800">
              <a:lnSpc>
                <a:spcPts val="1495"/>
              </a:lnSpc>
              <a:spcAft>
                <a:spcPts val="600"/>
              </a:spcAft>
              <a:buSzPct val="100000"/>
              <a:buChar char="•"/>
            </a:pPr>
            <a:r>
              <a:rPr lang="en-US" sz="1150" dirty="0">
                <a:solidFill>
                  <a:srgbClr val="2B2118"/>
                </a:solidFill>
                <a:latin typeface="Calibri" pitchFamily="34" charset="0"/>
                <a:ea typeface="Calibri" pitchFamily="34" charset="-122"/>
                <a:cs typeface="Calibri" pitchFamily="34" charset="-120"/>
              </a:rPr>
              <a:t>Mo's Manifest Manhattan $21 — Angel's Envy Rye, Luxardo cherries.</a:t>
            </a:r>
            <a:endParaRPr lang="en-US" sz="1150" dirty="0"/>
          </a:p>
          <a:p>
            <a:pPr marL="177800" indent="-177800">
              <a:lnSpc>
                <a:spcPts val="1495"/>
              </a:lnSpc>
              <a:spcAft>
                <a:spcPts val="600"/>
              </a:spcAft>
              <a:buSzPct val="100000"/>
              <a:buChar char="•"/>
            </a:pPr>
            <a:r>
              <a:rPr lang="en-US" sz="1150" dirty="0">
                <a:solidFill>
                  <a:srgbClr val="2B2118"/>
                </a:solidFill>
                <a:latin typeface="Calibri" pitchFamily="34" charset="0"/>
                <a:ea typeface="Calibri" pitchFamily="34" charset="-122"/>
                <a:cs typeface="Calibri" pitchFamily="34" charset="-120"/>
              </a:rPr>
              <a:t>HMFIC $40 — Basil Hayden Rye, Peychaud's, absinthe rinse. A smoked tableside Sazerac and the most expensive cocktail on the list.</a:t>
            </a:r>
            <a:endParaRPr lang="en-US" sz="1150" dirty="0"/>
          </a:p>
          <a:p>
            <a:pPr marL="177800" indent="-177800">
              <a:lnSpc>
                <a:spcPts val="1495"/>
              </a:lnSpc>
              <a:spcAft>
                <a:spcPts val="600"/>
              </a:spcAft>
              <a:buSzPct val="100000"/>
              <a:buChar char="•"/>
            </a:pPr>
            <a:r>
              <a:rPr lang="en-US" sz="1150" dirty="0">
                <a:solidFill>
                  <a:srgbClr val="2B2118"/>
                </a:solidFill>
                <a:latin typeface="Calibri" pitchFamily="34" charset="0"/>
                <a:ea typeface="Calibri" pitchFamily="34" charset="-122"/>
                <a:cs typeface="Calibri" pitchFamily="34" charset="-120"/>
              </a:rPr>
              <a:t>Coco Caramel Carajillo $20 · Esso Affo $18 — poured tableside by the FRONT server · Espresso Martini $17.</a:t>
            </a:r>
            <a:endParaRPr lang="en-US" sz="1150" dirty="0"/>
          </a:p>
        </p:txBody>
      </p:sp>
      <p:sp>
        <p:nvSpPr>
          <p:cNvPr id="7" name="Text 5"/>
          <p:cNvSpPr/>
          <p:nvPr/>
        </p:nvSpPr>
        <p:spPr>
          <a:xfrm>
            <a:off x="6324448" y="1572768"/>
            <a:ext cx="5300320" cy="292608"/>
          </a:xfrm>
          <a:prstGeom prst="rect">
            <a:avLst/>
          </a:prstGeom>
          <a:noFill/>
          <a:ln/>
        </p:spPr>
        <p:txBody>
          <a:bodyPr wrap="square" lIns="0" tIns="0" rIns="0" bIns="0" rtlCol="0" anchor="ctr"/>
          <a:lstStyle/>
          <a:p>
            <a:pPr indent="0" marL="0">
              <a:buNone/>
            </a:pPr>
            <a:r>
              <a:rPr lang="en-US" sz="1500" b="1" dirty="0">
                <a:solidFill>
                  <a:srgbClr val="59201C"/>
                </a:solidFill>
                <a:latin typeface="Cambria" pitchFamily="34" charset="0"/>
                <a:ea typeface="Cambria" pitchFamily="34" charset="-122"/>
                <a:cs typeface="Cambria" pitchFamily="34" charset="-120"/>
              </a:rPr>
              <a:t>The recommendation lanes</a:t>
            </a:r>
            <a:endParaRPr lang="en-US" sz="1500" dirty="0"/>
          </a:p>
        </p:txBody>
      </p:sp>
      <p:sp>
        <p:nvSpPr>
          <p:cNvPr id="8" name="Text 6"/>
          <p:cNvSpPr/>
          <p:nvPr/>
        </p:nvSpPr>
        <p:spPr>
          <a:xfrm>
            <a:off x="6324448" y="1956816"/>
            <a:ext cx="5300320" cy="4169664"/>
          </a:xfrm>
          <a:prstGeom prst="rect">
            <a:avLst/>
          </a:prstGeom>
          <a:noFill/>
          <a:ln/>
        </p:spPr>
        <p:txBody>
          <a:bodyPr wrap="square" lIns="0" tIns="0" rIns="0" bIns="0" rtlCol="0" anchor="t"/>
          <a:lstStyle/>
          <a:p>
            <a:pPr marL="177800" indent="-177800">
              <a:lnSpc>
                <a:spcPts val="1495"/>
              </a:lnSpc>
              <a:spcAft>
                <a:spcPts val="600"/>
              </a:spcAft>
              <a:buSzPct val="100000"/>
              <a:buChar char="•"/>
            </a:pPr>
            <a:r>
              <a:rPr lang="en-US" sz="1150" dirty="0">
                <a:solidFill>
                  <a:srgbClr val="2B2118"/>
                </a:solidFill>
                <a:latin typeface="Calibri" pitchFamily="34" charset="0"/>
                <a:ea typeface="Calibri" pitchFamily="34" charset="-122"/>
                <a:cs typeface="Calibri" pitchFamily="34" charset="-120"/>
              </a:rPr>
              <a:t>Light and refreshing — Cactus Flower Mule, Lychee Icee, Lemon Bay.</a:t>
            </a:r>
            <a:endParaRPr lang="en-US" sz="1150" dirty="0"/>
          </a:p>
          <a:p>
            <a:pPr marL="177800" indent="-177800">
              <a:lnSpc>
                <a:spcPts val="1495"/>
              </a:lnSpc>
              <a:spcAft>
                <a:spcPts val="600"/>
              </a:spcAft>
              <a:buSzPct val="100000"/>
              <a:buChar char="•"/>
            </a:pPr>
            <a:r>
              <a:rPr lang="en-US" sz="1150" dirty="0">
                <a:solidFill>
                  <a:srgbClr val="2B2118"/>
                </a:solidFill>
                <a:latin typeface="Calibri" pitchFamily="34" charset="0"/>
                <a:ea typeface="Calibri" pitchFamily="34" charset="-122"/>
                <a:cs typeface="Calibri" pitchFamily="34" charset="-120"/>
              </a:rPr>
              <a:t>Sweet and fruity — Ruby &amp; Jade, Golden Hour, Street Treat.</a:t>
            </a:r>
            <a:endParaRPr lang="en-US" sz="1150" dirty="0"/>
          </a:p>
          <a:p>
            <a:pPr marL="177800" indent="-177800">
              <a:lnSpc>
                <a:spcPts val="1495"/>
              </a:lnSpc>
              <a:spcAft>
                <a:spcPts val="600"/>
              </a:spcAft>
              <a:buSzPct val="100000"/>
              <a:buChar char="•"/>
            </a:pPr>
            <a:r>
              <a:rPr lang="en-US" sz="1150" dirty="0">
                <a:solidFill>
                  <a:srgbClr val="2B2118"/>
                </a:solidFill>
                <a:latin typeface="Calibri" pitchFamily="34" charset="0"/>
                <a:ea typeface="Calibri" pitchFamily="34" charset="-122"/>
                <a:cs typeface="Calibri" pitchFamily="34" charset="-120"/>
              </a:rPr>
              <a:t>Spicy tequila — Chilean Sea Breeze.</a:t>
            </a:r>
            <a:endParaRPr lang="en-US" sz="1150" dirty="0"/>
          </a:p>
          <a:p>
            <a:pPr marL="177800" indent="-177800">
              <a:lnSpc>
                <a:spcPts val="1495"/>
              </a:lnSpc>
              <a:spcAft>
                <a:spcPts val="600"/>
              </a:spcAft>
              <a:buSzPct val="100000"/>
              <a:buChar char="•"/>
            </a:pPr>
            <a:r>
              <a:rPr lang="en-US" sz="1150" dirty="0">
                <a:solidFill>
                  <a:srgbClr val="2B2118"/>
                </a:solidFill>
                <a:latin typeface="Calibri" pitchFamily="34" charset="0"/>
                <a:ea typeface="Calibri" pitchFamily="34" charset="-122"/>
                <a:cs typeface="Calibri" pitchFamily="34" charset="-120"/>
              </a:rPr>
              <a:t>Whiskey but approachable — Pittsburghed Peach. Drier — Lychee Icee.</a:t>
            </a:r>
            <a:endParaRPr lang="en-US" sz="1150" dirty="0"/>
          </a:p>
          <a:p>
            <a:pPr marL="177800" indent="-177800">
              <a:lnSpc>
                <a:spcPts val="1495"/>
              </a:lnSpc>
              <a:spcAft>
                <a:spcPts val="600"/>
              </a:spcAft>
              <a:buSzPct val="100000"/>
              <a:buChar char="•"/>
            </a:pPr>
            <a:r>
              <a:rPr lang="en-US" sz="1150" dirty="0">
                <a:solidFill>
                  <a:srgbClr val="2B2118"/>
                </a:solidFill>
                <a:latin typeface="Calibri" pitchFamily="34" charset="0"/>
                <a:ea typeface="Calibri" pitchFamily="34" charset="-122"/>
                <a:cs typeface="Calibri" pitchFamily="34" charset="-120"/>
              </a:rPr>
              <a:t>Classic steakhouse — the Old Fashioneds and the Manhattan.</a:t>
            </a:r>
            <a:endParaRPr lang="en-US" sz="1150" dirty="0"/>
          </a:p>
          <a:p>
            <a:pPr marL="177800" indent="-177800">
              <a:lnSpc>
                <a:spcPts val="1495"/>
              </a:lnSpc>
              <a:spcAft>
                <a:spcPts val="600"/>
              </a:spcAft>
              <a:buSzPct val="100000"/>
              <a:buChar char="•"/>
            </a:pPr>
            <a:r>
              <a:rPr lang="en-US" sz="1150" dirty="0">
                <a:solidFill>
                  <a:srgbClr val="2B2118"/>
                </a:solidFill>
                <a:latin typeface="Calibri" pitchFamily="34" charset="0"/>
                <a:ea typeface="Calibri" pitchFamily="34" charset="-122"/>
                <a:cs typeface="Calibri" pitchFamily="34" charset="-120"/>
              </a:rPr>
              <a:t>Dessert — Carajillo or Esso Affo. No alcohol — Make-A-Mocktail or Bud Zero.</a:t>
            </a:r>
            <a:endParaRPr lang="en-US" sz="1150" dirty="0"/>
          </a:p>
        </p:txBody>
      </p:sp>
      <p:sp>
        <p:nvSpPr>
          <p:cNvPr id="9" name="Shape 7"/>
          <p:cNvSpPr/>
          <p:nvPr/>
        </p:nvSpPr>
        <p:spPr>
          <a:xfrm>
            <a:off x="566928" y="5138928"/>
            <a:ext cx="11057839" cy="749808"/>
          </a:xfrm>
          <a:prstGeom prst="roundRect">
            <a:avLst>
              <a:gd name="adj" fmla="val 7317"/>
            </a:avLst>
          </a:prstGeom>
          <a:solidFill>
            <a:srgbClr val="F3E7E4"/>
          </a:solidFill>
          <a:ln w="12700">
            <a:solidFill>
              <a:srgbClr val="E2CCC7"/>
            </a:solidFill>
            <a:prstDash val="solid"/>
          </a:ln>
        </p:spPr>
      </p:sp>
      <p:sp>
        <p:nvSpPr>
          <p:cNvPr id="10" name="Text 8"/>
          <p:cNvSpPr/>
          <p:nvPr/>
        </p:nvSpPr>
        <p:spPr>
          <a:xfrm>
            <a:off x="768096" y="5212080"/>
            <a:ext cx="10655503" cy="603504"/>
          </a:xfrm>
          <a:prstGeom prst="rect">
            <a:avLst/>
          </a:prstGeom>
          <a:noFill/>
          <a:ln/>
        </p:spPr>
        <p:txBody>
          <a:bodyPr wrap="square" lIns="0" tIns="0" rIns="0" bIns="0" rtlCol="0" anchor="ctr"/>
          <a:lstStyle/>
          <a:p>
            <a:pPr indent="0" marL="0">
              <a:lnSpc>
                <a:spcPts val="1600"/>
              </a:lnSpc>
              <a:buNone/>
            </a:pPr>
            <a:r>
              <a:rPr lang="en-US" sz="1250" b="1" dirty="0">
                <a:solidFill>
                  <a:srgbClr val="59201C"/>
                </a:solidFill>
                <a:latin typeface="Calibri" pitchFamily="34" charset="0"/>
                <a:ea typeface="Calibri" pitchFamily="34" charset="-122"/>
                <a:cs typeface="Calibri" pitchFamily="34" charset="-120"/>
              </a:rPr>
              <a:t>Bartenders get the recipe list.  </a:t>
            </a:r>
            <a:pPr indent="0" marL="0">
              <a:lnSpc>
                <a:spcPts val="1600"/>
              </a:lnSpc>
              <a:buNone/>
            </a:pPr>
            <a:r>
              <a:rPr lang="en-US" sz="1250" dirty="0">
                <a:solidFill>
                  <a:srgbClr val="2B2118"/>
                </a:solidFill>
                <a:latin typeface="Calibri" pitchFamily="34" charset="0"/>
                <a:ea typeface="Calibri" pitchFamily="34" charset="-122"/>
                <a:cs typeface="Calibri" pitchFamily="34" charset="-120"/>
              </a:rPr>
              <a:t>It lives in the app's Drinks tab, builds and garnishes included, exactly as the itinerary wanted. Retired drinks are never promised without asking the bar first.</a:t>
            </a:r>
            <a:endParaRPr lang="en-US" sz="12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Origins of wine</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Four ideas, and everything else follows</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9 — Wine and Spirits</a:t>
            </a:r>
            <a:endParaRPr lang="en-US" sz="950" dirty="0"/>
          </a:p>
        </p:txBody>
      </p:sp>
      <p:sp>
        <p:nvSpPr>
          <p:cNvPr id="5" name="Shape 3"/>
          <p:cNvSpPr/>
          <p:nvPr/>
        </p:nvSpPr>
        <p:spPr>
          <a:xfrm>
            <a:off x="566928" y="1572768"/>
            <a:ext cx="2613584" cy="2194560"/>
          </a:xfrm>
          <a:prstGeom prst="roundRect">
            <a:avLst>
              <a:gd name="adj" fmla="val 2500"/>
            </a:avLst>
          </a:prstGeom>
          <a:solidFill>
            <a:srgbClr val="F2E9D8"/>
          </a:solidFill>
          <a:ln w="12700">
            <a:solidFill>
              <a:srgbClr val="E4D8C0"/>
            </a:solidFill>
            <a:prstDash val="solid"/>
          </a:ln>
        </p:spPr>
      </p:sp>
      <p:sp>
        <p:nvSpPr>
          <p:cNvPr id="6" name="Text 4"/>
          <p:cNvSpPr/>
          <p:nvPr/>
        </p:nvSpPr>
        <p:spPr>
          <a:xfrm>
            <a:off x="749808" y="1719072"/>
            <a:ext cx="224782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Tannin</a:t>
            </a:r>
            <a:endParaRPr lang="en-US" sz="1450" dirty="0"/>
          </a:p>
        </p:txBody>
      </p:sp>
      <p:sp>
        <p:nvSpPr>
          <p:cNvPr id="7" name="Text 5"/>
          <p:cNvSpPr/>
          <p:nvPr/>
        </p:nvSpPr>
        <p:spPr>
          <a:xfrm>
            <a:off x="749808" y="2029968"/>
            <a:ext cx="224782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structure</a:t>
            </a:r>
            <a:endParaRPr lang="en-US" sz="1100" dirty="0"/>
          </a:p>
        </p:txBody>
      </p:sp>
      <p:sp>
        <p:nvSpPr>
          <p:cNvPr id="8" name="Text 6"/>
          <p:cNvSpPr/>
          <p:nvPr/>
        </p:nvSpPr>
        <p:spPr>
          <a:xfrm>
            <a:off x="749808" y="2286000"/>
            <a:ext cx="2247824" cy="133502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The dry, grippy feeling on your gums from grape skins and oak. It is why a big Cabernet loves a marbled ribeye — the tannin scrubs the fat and resets your mouth.</a:t>
            </a:r>
            <a:endParaRPr lang="en-US" sz="1100" dirty="0"/>
          </a:p>
        </p:txBody>
      </p:sp>
      <p:sp>
        <p:nvSpPr>
          <p:cNvPr id="9" name="Shape 7"/>
          <p:cNvSpPr/>
          <p:nvPr/>
        </p:nvSpPr>
        <p:spPr>
          <a:xfrm>
            <a:off x="3381680" y="1572768"/>
            <a:ext cx="2613584" cy="2194560"/>
          </a:xfrm>
          <a:prstGeom prst="roundRect">
            <a:avLst>
              <a:gd name="adj" fmla="val 2500"/>
            </a:avLst>
          </a:prstGeom>
          <a:solidFill>
            <a:srgbClr val="F2E9D8"/>
          </a:solidFill>
          <a:ln w="12700">
            <a:solidFill>
              <a:srgbClr val="E4D8C0"/>
            </a:solidFill>
            <a:prstDash val="solid"/>
          </a:ln>
        </p:spPr>
      </p:sp>
      <p:sp>
        <p:nvSpPr>
          <p:cNvPr id="10" name="Text 8"/>
          <p:cNvSpPr/>
          <p:nvPr/>
        </p:nvSpPr>
        <p:spPr>
          <a:xfrm>
            <a:off x="3564560" y="1719072"/>
            <a:ext cx="224782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Body</a:t>
            </a:r>
            <a:endParaRPr lang="en-US" sz="1450" dirty="0"/>
          </a:p>
        </p:txBody>
      </p:sp>
      <p:sp>
        <p:nvSpPr>
          <p:cNvPr id="11" name="Text 9"/>
          <p:cNvSpPr/>
          <p:nvPr/>
        </p:nvSpPr>
        <p:spPr>
          <a:xfrm>
            <a:off x="3564560" y="2029968"/>
            <a:ext cx="224782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weight</a:t>
            </a:r>
            <a:endParaRPr lang="en-US" sz="1100" dirty="0"/>
          </a:p>
        </p:txBody>
      </p:sp>
      <p:sp>
        <p:nvSpPr>
          <p:cNvPr id="12" name="Text 10"/>
          <p:cNvSpPr/>
          <p:nvPr/>
        </p:nvSpPr>
        <p:spPr>
          <a:xfrm>
            <a:off x="3564560" y="2286000"/>
            <a:ext cx="2247824" cy="133502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Weight on the tongue: skim milk to whole milk to cream. Light, medium, full.</a:t>
            </a:r>
            <a:endParaRPr lang="en-US" sz="1100" dirty="0"/>
          </a:p>
        </p:txBody>
      </p:sp>
      <p:sp>
        <p:nvSpPr>
          <p:cNvPr id="13" name="Shape 11"/>
          <p:cNvSpPr/>
          <p:nvPr/>
        </p:nvSpPr>
        <p:spPr>
          <a:xfrm>
            <a:off x="6196432" y="1572768"/>
            <a:ext cx="2613584" cy="2194560"/>
          </a:xfrm>
          <a:prstGeom prst="roundRect">
            <a:avLst>
              <a:gd name="adj" fmla="val 2500"/>
            </a:avLst>
          </a:prstGeom>
          <a:solidFill>
            <a:srgbClr val="F2E9D8"/>
          </a:solidFill>
          <a:ln w="12700">
            <a:solidFill>
              <a:srgbClr val="E4D8C0"/>
            </a:solidFill>
            <a:prstDash val="solid"/>
          </a:ln>
        </p:spPr>
      </p:sp>
      <p:sp>
        <p:nvSpPr>
          <p:cNvPr id="14" name="Text 12"/>
          <p:cNvSpPr/>
          <p:nvPr/>
        </p:nvSpPr>
        <p:spPr>
          <a:xfrm>
            <a:off x="6379312" y="1719072"/>
            <a:ext cx="224782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Acid</a:t>
            </a:r>
            <a:endParaRPr lang="en-US" sz="1450" dirty="0"/>
          </a:p>
        </p:txBody>
      </p:sp>
      <p:sp>
        <p:nvSpPr>
          <p:cNvPr id="15" name="Text 13"/>
          <p:cNvSpPr/>
          <p:nvPr/>
        </p:nvSpPr>
        <p:spPr>
          <a:xfrm>
            <a:off x="6379312" y="2029968"/>
            <a:ext cx="224782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brightness</a:t>
            </a:r>
            <a:endParaRPr lang="en-US" sz="1100" dirty="0"/>
          </a:p>
        </p:txBody>
      </p:sp>
      <p:sp>
        <p:nvSpPr>
          <p:cNvPr id="16" name="Text 14"/>
          <p:cNvSpPr/>
          <p:nvPr/>
        </p:nvSpPr>
        <p:spPr>
          <a:xfrm>
            <a:off x="6379312" y="2286000"/>
            <a:ext cx="2247824" cy="133502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What makes your mouth water and keeps food alive. High-acid wines are the food wines.</a:t>
            </a:r>
            <a:endParaRPr lang="en-US" sz="1100" dirty="0"/>
          </a:p>
        </p:txBody>
      </p:sp>
      <p:sp>
        <p:nvSpPr>
          <p:cNvPr id="17" name="Shape 15"/>
          <p:cNvSpPr/>
          <p:nvPr/>
        </p:nvSpPr>
        <p:spPr>
          <a:xfrm>
            <a:off x="9011183" y="1572768"/>
            <a:ext cx="2613584" cy="2194560"/>
          </a:xfrm>
          <a:prstGeom prst="roundRect">
            <a:avLst>
              <a:gd name="adj" fmla="val 2500"/>
            </a:avLst>
          </a:prstGeom>
          <a:solidFill>
            <a:srgbClr val="F2E9D8"/>
          </a:solidFill>
          <a:ln w="12700">
            <a:solidFill>
              <a:srgbClr val="E4D8C0"/>
            </a:solidFill>
            <a:prstDash val="solid"/>
          </a:ln>
        </p:spPr>
      </p:sp>
      <p:sp>
        <p:nvSpPr>
          <p:cNvPr id="18" name="Text 16"/>
          <p:cNvSpPr/>
          <p:nvPr/>
        </p:nvSpPr>
        <p:spPr>
          <a:xfrm>
            <a:off x="9194063" y="1719072"/>
            <a:ext cx="224782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Aging</a:t>
            </a:r>
            <a:endParaRPr lang="en-US" sz="1450" dirty="0"/>
          </a:p>
        </p:txBody>
      </p:sp>
      <p:sp>
        <p:nvSpPr>
          <p:cNvPr id="19" name="Text 17"/>
          <p:cNvSpPr/>
          <p:nvPr/>
        </p:nvSpPr>
        <p:spPr>
          <a:xfrm>
            <a:off x="9194063" y="2029968"/>
            <a:ext cx="224782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direction, not score</a:t>
            </a:r>
            <a:endParaRPr lang="en-US" sz="1100" dirty="0"/>
          </a:p>
        </p:txBody>
      </p:sp>
      <p:sp>
        <p:nvSpPr>
          <p:cNvPr id="20" name="Text 18"/>
          <p:cNvSpPr/>
          <p:nvPr/>
        </p:nvSpPr>
        <p:spPr>
          <a:xfrm>
            <a:off x="9194063" y="2286000"/>
            <a:ext cx="2247824" cy="133502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In oak, wine picks up vanilla, spice and polish and its tannin softens. In the bottle, fruit gives way to earth, leather and tobacco.</a:t>
            </a:r>
            <a:endParaRPr lang="en-US" sz="1100" dirty="0"/>
          </a:p>
        </p:txBody>
      </p:sp>
      <p:sp>
        <p:nvSpPr>
          <p:cNvPr id="21" name="Shape 19"/>
          <p:cNvSpPr/>
          <p:nvPr/>
        </p:nvSpPr>
        <p:spPr>
          <a:xfrm>
            <a:off x="566928" y="4023360"/>
            <a:ext cx="11057839" cy="749808"/>
          </a:xfrm>
          <a:prstGeom prst="roundRect">
            <a:avLst>
              <a:gd name="adj" fmla="val 7317"/>
            </a:avLst>
          </a:prstGeom>
          <a:solidFill>
            <a:srgbClr val="F3E7E4"/>
          </a:solidFill>
          <a:ln w="12700">
            <a:solidFill>
              <a:srgbClr val="E2CCC7"/>
            </a:solidFill>
            <a:prstDash val="solid"/>
          </a:ln>
        </p:spPr>
      </p:sp>
      <p:sp>
        <p:nvSpPr>
          <p:cNvPr id="22" name="Text 20"/>
          <p:cNvSpPr/>
          <p:nvPr/>
        </p:nvSpPr>
        <p:spPr>
          <a:xfrm>
            <a:off x="768096" y="4096512"/>
            <a:ext cx="10655503" cy="603504"/>
          </a:xfrm>
          <a:prstGeom prst="rect">
            <a:avLst/>
          </a:prstGeom>
          <a:noFill/>
          <a:ln/>
        </p:spPr>
        <p:txBody>
          <a:bodyPr wrap="square" lIns="0" tIns="0" rIns="0" bIns="0" rtlCol="0" anchor="ctr"/>
          <a:lstStyle/>
          <a:p>
            <a:pPr indent="0" marL="0">
              <a:lnSpc>
                <a:spcPts val="1600"/>
              </a:lnSpc>
              <a:buNone/>
            </a:pPr>
            <a:r>
              <a:rPr lang="en-US" sz="1250" b="1" dirty="0">
                <a:solidFill>
                  <a:srgbClr val="59201C"/>
                </a:solidFill>
                <a:latin typeface="Calibri" pitchFamily="34" charset="0"/>
                <a:ea typeface="Calibri" pitchFamily="34" charset="-122"/>
                <a:cs typeface="Calibri" pitchFamily="34" charset="-120"/>
              </a:rPr>
              <a:t>New world versus old world:  </a:t>
            </a:r>
            <a:pPr indent="0" marL="0">
              <a:lnSpc>
                <a:spcPts val="1600"/>
              </a:lnSpc>
              <a:buNone/>
            </a:pPr>
            <a:r>
              <a:rPr lang="en-US" sz="1250" dirty="0">
                <a:solidFill>
                  <a:srgbClr val="2B2118"/>
                </a:solidFill>
                <a:latin typeface="Calibri" pitchFamily="34" charset="0"/>
                <a:ea typeface="Calibri" pitchFamily="34" charset="-122"/>
                <a:cs typeface="Calibri" pitchFamily="34" charset="-120"/>
              </a:rPr>
              <a:t>new world — California, Oregon, Australia, New Zealand, South America — is named by grape, grown warmer, and drinks fruit-forward and bolder. Old world — France, Italy, Spain — is named by place, grown cooler, and drinks drier and earthier. Same grape, two accents. A guest who says “less fruity, more dry” is asking for old world without knowing the phrase.</a:t>
            </a:r>
            <a:endParaRPr lang="en-US" sz="1250" dirty="0"/>
          </a:p>
        </p:txBody>
      </p:sp>
      <p:sp>
        <p:nvSpPr>
          <p:cNvPr id="23" name="Text 21"/>
          <p:cNvSpPr/>
          <p:nvPr/>
        </p:nvSpPr>
        <p:spPr>
          <a:xfrm>
            <a:off x="566928" y="4956048"/>
            <a:ext cx="11057839" cy="457200"/>
          </a:xfrm>
          <a:prstGeom prst="rect">
            <a:avLst/>
          </a:prstGeom>
          <a:noFill/>
          <a:ln/>
        </p:spPr>
        <p:txBody>
          <a:bodyPr wrap="square" lIns="0" tIns="0" rIns="0" bIns="0" rtlCol="0" anchor="ctr"/>
          <a:lstStyle/>
          <a:p>
            <a:pPr algn="ctr" indent="0" marL="0">
              <a:lnSpc>
                <a:spcPts val="1600"/>
              </a:lnSpc>
              <a:buNone/>
            </a:pPr>
            <a:r>
              <a:rPr lang="en-US" sz="1200" i="1" dirty="0">
                <a:solidFill>
                  <a:srgbClr val="6B5B4B"/>
                </a:solidFill>
                <a:latin typeface="Calibri" pitchFamily="34" charset="0"/>
                <a:ea typeface="Calibri" pitchFamily="34" charset="-122"/>
                <a:cs typeface="Calibri" pitchFamily="34" charset="-120"/>
              </a:rPr>
              <a:t>Red ferments with the skins — that is color and tannin. White ferments without them. Rosé kisses the skins briefly. Sparkling gets bubbles from a second fermentation.</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The regions</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One breath each</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9 — Wine and Spirits</a:t>
            </a:r>
            <a:endParaRPr lang="en-US" sz="950" dirty="0"/>
          </a:p>
        </p:txBody>
      </p:sp>
      <p:sp>
        <p:nvSpPr>
          <p:cNvPr id="5" name="Shape 3"/>
          <p:cNvSpPr/>
          <p:nvPr/>
        </p:nvSpPr>
        <p:spPr>
          <a:xfrm>
            <a:off x="566928" y="1572768"/>
            <a:ext cx="2613584" cy="1207008"/>
          </a:xfrm>
          <a:prstGeom prst="roundRect">
            <a:avLst>
              <a:gd name="adj" fmla="val 4545"/>
            </a:avLst>
          </a:prstGeom>
          <a:solidFill>
            <a:srgbClr val="F2E9D8"/>
          </a:solidFill>
          <a:ln w="12700">
            <a:solidFill>
              <a:srgbClr val="E4D8C0"/>
            </a:solidFill>
            <a:prstDash val="solid"/>
          </a:ln>
        </p:spPr>
      </p:sp>
      <p:sp>
        <p:nvSpPr>
          <p:cNvPr id="6" name="Text 4"/>
          <p:cNvSpPr/>
          <p:nvPr/>
        </p:nvSpPr>
        <p:spPr>
          <a:xfrm>
            <a:off x="749808" y="1719072"/>
            <a:ext cx="2247824" cy="310896"/>
          </a:xfrm>
          <a:prstGeom prst="rect">
            <a:avLst/>
          </a:prstGeom>
          <a:noFill/>
          <a:ln/>
        </p:spPr>
        <p:txBody>
          <a:bodyPr wrap="square" lIns="0" tIns="0" rIns="0" bIns="0" rtlCol="0" anchor="ctr"/>
          <a:lstStyle/>
          <a:p>
            <a:pPr indent="0" marL="0">
              <a:buNone/>
            </a:pPr>
            <a:r>
              <a:rPr lang="en-US" sz="1250" b="1" dirty="0">
                <a:solidFill>
                  <a:srgbClr val="59201C"/>
                </a:solidFill>
                <a:latin typeface="Cambria" pitchFamily="34" charset="0"/>
                <a:ea typeface="Cambria" pitchFamily="34" charset="-122"/>
                <a:cs typeface="Cambria" pitchFamily="34" charset="-120"/>
              </a:rPr>
              <a:t>Napa Valley</a:t>
            </a:r>
            <a:endParaRPr lang="en-US" sz="1250" dirty="0"/>
          </a:p>
        </p:txBody>
      </p:sp>
      <p:sp>
        <p:nvSpPr>
          <p:cNvPr id="7" name="Text 5"/>
          <p:cNvSpPr/>
          <p:nvPr/>
        </p:nvSpPr>
        <p:spPr>
          <a:xfrm>
            <a:off x="749808" y="2066544"/>
            <a:ext cx="2247824" cy="566928"/>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big steak red</a:t>
            </a:r>
            <a:endParaRPr lang="en-US" sz="1000" dirty="0"/>
          </a:p>
        </p:txBody>
      </p:sp>
      <p:sp>
        <p:nvSpPr>
          <p:cNvPr id="8" name="Shape 6"/>
          <p:cNvSpPr/>
          <p:nvPr/>
        </p:nvSpPr>
        <p:spPr>
          <a:xfrm>
            <a:off x="3381680" y="1572768"/>
            <a:ext cx="2613584" cy="1207008"/>
          </a:xfrm>
          <a:prstGeom prst="roundRect">
            <a:avLst>
              <a:gd name="adj" fmla="val 4545"/>
            </a:avLst>
          </a:prstGeom>
          <a:solidFill>
            <a:srgbClr val="F2E9D8"/>
          </a:solidFill>
          <a:ln w="12700">
            <a:solidFill>
              <a:srgbClr val="E4D8C0"/>
            </a:solidFill>
            <a:prstDash val="solid"/>
          </a:ln>
        </p:spPr>
      </p:sp>
      <p:sp>
        <p:nvSpPr>
          <p:cNvPr id="9" name="Text 7"/>
          <p:cNvSpPr/>
          <p:nvPr/>
        </p:nvSpPr>
        <p:spPr>
          <a:xfrm>
            <a:off x="3564560" y="1719072"/>
            <a:ext cx="2247824" cy="310896"/>
          </a:xfrm>
          <a:prstGeom prst="rect">
            <a:avLst/>
          </a:prstGeom>
          <a:noFill/>
          <a:ln/>
        </p:spPr>
        <p:txBody>
          <a:bodyPr wrap="square" lIns="0" tIns="0" rIns="0" bIns="0" rtlCol="0" anchor="ctr"/>
          <a:lstStyle/>
          <a:p>
            <a:pPr indent="0" marL="0">
              <a:buNone/>
            </a:pPr>
            <a:r>
              <a:rPr lang="en-US" sz="1250" b="1" dirty="0">
                <a:solidFill>
                  <a:srgbClr val="59201C"/>
                </a:solidFill>
                <a:latin typeface="Cambria" pitchFamily="34" charset="0"/>
                <a:ea typeface="Cambria" pitchFamily="34" charset="-122"/>
                <a:cs typeface="Cambria" pitchFamily="34" charset="-120"/>
              </a:rPr>
              <a:t>Mountain Napa</a:t>
            </a:r>
            <a:endParaRPr lang="en-US" sz="1250" dirty="0"/>
          </a:p>
        </p:txBody>
      </p:sp>
      <p:sp>
        <p:nvSpPr>
          <p:cNvPr id="10" name="Text 8"/>
          <p:cNvSpPr/>
          <p:nvPr/>
        </p:nvSpPr>
        <p:spPr>
          <a:xfrm>
            <a:off x="3564560" y="2066544"/>
            <a:ext cx="2247824" cy="566928"/>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Howell, Spring, Veeder — darker and firmer. Ribeye and Australian Wagyu.</a:t>
            </a:r>
            <a:endParaRPr lang="en-US" sz="1000" dirty="0"/>
          </a:p>
        </p:txBody>
      </p:sp>
      <p:sp>
        <p:nvSpPr>
          <p:cNvPr id="11" name="Shape 9"/>
          <p:cNvSpPr/>
          <p:nvPr/>
        </p:nvSpPr>
        <p:spPr>
          <a:xfrm>
            <a:off x="6196432" y="1572768"/>
            <a:ext cx="2613584" cy="1207008"/>
          </a:xfrm>
          <a:prstGeom prst="roundRect">
            <a:avLst>
              <a:gd name="adj" fmla="val 4545"/>
            </a:avLst>
          </a:prstGeom>
          <a:solidFill>
            <a:srgbClr val="F2E9D8"/>
          </a:solidFill>
          <a:ln w="12700">
            <a:solidFill>
              <a:srgbClr val="E4D8C0"/>
            </a:solidFill>
            <a:prstDash val="solid"/>
          </a:ln>
        </p:spPr>
      </p:sp>
      <p:sp>
        <p:nvSpPr>
          <p:cNvPr id="12" name="Text 10"/>
          <p:cNvSpPr/>
          <p:nvPr/>
        </p:nvSpPr>
        <p:spPr>
          <a:xfrm>
            <a:off x="6379312" y="1719072"/>
            <a:ext cx="2247824" cy="310896"/>
          </a:xfrm>
          <a:prstGeom prst="rect">
            <a:avLst/>
          </a:prstGeom>
          <a:noFill/>
          <a:ln/>
        </p:spPr>
        <p:txBody>
          <a:bodyPr wrap="square" lIns="0" tIns="0" rIns="0" bIns="0" rtlCol="0" anchor="ctr"/>
          <a:lstStyle/>
          <a:p>
            <a:pPr indent="0" marL="0">
              <a:buNone/>
            </a:pPr>
            <a:r>
              <a:rPr lang="en-US" sz="1250" b="1" dirty="0">
                <a:solidFill>
                  <a:srgbClr val="59201C"/>
                </a:solidFill>
                <a:latin typeface="Cambria" pitchFamily="34" charset="0"/>
                <a:ea typeface="Cambria" pitchFamily="34" charset="-122"/>
                <a:cs typeface="Cambria" pitchFamily="34" charset="-120"/>
              </a:rPr>
              <a:t>Russian River</a:t>
            </a:r>
            <a:endParaRPr lang="en-US" sz="1250" dirty="0"/>
          </a:p>
        </p:txBody>
      </p:sp>
      <p:sp>
        <p:nvSpPr>
          <p:cNvPr id="13" name="Text 11"/>
          <p:cNvSpPr/>
          <p:nvPr/>
        </p:nvSpPr>
        <p:spPr>
          <a:xfrm>
            <a:off x="6379312" y="2066544"/>
            <a:ext cx="2247824" cy="566928"/>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silky, fog-cooled Pinot. Fish or filet.</a:t>
            </a:r>
            <a:endParaRPr lang="en-US" sz="1000" dirty="0"/>
          </a:p>
        </p:txBody>
      </p:sp>
      <p:sp>
        <p:nvSpPr>
          <p:cNvPr id="14" name="Shape 12"/>
          <p:cNvSpPr/>
          <p:nvPr/>
        </p:nvSpPr>
        <p:spPr>
          <a:xfrm>
            <a:off x="9011183" y="1572768"/>
            <a:ext cx="2613584" cy="1207008"/>
          </a:xfrm>
          <a:prstGeom prst="roundRect">
            <a:avLst>
              <a:gd name="adj" fmla="val 4545"/>
            </a:avLst>
          </a:prstGeom>
          <a:solidFill>
            <a:srgbClr val="F2E9D8"/>
          </a:solidFill>
          <a:ln w="12700">
            <a:solidFill>
              <a:srgbClr val="E4D8C0"/>
            </a:solidFill>
            <a:prstDash val="solid"/>
          </a:ln>
        </p:spPr>
      </p:sp>
      <p:sp>
        <p:nvSpPr>
          <p:cNvPr id="15" name="Text 13"/>
          <p:cNvSpPr/>
          <p:nvPr/>
        </p:nvSpPr>
        <p:spPr>
          <a:xfrm>
            <a:off x="9194063" y="1719072"/>
            <a:ext cx="2247824" cy="310896"/>
          </a:xfrm>
          <a:prstGeom prst="rect">
            <a:avLst/>
          </a:prstGeom>
          <a:noFill/>
          <a:ln/>
        </p:spPr>
        <p:txBody>
          <a:bodyPr wrap="square" lIns="0" tIns="0" rIns="0" bIns="0" rtlCol="0" anchor="ctr"/>
          <a:lstStyle/>
          <a:p>
            <a:pPr indent="0" marL="0">
              <a:buNone/>
            </a:pPr>
            <a:r>
              <a:rPr lang="en-US" sz="1250" b="1" dirty="0">
                <a:solidFill>
                  <a:srgbClr val="59201C"/>
                </a:solidFill>
                <a:latin typeface="Cambria" pitchFamily="34" charset="0"/>
                <a:ea typeface="Cambria" pitchFamily="34" charset="-122"/>
                <a:cs typeface="Cambria" pitchFamily="34" charset="-120"/>
              </a:rPr>
              <a:t>Willamette</a:t>
            </a:r>
            <a:endParaRPr lang="en-US" sz="1250" dirty="0"/>
          </a:p>
        </p:txBody>
      </p:sp>
      <p:sp>
        <p:nvSpPr>
          <p:cNvPr id="16" name="Text 14"/>
          <p:cNvSpPr/>
          <p:nvPr/>
        </p:nvSpPr>
        <p:spPr>
          <a:xfrm>
            <a:off x="9194063" y="2066544"/>
            <a:ext cx="2247824" cy="566928"/>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elegant, not heavy.</a:t>
            </a:r>
            <a:endParaRPr lang="en-US" sz="1000" dirty="0"/>
          </a:p>
        </p:txBody>
      </p:sp>
      <p:sp>
        <p:nvSpPr>
          <p:cNvPr id="17" name="Shape 15"/>
          <p:cNvSpPr/>
          <p:nvPr/>
        </p:nvSpPr>
        <p:spPr>
          <a:xfrm>
            <a:off x="566928" y="2980944"/>
            <a:ext cx="2613584" cy="1207008"/>
          </a:xfrm>
          <a:prstGeom prst="roundRect">
            <a:avLst>
              <a:gd name="adj" fmla="val 4545"/>
            </a:avLst>
          </a:prstGeom>
          <a:solidFill>
            <a:srgbClr val="F2E9D8"/>
          </a:solidFill>
          <a:ln w="12700">
            <a:solidFill>
              <a:srgbClr val="E4D8C0"/>
            </a:solidFill>
            <a:prstDash val="solid"/>
          </a:ln>
        </p:spPr>
      </p:sp>
      <p:sp>
        <p:nvSpPr>
          <p:cNvPr id="18" name="Text 16"/>
          <p:cNvSpPr/>
          <p:nvPr/>
        </p:nvSpPr>
        <p:spPr>
          <a:xfrm>
            <a:off x="749808" y="3127248"/>
            <a:ext cx="2247824" cy="310896"/>
          </a:xfrm>
          <a:prstGeom prst="rect">
            <a:avLst/>
          </a:prstGeom>
          <a:noFill/>
          <a:ln/>
        </p:spPr>
        <p:txBody>
          <a:bodyPr wrap="square" lIns="0" tIns="0" rIns="0" bIns="0" rtlCol="0" anchor="ctr"/>
          <a:lstStyle/>
          <a:p>
            <a:pPr indent="0" marL="0">
              <a:buNone/>
            </a:pPr>
            <a:r>
              <a:rPr lang="en-US" sz="1250" b="1" dirty="0">
                <a:solidFill>
                  <a:srgbClr val="59201C"/>
                </a:solidFill>
                <a:latin typeface="Cambria" pitchFamily="34" charset="0"/>
                <a:ea typeface="Cambria" pitchFamily="34" charset="-122"/>
                <a:cs typeface="Cambria" pitchFamily="34" charset="-120"/>
              </a:rPr>
              <a:t>Burgundy &amp; Chablis</a:t>
            </a:r>
            <a:endParaRPr lang="en-US" sz="1250" dirty="0"/>
          </a:p>
        </p:txBody>
      </p:sp>
      <p:sp>
        <p:nvSpPr>
          <p:cNvPr id="19" name="Text 17"/>
          <p:cNvSpPr/>
          <p:nvPr/>
        </p:nvSpPr>
        <p:spPr>
          <a:xfrm>
            <a:off x="749808" y="3474720"/>
            <a:ext cx="2247824" cy="566928"/>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refined and food-driven — earth, mineral, acid.</a:t>
            </a:r>
            <a:endParaRPr lang="en-US" sz="1000" dirty="0"/>
          </a:p>
        </p:txBody>
      </p:sp>
      <p:sp>
        <p:nvSpPr>
          <p:cNvPr id="20" name="Shape 18"/>
          <p:cNvSpPr/>
          <p:nvPr/>
        </p:nvSpPr>
        <p:spPr>
          <a:xfrm>
            <a:off x="3381680" y="2980944"/>
            <a:ext cx="2613584" cy="1207008"/>
          </a:xfrm>
          <a:prstGeom prst="roundRect">
            <a:avLst>
              <a:gd name="adj" fmla="val 4545"/>
            </a:avLst>
          </a:prstGeom>
          <a:solidFill>
            <a:srgbClr val="F2E9D8"/>
          </a:solidFill>
          <a:ln w="12700">
            <a:solidFill>
              <a:srgbClr val="E4D8C0"/>
            </a:solidFill>
            <a:prstDash val="solid"/>
          </a:ln>
        </p:spPr>
      </p:sp>
      <p:sp>
        <p:nvSpPr>
          <p:cNvPr id="21" name="Text 19"/>
          <p:cNvSpPr/>
          <p:nvPr/>
        </p:nvSpPr>
        <p:spPr>
          <a:xfrm>
            <a:off x="3564560" y="3127248"/>
            <a:ext cx="2247824" cy="310896"/>
          </a:xfrm>
          <a:prstGeom prst="rect">
            <a:avLst/>
          </a:prstGeom>
          <a:noFill/>
          <a:ln/>
        </p:spPr>
        <p:txBody>
          <a:bodyPr wrap="square" lIns="0" tIns="0" rIns="0" bIns="0" rtlCol="0" anchor="ctr"/>
          <a:lstStyle/>
          <a:p>
            <a:pPr indent="0" marL="0">
              <a:buNone/>
            </a:pPr>
            <a:r>
              <a:rPr lang="en-US" sz="1250" b="1" dirty="0">
                <a:solidFill>
                  <a:srgbClr val="59201C"/>
                </a:solidFill>
                <a:latin typeface="Cambria" pitchFamily="34" charset="0"/>
                <a:ea typeface="Cambria" pitchFamily="34" charset="-122"/>
                <a:cs typeface="Cambria" pitchFamily="34" charset="-120"/>
              </a:rPr>
              <a:t>Bordeaux &amp; Pomerol</a:t>
            </a:r>
            <a:endParaRPr lang="en-US" sz="1250" dirty="0"/>
          </a:p>
        </p:txBody>
      </p:sp>
      <p:sp>
        <p:nvSpPr>
          <p:cNvPr id="22" name="Text 20"/>
          <p:cNvSpPr/>
          <p:nvPr/>
        </p:nvSpPr>
        <p:spPr>
          <a:xfrm>
            <a:off x="3564560" y="3474720"/>
            <a:ext cx="2247824" cy="566928"/>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classic steakhouse restraint. Pomerol is the softer Merlot side.</a:t>
            </a:r>
            <a:endParaRPr lang="en-US" sz="1000" dirty="0"/>
          </a:p>
        </p:txBody>
      </p:sp>
      <p:sp>
        <p:nvSpPr>
          <p:cNvPr id="23" name="Shape 21"/>
          <p:cNvSpPr/>
          <p:nvPr/>
        </p:nvSpPr>
        <p:spPr>
          <a:xfrm>
            <a:off x="6196432" y="2980944"/>
            <a:ext cx="2613584" cy="1207008"/>
          </a:xfrm>
          <a:prstGeom prst="roundRect">
            <a:avLst>
              <a:gd name="adj" fmla="val 4545"/>
            </a:avLst>
          </a:prstGeom>
          <a:solidFill>
            <a:srgbClr val="F2E9D8"/>
          </a:solidFill>
          <a:ln w="12700">
            <a:solidFill>
              <a:srgbClr val="E4D8C0"/>
            </a:solidFill>
            <a:prstDash val="solid"/>
          </a:ln>
        </p:spPr>
      </p:sp>
      <p:sp>
        <p:nvSpPr>
          <p:cNvPr id="24" name="Text 22"/>
          <p:cNvSpPr/>
          <p:nvPr/>
        </p:nvSpPr>
        <p:spPr>
          <a:xfrm>
            <a:off x="6379312" y="3127248"/>
            <a:ext cx="2247824" cy="310896"/>
          </a:xfrm>
          <a:prstGeom prst="rect">
            <a:avLst/>
          </a:prstGeom>
          <a:noFill/>
          <a:ln/>
        </p:spPr>
        <p:txBody>
          <a:bodyPr wrap="square" lIns="0" tIns="0" rIns="0" bIns="0" rtlCol="0" anchor="ctr"/>
          <a:lstStyle/>
          <a:p>
            <a:pPr indent="0" marL="0">
              <a:buNone/>
            </a:pPr>
            <a:r>
              <a:rPr lang="en-US" sz="1250" b="1" dirty="0">
                <a:solidFill>
                  <a:srgbClr val="59201C"/>
                </a:solidFill>
                <a:latin typeface="Cambria" pitchFamily="34" charset="0"/>
                <a:ea typeface="Cambria" pitchFamily="34" charset="-122"/>
                <a:cs typeface="Cambria" pitchFamily="34" charset="-120"/>
              </a:rPr>
              <a:t>The Rhône</a:t>
            </a:r>
            <a:endParaRPr lang="en-US" sz="1250" dirty="0"/>
          </a:p>
        </p:txBody>
      </p:sp>
      <p:sp>
        <p:nvSpPr>
          <p:cNvPr id="25" name="Text 23"/>
          <p:cNvSpPr/>
          <p:nvPr/>
        </p:nvSpPr>
        <p:spPr>
          <a:xfrm>
            <a:off x="6379312" y="3474720"/>
            <a:ext cx="2247824" cy="566928"/>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pepper and savory warmth. Bold without being Cabernet.</a:t>
            </a:r>
            <a:endParaRPr lang="en-US" sz="1000" dirty="0"/>
          </a:p>
        </p:txBody>
      </p:sp>
      <p:sp>
        <p:nvSpPr>
          <p:cNvPr id="26" name="Shape 24"/>
          <p:cNvSpPr/>
          <p:nvPr/>
        </p:nvSpPr>
        <p:spPr>
          <a:xfrm>
            <a:off x="9011183" y="2980944"/>
            <a:ext cx="2613584" cy="1207008"/>
          </a:xfrm>
          <a:prstGeom prst="roundRect">
            <a:avLst>
              <a:gd name="adj" fmla="val 4545"/>
            </a:avLst>
          </a:prstGeom>
          <a:solidFill>
            <a:srgbClr val="F2E9D8"/>
          </a:solidFill>
          <a:ln w="12700">
            <a:solidFill>
              <a:srgbClr val="E4D8C0"/>
            </a:solidFill>
            <a:prstDash val="solid"/>
          </a:ln>
        </p:spPr>
      </p:sp>
      <p:sp>
        <p:nvSpPr>
          <p:cNvPr id="27" name="Text 25"/>
          <p:cNvSpPr/>
          <p:nvPr/>
        </p:nvSpPr>
        <p:spPr>
          <a:xfrm>
            <a:off x="9194063" y="3127248"/>
            <a:ext cx="2247824" cy="310896"/>
          </a:xfrm>
          <a:prstGeom prst="rect">
            <a:avLst/>
          </a:prstGeom>
          <a:noFill/>
          <a:ln/>
        </p:spPr>
        <p:txBody>
          <a:bodyPr wrap="square" lIns="0" tIns="0" rIns="0" bIns="0" rtlCol="0" anchor="ctr"/>
          <a:lstStyle/>
          <a:p>
            <a:pPr indent="0" marL="0">
              <a:buNone/>
            </a:pPr>
            <a:r>
              <a:rPr lang="en-US" sz="1250" b="1" dirty="0">
                <a:solidFill>
                  <a:srgbClr val="59201C"/>
                </a:solidFill>
                <a:latin typeface="Cambria" pitchFamily="34" charset="0"/>
                <a:ea typeface="Cambria" pitchFamily="34" charset="-122"/>
                <a:cs typeface="Cambria" pitchFamily="34" charset="-120"/>
              </a:rPr>
              <a:t>Rioja &amp; Ribera</a:t>
            </a:r>
            <a:endParaRPr lang="en-US" sz="1250" dirty="0"/>
          </a:p>
        </p:txBody>
      </p:sp>
      <p:sp>
        <p:nvSpPr>
          <p:cNvPr id="28" name="Text 26"/>
          <p:cNvSpPr/>
          <p:nvPr/>
        </p:nvSpPr>
        <p:spPr>
          <a:xfrm>
            <a:off x="9194063" y="3474720"/>
            <a:ext cx="2247824" cy="566928"/>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vanilla and tobacco Tempranillo. The food-friendly savory steak red.</a:t>
            </a:r>
            <a:endParaRPr lang="en-US" sz="1000" dirty="0"/>
          </a:p>
        </p:txBody>
      </p:sp>
      <p:sp>
        <p:nvSpPr>
          <p:cNvPr id="29" name="Shape 27"/>
          <p:cNvSpPr/>
          <p:nvPr/>
        </p:nvSpPr>
        <p:spPr>
          <a:xfrm>
            <a:off x="566928" y="4389120"/>
            <a:ext cx="2613584" cy="1207008"/>
          </a:xfrm>
          <a:prstGeom prst="roundRect">
            <a:avLst>
              <a:gd name="adj" fmla="val 4545"/>
            </a:avLst>
          </a:prstGeom>
          <a:solidFill>
            <a:srgbClr val="F2E9D8"/>
          </a:solidFill>
          <a:ln w="12700">
            <a:solidFill>
              <a:srgbClr val="E4D8C0"/>
            </a:solidFill>
            <a:prstDash val="solid"/>
          </a:ln>
        </p:spPr>
      </p:sp>
      <p:sp>
        <p:nvSpPr>
          <p:cNvPr id="30" name="Text 28"/>
          <p:cNvSpPr/>
          <p:nvPr/>
        </p:nvSpPr>
        <p:spPr>
          <a:xfrm>
            <a:off x="749808" y="4535424"/>
            <a:ext cx="2247824" cy="310896"/>
          </a:xfrm>
          <a:prstGeom prst="rect">
            <a:avLst/>
          </a:prstGeom>
          <a:noFill/>
          <a:ln/>
        </p:spPr>
        <p:txBody>
          <a:bodyPr wrap="square" lIns="0" tIns="0" rIns="0" bIns="0" rtlCol="0" anchor="ctr"/>
          <a:lstStyle/>
          <a:p>
            <a:pPr indent="0" marL="0">
              <a:buNone/>
            </a:pPr>
            <a:r>
              <a:rPr lang="en-US" sz="1250" b="1" dirty="0">
                <a:solidFill>
                  <a:srgbClr val="59201C"/>
                </a:solidFill>
                <a:latin typeface="Cambria" pitchFamily="34" charset="0"/>
                <a:ea typeface="Cambria" pitchFamily="34" charset="-122"/>
                <a:cs typeface="Cambria" pitchFamily="34" charset="-120"/>
              </a:rPr>
              <a:t>Tuscany</a:t>
            </a:r>
            <a:endParaRPr lang="en-US" sz="1250" dirty="0"/>
          </a:p>
        </p:txBody>
      </p:sp>
      <p:sp>
        <p:nvSpPr>
          <p:cNvPr id="31" name="Text 29"/>
          <p:cNvSpPr/>
          <p:nvPr/>
        </p:nvSpPr>
        <p:spPr>
          <a:xfrm>
            <a:off x="749808" y="4882896"/>
            <a:ext cx="2247824" cy="566928"/>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and the Super Tuscans — powerful but built for the table.</a:t>
            </a:r>
            <a:endParaRPr lang="en-US" sz="1000" dirty="0"/>
          </a:p>
        </p:txBody>
      </p:sp>
      <p:sp>
        <p:nvSpPr>
          <p:cNvPr id="32" name="Shape 30"/>
          <p:cNvSpPr/>
          <p:nvPr/>
        </p:nvSpPr>
        <p:spPr>
          <a:xfrm>
            <a:off x="3381680" y="4389120"/>
            <a:ext cx="2613584" cy="1207008"/>
          </a:xfrm>
          <a:prstGeom prst="roundRect">
            <a:avLst>
              <a:gd name="adj" fmla="val 4545"/>
            </a:avLst>
          </a:prstGeom>
          <a:solidFill>
            <a:srgbClr val="F2E9D8"/>
          </a:solidFill>
          <a:ln w="12700">
            <a:solidFill>
              <a:srgbClr val="E4D8C0"/>
            </a:solidFill>
            <a:prstDash val="solid"/>
          </a:ln>
        </p:spPr>
      </p:sp>
      <p:sp>
        <p:nvSpPr>
          <p:cNvPr id="33" name="Text 31"/>
          <p:cNvSpPr/>
          <p:nvPr/>
        </p:nvSpPr>
        <p:spPr>
          <a:xfrm>
            <a:off x="3564560" y="4535424"/>
            <a:ext cx="2247824" cy="310896"/>
          </a:xfrm>
          <a:prstGeom prst="rect">
            <a:avLst/>
          </a:prstGeom>
          <a:noFill/>
          <a:ln/>
        </p:spPr>
        <p:txBody>
          <a:bodyPr wrap="square" lIns="0" tIns="0" rIns="0" bIns="0" rtlCol="0" anchor="ctr"/>
          <a:lstStyle/>
          <a:p>
            <a:pPr indent="0" marL="0">
              <a:buNone/>
            </a:pPr>
            <a:r>
              <a:rPr lang="en-US" sz="1250" b="1" dirty="0">
                <a:solidFill>
                  <a:srgbClr val="59201C"/>
                </a:solidFill>
                <a:latin typeface="Cambria" pitchFamily="34" charset="0"/>
                <a:ea typeface="Cambria" pitchFamily="34" charset="-122"/>
                <a:cs typeface="Cambria" pitchFamily="34" charset="-120"/>
              </a:rPr>
              <a:t>Champagne</a:t>
            </a:r>
            <a:endParaRPr lang="en-US" sz="1250" dirty="0"/>
          </a:p>
        </p:txBody>
      </p:sp>
      <p:sp>
        <p:nvSpPr>
          <p:cNvPr id="34" name="Text 32"/>
          <p:cNvSpPr/>
          <p:nvPr/>
        </p:nvSpPr>
        <p:spPr>
          <a:xfrm>
            <a:off x="3564560" y="4882896"/>
            <a:ext cx="2247824" cy="566928"/>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acid and bubbles that cut richness. Oysters, seafood, wagyu, even truffle fries.</a:t>
            </a:r>
            <a:endParaRPr lang="en-US" sz="1000" dirty="0"/>
          </a:p>
        </p:txBody>
      </p:sp>
      <p:sp>
        <p:nvSpPr>
          <p:cNvPr id="35" name="Shape 33"/>
          <p:cNvSpPr/>
          <p:nvPr/>
        </p:nvSpPr>
        <p:spPr>
          <a:xfrm>
            <a:off x="6196432" y="4389120"/>
            <a:ext cx="2613584" cy="1207008"/>
          </a:xfrm>
          <a:prstGeom prst="roundRect">
            <a:avLst>
              <a:gd name="adj" fmla="val 4545"/>
            </a:avLst>
          </a:prstGeom>
          <a:solidFill>
            <a:srgbClr val="F2E9D8"/>
          </a:solidFill>
          <a:ln w="12700">
            <a:solidFill>
              <a:srgbClr val="E4D8C0"/>
            </a:solidFill>
            <a:prstDash val="solid"/>
          </a:ln>
        </p:spPr>
      </p:sp>
      <p:sp>
        <p:nvSpPr>
          <p:cNvPr id="36" name="Text 34"/>
          <p:cNvSpPr/>
          <p:nvPr/>
        </p:nvSpPr>
        <p:spPr>
          <a:xfrm>
            <a:off x="6379312" y="4535424"/>
            <a:ext cx="2247824" cy="310896"/>
          </a:xfrm>
          <a:prstGeom prst="rect">
            <a:avLst/>
          </a:prstGeom>
          <a:noFill/>
          <a:ln/>
        </p:spPr>
        <p:txBody>
          <a:bodyPr wrap="square" lIns="0" tIns="0" rIns="0" bIns="0" rtlCol="0" anchor="ctr"/>
          <a:lstStyle/>
          <a:p>
            <a:pPr indent="0" marL="0">
              <a:buNone/>
            </a:pPr>
            <a:r>
              <a:rPr lang="en-US" sz="1250" b="1" dirty="0">
                <a:solidFill>
                  <a:srgbClr val="59201C"/>
                </a:solidFill>
                <a:latin typeface="Cambria" pitchFamily="34" charset="0"/>
                <a:ea typeface="Cambria" pitchFamily="34" charset="-122"/>
                <a:cs typeface="Cambria" pitchFamily="34" charset="-120"/>
              </a:rPr>
              <a:t>Marlborough</a:t>
            </a:r>
            <a:endParaRPr lang="en-US" sz="1250" dirty="0"/>
          </a:p>
        </p:txBody>
      </p:sp>
      <p:sp>
        <p:nvSpPr>
          <p:cNvPr id="37" name="Text 35"/>
          <p:cNvSpPr/>
          <p:nvPr/>
        </p:nvSpPr>
        <p:spPr>
          <a:xfrm>
            <a:off x="6379312" y="4882896"/>
            <a:ext cx="2247824" cy="566928"/>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the crisp seafood white.</a:t>
            </a:r>
            <a:endParaRPr lang="en-US" sz="1000" dirty="0"/>
          </a:p>
        </p:txBody>
      </p:sp>
      <p:sp>
        <p:nvSpPr>
          <p:cNvPr id="38" name="Shape 36"/>
          <p:cNvSpPr/>
          <p:nvPr/>
        </p:nvSpPr>
        <p:spPr>
          <a:xfrm>
            <a:off x="9011183" y="4389120"/>
            <a:ext cx="2613584" cy="1207008"/>
          </a:xfrm>
          <a:prstGeom prst="roundRect">
            <a:avLst>
              <a:gd name="adj" fmla="val 4545"/>
            </a:avLst>
          </a:prstGeom>
          <a:solidFill>
            <a:srgbClr val="F2E9D8"/>
          </a:solidFill>
          <a:ln w="12700">
            <a:solidFill>
              <a:srgbClr val="E4D8C0"/>
            </a:solidFill>
            <a:prstDash val="solid"/>
          </a:ln>
        </p:spPr>
      </p:sp>
      <p:sp>
        <p:nvSpPr>
          <p:cNvPr id="39" name="Text 37"/>
          <p:cNvSpPr/>
          <p:nvPr/>
        </p:nvSpPr>
        <p:spPr>
          <a:xfrm>
            <a:off x="9194063" y="4535424"/>
            <a:ext cx="2247824" cy="310896"/>
          </a:xfrm>
          <a:prstGeom prst="rect">
            <a:avLst/>
          </a:prstGeom>
          <a:noFill/>
          <a:ln/>
        </p:spPr>
        <p:txBody>
          <a:bodyPr wrap="square" lIns="0" tIns="0" rIns="0" bIns="0" rtlCol="0" anchor="ctr"/>
          <a:lstStyle/>
          <a:p>
            <a:pPr indent="0" marL="0">
              <a:buNone/>
            </a:pPr>
            <a:r>
              <a:rPr lang="en-US" sz="1250" b="1" dirty="0">
                <a:solidFill>
                  <a:srgbClr val="59201C"/>
                </a:solidFill>
                <a:latin typeface="Cambria" pitchFamily="34" charset="0"/>
                <a:ea typeface="Cambria" pitchFamily="34" charset="-122"/>
                <a:cs typeface="Cambria" pitchFamily="34" charset="-120"/>
              </a:rPr>
              <a:t>The instinct</a:t>
            </a:r>
            <a:endParaRPr lang="en-US" sz="1250" dirty="0"/>
          </a:p>
        </p:txBody>
      </p:sp>
      <p:sp>
        <p:nvSpPr>
          <p:cNvPr id="40" name="Text 38"/>
          <p:cNvSpPr/>
          <p:nvPr/>
        </p:nvSpPr>
        <p:spPr>
          <a:xfrm>
            <a:off x="9194063" y="4882896"/>
            <a:ext cx="2247824" cy="566928"/>
          </a:xfrm>
          <a:prstGeom prst="rect">
            <a:avLst/>
          </a:prstGeom>
          <a:noFill/>
          <a:ln/>
        </p:spPr>
        <p:txBody>
          <a:bodyPr wrap="square" lIns="0" tIns="0" rIns="0" bIns="0" rtlCol="0" anchor="t"/>
          <a:lstStyle/>
          <a:p>
            <a:pPr indent="0" marL="0">
              <a:lnSpc>
                <a:spcPts val="1400"/>
              </a:lnSpc>
              <a:buNone/>
            </a:pPr>
            <a:r>
              <a:rPr lang="en-US" sz="1000" dirty="0">
                <a:solidFill>
                  <a:srgbClr val="2B2118"/>
                </a:solidFill>
                <a:latin typeface="Calibri" pitchFamily="34" charset="0"/>
                <a:ea typeface="Calibri" pitchFamily="34" charset="-122"/>
                <a:cs typeface="Calibri" pitchFamily="34" charset="-120"/>
              </a:rPr>
              <a:t>filet loves Pinot. Ribeye loves Cabernet. “Cabernet is too dry” means pour them Merlot.</a:t>
            </a:r>
            <a:endParaRPr lang="en-US" sz="1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Selling the list</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The wine move, every time</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9 — Wine and Spirits</a:t>
            </a:r>
            <a:endParaRPr lang="en-US" sz="950" dirty="0"/>
          </a:p>
        </p:txBody>
      </p:sp>
      <p:sp>
        <p:nvSpPr>
          <p:cNvPr id="5" name="Text 3"/>
          <p:cNvSpPr/>
          <p:nvPr/>
        </p:nvSpPr>
        <p:spPr>
          <a:xfrm>
            <a:off x="566928" y="1572768"/>
            <a:ext cx="5300320" cy="292608"/>
          </a:xfrm>
          <a:prstGeom prst="rect">
            <a:avLst/>
          </a:prstGeom>
          <a:noFill/>
          <a:ln/>
        </p:spPr>
        <p:txBody>
          <a:bodyPr wrap="square" lIns="0" tIns="0" rIns="0" bIns="0" rtlCol="0" anchor="ctr"/>
          <a:lstStyle/>
          <a:p>
            <a:pPr indent="0" marL="0">
              <a:buNone/>
            </a:pPr>
            <a:r>
              <a:rPr lang="en-US" sz="1500" b="1" dirty="0">
                <a:solidFill>
                  <a:srgbClr val="59201C"/>
                </a:solidFill>
                <a:latin typeface="Cambria" pitchFamily="34" charset="0"/>
                <a:ea typeface="Cambria" pitchFamily="34" charset="-122"/>
                <a:cs typeface="Cambria" pitchFamily="34" charset="-120"/>
              </a:rPr>
              <a:t>What actually sells</a:t>
            </a:r>
            <a:endParaRPr lang="en-US" sz="1500" dirty="0"/>
          </a:p>
        </p:txBody>
      </p:sp>
      <p:sp>
        <p:nvSpPr>
          <p:cNvPr id="6" name="Text 4"/>
          <p:cNvSpPr/>
          <p:nvPr/>
        </p:nvSpPr>
        <p:spPr>
          <a:xfrm>
            <a:off x="566928" y="1956816"/>
            <a:ext cx="5300320" cy="4169664"/>
          </a:xfrm>
          <a:prstGeom prst="rect">
            <a:avLst/>
          </a:prstGeom>
          <a:noFill/>
          <a:ln/>
        </p:spPr>
        <p:txBody>
          <a:bodyPr wrap="square" lIns="0" tIns="0" rIns="0" bIns="0" rtlCol="0" anchor="t"/>
          <a:lstStyle/>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Caymus Cabernet is the volume king.</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Advice From John moves easily in the good tier. Kim Crawford leads the whites.</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The whole reason the wine tab exists is to get comfortable selling the Silver Oak tier and up.</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Cristal and the trophy bottles are really in the building — we have sold Cristal here.</a:t>
            </a:r>
            <a:endParaRPr lang="en-US" sz="1250" dirty="0"/>
          </a:p>
        </p:txBody>
      </p:sp>
      <p:sp>
        <p:nvSpPr>
          <p:cNvPr id="7" name="Text 5"/>
          <p:cNvSpPr/>
          <p:nvPr/>
        </p:nvSpPr>
        <p:spPr>
          <a:xfrm>
            <a:off x="6324448" y="1572768"/>
            <a:ext cx="5300320" cy="292608"/>
          </a:xfrm>
          <a:prstGeom prst="rect">
            <a:avLst/>
          </a:prstGeom>
          <a:noFill/>
          <a:ln/>
        </p:spPr>
        <p:txBody>
          <a:bodyPr wrap="square" lIns="0" tIns="0" rIns="0" bIns="0" rtlCol="0" anchor="ctr"/>
          <a:lstStyle/>
          <a:p>
            <a:pPr indent="0" marL="0">
              <a:buNone/>
            </a:pPr>
            <a:r>
              <a:rPr lang="en-US" sz="1500" b="1" dirty="0">
                <a:solidFill>
                  <a:srgbClr val="59201C"/>
                </a:solidFill>
                <a:latin typeface="Cambria" pitchFamily="34" charset="0"/>
                <a:ea typeface="Cambria" pitchFamily="34" charset="-122"/>
                <a:cs typeface="Cambria" pitchFamily="34" charset="-120"/>
              </a:rPr>
              <a:t>The move</a:t>
            </a:r>
            <a:endParaRPr lang="en-US" sz="1500" dirty="0"/>
          </a:p>
        </p:txBody>
      </p:sp>
      <p:sp>
        <p:nvSpPr>
          <p:cNvPr id="8" name="Text 6"/>
          <p:cNvSpPr/>
          <p:nvPr/>
        </p:nvSpPr>
        <p:spPr>
          <a:xfrm>
            <a:off x="6324448" y="1956816"/>
            <a:ext cx="5300320" cy="4169664"/>
          </a:xfrm>
          <a:prstGeom prst="rect">
            <a:avLst/>
          </a:prstGeom>
          <a:noFill/>
          <a:ln/>
        </p:spPr>
        <p:txBody>
          <a:bodyPr wrap="square" lIns="0" tIns="0" rIns="0" bIns="0" rtlCol="0" anchor="t"/>
          <a:lstStyle/>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Ask whether they are leaning lighter and smoother or bigger and richer, then give two confident choices.</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Four people ordering glasses? A bottle is usually the better value — move them up the ladder.</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The front server sets the glasses. A MANAGER opens and pours every bottle at the table. Over $250 gets the big Bordeaux glasses.</a:t>
            </a:r>
            <a:endParaRPr lang="en-US" sz="1250" dirty="0"/>
          </a:p>
          <a:p>
            <a:pPr marL="177800" indent="-177800">
              <a:lnSpc>
                <a:spcPts val="1625"/>
              </a:lnSpc>
              <a:spcAft>
                <a:spcPts val="600"/>
              </a:spcAft>
              <a:buSzPct val="100000"/>
              <a:buChar char="•"/>
            </a:pPr>
            <a:r>
              <a:rPr lang="en-US" sz="1250" dirty="0">
                <a:solidFill>
                  <a:srgbClr val="2B2118"/>
                </a:solidFill>
                <a:latin typeface="Calibri" pitchFamily="34" charset="0"/>
                <a:ea typeface="Calibri" pitchFamily="34" charset="-122"/>
                <a:cs typeface="Calibri" pitchFamily="34" charset="-120"/>
              </a:rPr>
              <a:t>Champagne and sweet Moscato live cold. Trophy reds get presented, not rushed.</a:t>
            </a:r>
            <a:endParaRPr lang="en-US" sz="1250" dirty="0"/>
          </a:p>
        </p:txBody>
      </p:sp>
      <p:sp>
        <p:nvSpPr>
          <p:cNvPr id="9" name="Shape 7"/>
          <p:cNvSpPr/>
          <p:nvPr/>
        </p:nvSpPr>
        <p:spPr>
          <a:xfrm>
            <a:off x="566928" y="4937760"/>
            <a:ext cx="11057839" cy="749808"/>
          </a:xfrm>
          <a:prstGeom prst="roundRect">
            <a:avLst>
              <a:gd name="adj" fmla="val 7317"/>
            </a:avLst>
          </a:prstGeom>
          <a:solidFill>
            <a:srgbClr val="F3E7E4"/>
          </a:solidFill>
          <a:ln w="12700">
            <a:solidFill>
              <a:srgbClr val="E2CCC7"/>
            </a:solidFill>
            <a:prstDash val="solid"/>
          </a:ln>
        </p:spPr>
      </p:sp>
      <p:sp>
        <p:nvSpPr>
          <p:cNvPr id="10" name="Text 8"/>
          <p:cNvSpPr/>
          <p:nvPr/>
        </p:nvSpPr>
        <p:spPr>
          <a:xfrm>
            <a:off x="768096" y="5010912"/>
            <a:ext cx="10655503" cy="603504"/>
          </a:xfrm>
          <a:prstGeom prst="rect">
            <a:avLst/>
          </a:prstGeom>
          <a:noFill/>
          <a:ln/>
        </p:spPr>
        <p:txBody>
          <a:bodyPr wrap="square" lIns="0" tIns="0" rIns="0" bIns="0" rtlCol="0" anchor="ctr"/>
          <a:lstStyle/>
          <a:p>
            <a:pPr indent="0" marL="0">
              <a:lnSpc>
                <a:spcPts val="1600"/>
              </a:lnSpc>
              <a:buNone/>
            </a:pPr>
            <a:r>
              <a:rPr lang="en-US" sz="1250" b="1" dirty="0">
                <a:solidFill>
                  <a:srgbClr val="59201C"/>
                </a:solidFill>
                <a:latin typeface="Calibri" pitchFamily="34" charset="0"/>
                <a:ea typeface="Calibri" pitchFamily="34" charset="-122"/>
                <a:cs typeface="Calibri" pitchFamily="34" charset="-120"/>
              </a:rPr>
              <a:t>The math that should motivate you:  </a:t>
            </a:r>
            <a:pPr indent="0" marL="0">
              <a:lnSpc>
                <a:spcPts val="1600"/>
              </a:lnSpc>
              <a:buNone/>
            </a:pPr>
            <a:r>
              <a:rPr lang="en-US" sz="1250" dirty="0">
                <a:solidFill>
                  <a:srgbClr val="2B2118"/>
                </a:solidFill>
                <a:latin typeface="Calibri" pitchFamily="34" charset="0"/>
                <a:ea typeface="Calibri" pitchFamily="34" charset="-122"/>
                <a:cs typeface="Calibri" pitchFamily="34" charset="-120"/>
              </a:rPr>
              <a:t>one $90 bottle a night at 20% is $18. Ten tables a night, five nights a week, and bottle sales are a five-figure raise.</a:t>
            </a:r>
            <a:endParaRPr lang="en-US" sz="12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Beer, zero proof, coffee</a:t>
            </a:r>
            <a:endParaRPr lang="en-US" sz="3400" dirty="0"/>
          </a:p>
        </p:txBody>
      </p:sp>
      <p:sp>
        <p:nvSpPr>
          <p:cNvPr id="3" name="Text 1"/>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9 — Wine and Spirits</a:t>
            </a:r>
            <a:endParaRPr lang="en-US" sz="950" dirty="0"/>
          </a:p>
        </p:txBody>
      </p:sp>
      <p:sp>
        <p:nvSpPr>
          <p:cNvPr id="4" name="Shape 2"/>
          <p:cNvSpPr/>
          <p:nvPr/>
        </p:nvSpPr>
        <p:spPr>
          <a:xfrm>
            <a:off x="566928" y="1572768"/>
            <a:ext cx="3551834" cy="1691640"/>
          </a:xfrm>
          <a:prstGeom prst="roundRect">
            <a:avLst>
              <a:gd name="adj" fmla="val 3243"/>
            </a:avLst>
          </a:prstGeom>
          <a:solidFill>
            <a:srgbClr val="F2E9D8"/>
          </a:solidFill>
          <a:ln w="12700">
            <a:solidFill>
              <a:srgbClr val="E4D8C0"/>
            </a:solidFill>
            <a:prstDash val="solid"/>
          </a:ln>
        </p:spPr>
      </p:sp>
      <p:sp>
        <p:nvSpPr>
          <p:cNvPr id="5" name="Text 3"/>
          <p:cNvSpPr/>
          <p:nvPr/>
        </p:nvSpPr>
        <p:spPr>
          <a:xfrm>
            <a:off x="749808" y="1719072"/>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Draft</a:t>
            </a:r>
            <a:endParaRPr lang="en-US" sz="1450" dirty="0"/>
          </a:p>
        </p:txBody>
      </p:sp>
      <p:sp>
        <p:nvSpPr>
          <p:cNvPr id="6" name="Text 4"/>
          <p:cNvSpPr/>
          <p:nvPr/>
        </p:nvSpPr>
        <p:spPr>
          <a:xfrm>
            <a:off x="749808"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two facts</a:t>
            </a:r>
            <a:endParaRPr lang="en-US" sz="1100" dirty="0"/>
          </a:p>
        </p:txBody>
      </p:sp>
      <p:sp>
        <p:nvSpPr>
          <p:cNvPr id="7" name="Text 5"/>
          <p:cNvSpPr/>
          <p:nvPr/>
        </p:nvSpPr>
        <p:spPr>
          <a:xfrm>
            <a:off x="749808" y="2286000"/>
            <a:ext cx="3186074" cy="83210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The Smoked Draft Old Fashioned is our one confirmed tap line. Sweet &amp; Salty is confirmed NOT on tap.</a:t>
            </a:r>
            <a:endParaRPr lang="en-US" sz="1100" dirty="0"/>
          </a:p>
        </p:txBody>
      </p:sp>
      <p:sp>
        <p:nvSpPr>
          <p:cNvPr id="8" name="Shape 6"/>
          <p:cNvSpPr/>
          <p:nvPr/>
        </p:nvSpPr>
        <p:spPr>
          <a:xfrm>
            <a:off x="4319930" y="1572768"/>
            <a:ext cx="3551834" cy="1691640"/>
          </a:xfrm>
          <a:prstGeom prst="roundRect">
            <a:avLst>
              <a:gd name="adj" fmla="val 3243"/>
            </a:avLst>
          </a:prstGeom>
          <a:solidFill>
            <a:srgbClr val="F2E9D8"/>
          </a:solidFill>
          <a:ln w="12700">
            <a:solidFill>
              <a:srgbClr val="E4D8C0"/>
            </a:solidFill>
            <a:prstDash val="solid"/>
          </a:ln>
        </p:spPr>
      </p:sp>
      <p:sp>
        <p:nvSpPr>
          <p:cNvPr id="9" name="Text 7"/>
          <p:cNvSpPr/>
          <p:nvPr/>
        </p:nvSpPr>
        <p:spPr>
          <a:xfrm>
            <a:off x="4502810" y="1719072"/>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Bottles</a:t>
            </a:r>
            <a:endParaRPr lang="en-US" sz="1450" dirty="0"/>
          </a:p>
        </p:txBody>
      </p:sp>
      <p:sp>
        <p:nvSpPr>
          <p:cNvPr id="10" name="Text 8"/>
          <p:cNvSpPr/>
          <p:nvPr/>
        </p:nvSpPr>
        <p:spPr>
          <a:xfrm>
            <a:off x="4502810"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the range</a:t>
            </a:r>
            <a:endParaRPr lang="en-US" sz="1100" dirty="0"/>
          </a:p>
        </p:txBody>
      </p:sp>
      <p:sp>
        <p:nvSpPr>
          <p:cNvPr id="11" name="Text 9"/>
          <p:cNvSpPr/>
          <p:nvPr/>
        </p:nvSpPr>
        <p:spPr>
          <a:xfrm>
            <a:off x="4502810" y="2286000"/>
            <a:ext cx="3186074" cy="83210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Bud Light through Stella, local Metazoa and Centerpoint IPAs, NUTRL seltzers, Austin Eastciders dry cider — gluten-free style.</a:t>
            </a:r>
            <a:endParaRPr lang="en-US" sz="1100" dirty="0"/>
          </a:p>
        </p:txBody>
      </p:sp>
      <p:sp>
        <p:nvSpPr>
          <p:cNvPr id="12" name="Shape 10"/>
          <p:cNvSpPr/>
          <p:nvPr/>
        </p:nvSpPr>
        <p:spPr>
          <a:xfrm>
            <a:off x="8072933" y="1572768"/>
            <a:ext cx="3551834" cy="1691640"/>
          </a:xfrm>
          <a:prstGeom prst="roundRect">
            <a:avLst>
              <a:gd name="adj" fmla="val 3243"/>
            </a:avLst>
          </a:prstGeom>
          <a:solidFill>
            <a:srgbClr val="F2E9D8"/>
          </a:solidFill>
          <a:ln w="12700">
            <a:solidFill>
              <a:srgbClr val="E4D8C0"/>
            </a:solidFill>
            <a:prstDash val="solid"/>
          </a:ln>
        </p:spPr>
      </p:sp>
      <p:sp>
        <p:nvSpPr>
          <p:cNvPr id="13" name="Text 11"/>
          <p:cNvSpPr/>
          <p:nvPr/>
        </p:nvSpPr>
        <p:spPr>
          <a:xfrm>
            <a:off x="8255813" y="1719072"/>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Elysian Space Dust</a:t>
            </a:r>
            <a:endParaRPr lang="en-US" sz="1450" dirty="0"/>
          </a:p>
        </p:txBody>
      </p:sp>
      <p:sp>
        <p:nvSpPr>
          <p:cNvPr id="14" name="Text 12"/>
          <p:cNvSpPr/>
          <p:nvPr/>
        </p:nvSpPr>
        <p:spPr>
          <a:xfrm>
            <a:off x="8255813" y="2029968"/>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8.2%</a:t>
            </a:r>
            <a:endParaRPr lang="en-US" sz="1100" dirty="0"/>
          </a:p>
        </p:txBody>
      </p:sp>
      <p:sp>
        <p:nvSpPr>
          <p:cNvPr id="15" name="Text 13"/>
          <p:cNvSpPr/>
          <p:nvPr/>
        </p:nvSpPr>
        <p:spPr>
          <a:xfrm>
            <a:off x="8255813" y="2286000"/>
            <a:ext cx="3186074" cy="83210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The strongest beer on the list. Know it — it gets asked.</a:t>
            </a:r>
            <a:endParaRPr lang="en-US" sz="1100" dirty="0"/>
          </a:p>
        </p:txBody>
      </p:sp>
      <p:sp>
        <p:nvSpPr>
          <p:cNvPr id="16" name="Shape 14"/>
          <p:cNvSpPr/>
          <p:nvPr/>
        </p:nvSpPr>
        <p:spPr>
          <a:xfrm>
            <a:off x="566928" y="3465576"/>
            <a:ext cx="3551834" cy="1691640"/>
          </a:xfrm>
          <a:prstGeom prst="roundRect">
            <a:avLst>
              <a:gd name="adj" fmla="val 3243"/>
            </a:avLst>
          </a:prstGeom>
          <a:solidFill>
            <a:srgbClr val="F2E9D8"/>
          </a:solidFill>
          <a:ln w="12700">
            <a:solidFill>
              <a:srgbClr val="E4D8C0"/>
            </a:solidFill>
            <a:prstDash val="solid"/>
          </a:ln>
        </p:spPr>
      </p:sp>
      <p:sp>
        <p:nvSpPr>
          <p:cNvPr id="17" name="Text 15"/>
          <p:cNvSpPr/>
          <p:nvPr/>
        </p:nvSpPr>
        <p:spPr>
          <a:xfrm>
            <a:off x="749808" y="3611880"/>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Zero proof</a:t>
            </a:r>
            <a:endParaRPr lang="en-US" sz="1450" dirty="0"/>
          </a:p>
        </p:txBody>
      </p:sp>
      <p:sp>
        <p:nvSpPr>
          <p:cNvPr id="18" name="Text 16"/>
          <p:cNvSpPr/>
          <p:nvPr/>
        </p:nvSpPr>
        <p:spPr>
          <a:xfrm>
            <a:off x="749808" y="3959352"/>
            <a:ext cx="3186074" cy="1051560"/>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Bud Zero and the Make-A-Mocktail. Ask which lane: citrus, berry, tropical, herbal.</a:t>
            </a:r>
            <a:endParaRPr lang="en-US" sz="1100" dirty="0"/>
          </a:p>
        </p:txBody>
      </p:sp>
      <p:sp>
        <p:nvSpPr>
          <p:cNvPr id="19" name="Shape 17"/>
          <p:cNvSpPr/>
          <p:nvPr/>
        </p:nvSpPr>
        <p:spPr>
          <a:xfrm>
            <a:off x="4319930" y="3465576"/>
            <a:ext cx="3551834" cy="1691640"/>
          </a:xfrm>
          <a:prstGeom prst="roundRect">
            <a:avLst>
              <a:gd name="adj" fmla="val 3243"/>
            </a:avLst>
          </a:prstGeom>
          <a:solidFill>
            <a:srgbClr val="F2E9D8"/>
          </a:solidFill>
          <a:ln w="12700">
            <a:solidFill>
              <a:srgbClr val="E4D8C0"/>
            </a:solidFill>
            <a:prstDash val="solid"/>
          </a:ln>
        </p:spPr>
      </p:sp>
      <p:sp>
        <p:nvSpPr>
          <p:cNvPr id="20" name="Text 18"/>
          <p:cNvSpPr/>
          <p:nvPr/>
        </p:nvSpPr>
        <p:spPr>
          <a:xfrm>
            <a:off x="4502810" y="3611880"/>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Coffee</a:t>
            </a:r>
            <a:endParaRPr lang="en-US" sz="1450" dirty="0"/>
          </a:p>
        </p:txBody>
      </p:sp>
      <p:sp>
        <p:nvSpPr>
          <p:cNvPr id="21" name="Text 19"/>
          <p:cNvSpPr/>
          <p:nvPr/>
        </p:nvSpPr>
        <p:spPr>
          <a:xfrm>
            <a:off x="4502810" y="3922776"/>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Hubbard &amp; Cravens</a:t>
            </a:r>
            <a:endParaRPr lang="en-US" sz="1100" dirty="0"/>
          </a:p>
        </p:txBody>
      </p:sp>
      <p:sp>
        <p:nvSpPr>
          <p:cNvPr id="22" name="Text 20"/>
          <p:cNvSpPr/>
          <p:nvPr/>
        </p:nvSpPr>
        <p:spPr>
          <a:xfrm>
            <a:off x="4502810" y="4178808"/>
            <a:ext cx="3186074" cy="83210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A local Indianapolis roaster. Bring the cream and sugar caddy. Straight espresso is poured — no cappuccino.</a:t>
            </a:r>
            <a:endParaRPr lang="en-US" sz="1100" dirty="0"/>
          </a:p>
        </p:txBody>
      </p:sp>
      <p:sp>
        <p:nvSpPr>
          <p:cNvPr id="23" name="Shape 21"/>
          <p:cNvSpPr/>
          <p:nvPr/>
        </p:nvSpPr>
        <p:spPr>
          <a:xfrm>
            <a:off x="8072933" y="3465576"/>
            <a:ext cx="3551834" cy="1691640"/>
          </a:xfrm>
          <a:prstGeom prst="roundRect">
            <a:avLst>
              <a:gd name="adj" fmla="val 3243"/>
            </a:avLst>
          </a:prstGeom>
          <a:solidFill>
            <a:srgbClr val="F2E9D8"/>
          </a:solidFill>
          <a:ln w="12700">
            <a:solidFill>
              <a:srgbClr val="E4D8C0"/>
            </a:solidFill>
            <a:prstDash val="solid"/>
          </a:ln>
        </p:spPr>
      </p:sp>
      <p:sp>
        <p:nvSpPr>
          <p:cNvPr id="24" name="Text 22"/>
          <p:cNvSpPr/>
          <p:nvPr/>
        </p:nvSpPr>
        <p:spPr>
          <a:xfrm>
            <a:off x="8255813" y="3611880"/>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Tea and water</a:t>
            </a:r>
            <a:endParaRPr lang="en-US" sz="1450" dirty="0"/>
          </a:p>
        </p:txBody>
      </p:sp>
      <p:sp>
        <p:nvSpPr>
          <p:cNvPr id="25" name="Text 23"/>
          <p:cNvSpPr/>
          <p:nvPr/>
        </p:nvSpPr>
        <p:spPr>
          <a:xfrm>
            <a:off x="8255813" y="3959352"/>
            <a:ext cx="3186074" cy="1051560"/>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Iced tea is unsweet by default, sweet on request. Filtered water is the default at every table; bottled still and sparkling available.</a:t>
            </a:r>
            <a:endParaRPr lang="en-US" sz="1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59201C"/>
        </a:solidFill>
      </p:bgPr>
    </p:bg>
    <p:spTree>
      <p:nvGrpSpPr>
        <p:cNvPr id="1" name=""/>
        <p:cNvGrpSpPr/>
        <p:nvPr/>
      </p:nvGrpSpPr>
      <p:grpSpPr>
        <a:xfrm>
          <a:off x="0" y="0"/>
          <a:ext cx="0" cy="0"/>
          <a:chOff x="0" y="0"/>
          <a:chExt cx="0" cy="0"/>
        </a:xfrm>
      </p:grpSpPr>
      <p:sp>
        <p:nvSpPr>
          <p:cNvPr id="2" name="Shape 0"/>
          <p:cNvSpPr/>
          <p:nvPr/>
        </p:nvSpPr>
        <p:spPr>
          <a:xfrm>
            <a:off x="566928" y="1737360"/>
            <a:ext cx="1051560" cy="1051560"/>
          </a:xfrm>
          <a:prstGeom prst="ellipse">
            <a:avLst/>
          </a:prstGeom>
          <a:solidFill>
            <a:srgbClr val="F7EFE4"/>
          </a:solidFill>
          <a:ln w="12700">
            <a:solidFill>
              <a:srgbClr val="F7EFE4"/>
            </a:solidFill>
            <a:prstDash val="solid"/>
          </a:ln>
        </p:spPr>
      </p:sp>
      <p:sp>
        <p:nvSpPr>
          <p:cNvPr id="3" name="Text 1"/>
          <p:cNvSpPr/>
          <p:nvPr/>
        </p:nvSpPr>
        <p:spPr>
          <a:xfrm>
            <a:off x="566928" y="1737360"/>
            <a:ext cx="1051560" cy="1051560"/>
          </a:xfrm>
          <a:prstGeom prst="rect">
            <a:avLst/>
          </a:prstGeom>
          <a:noFill/>
          <a:ln/>
        </p:spPr>
        <p:txBody>
          <a:bodyPr wrap="square" lIns="0" tIns="0" rIns="0" bIns="0" rtlCol="0" anchor="ctr"/>
          <a:lstStyle/>
          <a:p>
            <a:pPr algn="ctr" indent="0" marL="0">
              <a:buNone/>
            </a:pPr>
            <a:r>
              <a:rPr lang="en-US" sz="4000" b="1" dirty="0">
                <a:solidFill>
                  <a:srgbClr val="59201C"/>
                </a:solidFill>
                <a:latin typeface="Cambria" pitchFamily="34" charset="0"/>
                <a:ea typeface="Cambria" pitchFamily="34" charset="-122"/>
                <a:cs typeface="Cambria" pitchFamily="34" charset="-120"/>
              </a:rPr>
              <a:t>10</a:t>
            </a:r>
            <a:endParaRPr lang="en-US" sz="4000" dirty="0"/>
          </a:p>
        </p:txBody>
      </p:sp>
      <p:sp>
        <p:nvSpPr>
          <p:cNvPr id="4" name="Text 2"/>
          <p:cNvSpPr/>
          <p:nvPr/>
        </p:nvSpPr>
        <p:spPr>
          <a:xfrm>
            <a:off x="1938528" y="1700784"/>
            <a:ext cx="9686239" cy="786384"/>
          </a:xfrm>
          <a:prstGeom prst="rect">
            <a:avLst/>
          </a:prstGeom>
          <a:noFill/>
          <a:ln/>
        </p:spPr>
        <p:txBody>
          <a:bodyPr wrap="square" lIns="0" tIns="0" rIns="0" bIns="0" rtlCol="0" anchor="ctr"/>
          <a:lstStyle/>
          <a:p>
            <a:pPr indent="0" marL="0">
              <a:buNone/>
            </a:pPr>
            <a:r>
              <a:rPr lang="en-US" sz="4000" b="1" dirty="0">
                <a:solidFill>
                  <a:srgbClr val="F7EFE4"/>
                </a:solidFill>
                <a:latin typeface="Cambria" pitchFamily="34" charset="0"/>
                <a:ea typeface="Cambria" pitchFamily="34" charset="-122"/>
                <a:cs typeface="Cambria" pitchFamily="34" charset="-120"/>
              </a:rPr>
              <a:t>Friends and Family Night</a:t>
            </a:r>
            <a:endParaRPr lang="en-US" sz="4000" dirty="0"/>
          </a:p>
        </p:txBody>
      </p:sp>
      <p:sp>
        <p:nvSpPr>
          <p:cNvPr id="5" name="Text 3"/>
          <p:cNvSpPr/>
          <p:nvPr/>
        </p:nvSpPr>
        <p:spPr>
          <a:xfrm>
            <a:off x="1938528" y="2542032"/>
            <a:ext cx="9686239" cy="1371600"/>
          </a:xfrm>
          <a:prstGeom prst="rect">
            <a:avLst/>
          </a:prstGeom>
          <a:noFill/>
          <a:ln/>
        </p:spPr>
        <p:txBody>
          <a:bodyPr wrap="square" lIns="0" tIns="0" rIns="0" bIns="0" rtlCol="0" anchor="ctr"/>
          <a:lstStyle/>
          <a:p>
            <a:pPr indent="0" marL="0">
              <a:lnSpc>
                <a:spcPts val="2100"/>
              </a:lnSpc>
              <a:buNone/>
            </a:pPr>
            <a:r>
              <a:rPr lang="en-US" sz="1400" i="1" dirty="0">
                <a:solidFill>
                  <a:srgbClr val="E8D6C8"/>
                </a:solidFill>
                <a:latin typeface="Calibri" pitchFamily="34" charset="0"/>
                <a:ea typeface="Calibri" pitchFamily="34" charset="-122"/>
                <a:cs typeface="Calibri" pitchFamily="34" charset="-120"/>
              </a:rPr>
              <a:t>Friends and family come in, four to nine, on an abbreviated menu.</a:t>
            </a:r>
            <a:endParaRPr lang="en-US" sz="1400" dirty="0"/>
          </a:p>
        </p:txBody>
      </p:sp>
      <p:sp>
        <p:nvSpPr>
          <p:cNvPr id="6" name="Text 4"/>
          <p:cNvSpPr/>
          <p:nvPr/>
        </p:nvSpPr>
        <p:spPr>
          <a:xfrm>
            <a:off x="566928" y="6199632"/>
            <a:ext cx="11057839" cy="274320"/>
          </a:xfrm>
          <a:prstGeom prst="rect">
            <a:avLst/>
          </a:prstGeom>
          <a:noFill/>
          <a:ln/>
        </p:spPr>
        <p:txBody>
          <a:bodyPr wrap="square" lIns="0" tIns="0" rIns="0" bIns="0" rtlCol="0" anchor="ctr"/>
          <a:lstStyle/>
          <a:p>
            <a:pPr indent="0" marL="0">
              <a:buNone/>
            </a:pPr>
            <a:r>
              <a:rPr lang="en-US" sz="1050" dirty="0">
                <a:solidFill>
                  <a:srgbClr val="C9A99A"/>
                </a:solidFill>
                <a:latin typeface="Calibri" pitchFamily="34" charset="0"/>
                <a:ea typeface="Calibri" pitchFamily="34" charset="-122"/>
                <a:cs typeface="Calibri" pitchFamily="34" charset="-120"/>
              </a:rPr>
              <a:t>From the original Mo's Training Itinerary</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Friends and Family Night</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Why the night existed, and what to keep from it</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Day 10 — Friends and Family Night</a:t>
            </a:r>
            <a:endParaRPr lang="en-US" sz="950" dirty="0"/>
          </a:p>
        </p:txBody>
      </p:sp>
      <p:sp>
        <p:nvSpPr>
          <p:cNvPr id="5" name="Text 3"/>
          <p:cNvSpPr/>
          <p:nvPr/>
        </p:nvSpPr>
        <p:spPr>
          <a:xfrm>
            <a:off x="566928" y="1554480"/>
            <a:ext cx="11057839" cy="786384"/>
          </a:xfrm>
          <a:prstGeom prst="rect">
            <a:avLst/>
          </a:prstGeom>
          <a:noFill/>
          <a:ln/>
        </p:spPr>
        <p:txBody>
          <a:bodyPr wrap="square" lIns="0" tIns="0" rIns="0" bIns="0" rtlCol="0" anchor="ctr"/>
          <a:lstStyle/>
          <a:p>
            <a:pPr indent="0" marL="0">
              <a:lnSpc>
                <a:spcPts val="2500"/>
              </a:lnSpc>
              <a:buNone/>
            </a:pPr>
            <a:r>
              <a:rPr lang="en-US" sz="1700" i="1" dirty="0">
                <a:solidFill>
                  <a:srgbClr val="59201C"/>
                </a:solidFill>
                <a:latin typeface="Cambria" pitchFamily="34" charset="0"/>
                <a:ea typeface="Cambria" pitchFamily="34" charset="-122"/>
                <a:cs typeface="Cambria" pitchFamily="34" charset="-120"/>
              </a:rPr>
              <a:t>Before the doors ever opened to the public, the building filled with friends and family and the team ran real service on an abbreviated menu from four to nine. That night exists so that opening night is nobody's first night.</a:t>
            </a:r>
            <a:endParaRPr lang="en-US" sz="1700" dirty="0"/>
          </a:p>
        </p:txBody>
      </p:sp>
      <p:sp>
        <p:nvSpPr>
          <p:cNvPr id="6" name="Shape 4"/>
          <p:cNvSpPr/>
          <p:nvPr/>
        </p:nvSpPr>
        <p:spPr>
          <a:xfrm>
            <a:off x="566928" y="2523744"/>
            <a:ext cx="3551834" cy="1828800"/>
          </a:xfrm>
          <a:prstGeom prst="roundRect">
            <a:avLst>
              <a:gd name="adj" fmla="val 3000"/>
            </a:avLst>
          </a:prstGeom>
          <a:solidFill>
            <a:srgbClr val="F2E9D8"/>
          </a:solidFill>
          <a:ln w="12700">
            <a:solidFill>
              <a:srgbClr val="E4D8C0"/>
            </a:solidFill>
            <a:prstDash val="solid"/>
          </a:ln>
        </p:spPr>
      </p:sp>
      <p:sp>
        <p:nvSpPr>
          <p:cNvPr id="7" name="Text 5"/>
          <p:cNvSpPr/>
          <p:nvPr/>
        </p:nvSpPr>
        <p:spPr>
          <a:xfrm>
            <a:off x="749808" y="2670048"/>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Every practice rep</a:t>
            </a:r>
            <a:endParaRPr lang="en-US" sz="1450" dirty="0"/>
          </a:p>
        </p:txBody>
      </p:sp>
      <p:sp>
        <p:nvSpPr>
          <p:cNvPr id="8" name="Text 6"/>
          <p:cNvSpPr/>
          <p:nvPr/>
        </p:nvSpPr>
        <p:spPr>
          <a:xfrm>
            <a:off x="749808" y="2980944"/>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full-dress seriousness</a:t>
            </a:r>
            <a:endParaRPr lang="en-US" sz="1100" dirty="0"/>
          </a:p>
        </p:txBody>
      </p:sp>
      <p:sp>
        <p:nvSpPr>
          <p:cNvPr id="9" name="Text 7"/>
          <p:cNvSpPr/>
          <p:nvPr/>
        </p:nvSpPr>
        <p:spPr>
          <a:xfrm>
            <a:off x="749808" y="3236976"/>
            <a:ext cx="3186074" cy="96926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Run it like it counts, because the habits are what carry over.</a:t>
            </a:r>
            <a:endParaRPr lang="en-US" sz="1100" dirty="0"/>
          </a:p>
        </p:txBody>
      </p:sp>
      <p:sp>
        <p:nvSpPr>
          <p:cNvPr id="10" name="Shape 8"/>
          <p:cNvSpPr/>
          <p:nvPr/>
        </p:nvSpPr>
        <p:spPr>
          <a:xfrm>
            <a:off x="4319930" y="2523744"/>
            <a:ext cx="3551834" cy="1828800"/>
          </a:xfrm>
          <a:prstGeom prst="roundRect">
            <a:avLst>
              <a:gd name="adj" fmla="val 3000"/>
            </a:avLst>
          </a:prstGeom>
          <a:solidFill>
            <a:srgbClr val="F2E9D8"/>
          </a:solidFill>
          <a:ln w="12700">
            <a:solidFill>
              <a:srgbClr val="E4D8C0"/>
            </a:solidFill>
            <a:prstDash val="solid"/>
          </a:ln>
        </p:spPr>
      </p:sp>
      <p:sp>
        <p:nvSpPr>
          <p:cNvPr id="11" name="Text 9"/>
          <p:cNvSpPr/>
          <p:nvPr/>
        </p:nvSpPr>
        <p:spPr>
          <a:xfrm>
            <a:off x="4502810" y="2670048"/>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Every real night</a:t>
            </a:r>
            <a:endParaRPr lang="en-US" sz="1450" dirty="0"/>
          </a:p>
        </p:txBody>
      </p:sp>
      <p:sp>
        <p:nvSpPr>
          <p:cNvPr id="12" name="Text 10"/>
          <p:cNvSpPr/>
          <p:nvPr/>
        </p:nvSpPr>
        <p:spPr>
          <a:xfrm>
            <a:off x="4502810" y="2980944"/>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practice-night forgiveness</a:t>
            </a:r>
            <a:endParaRPr lang="en-US" sz="1100" dirty="0"/>
          </a:p>
        </p:txBody>
      </p:sp>
      <p:sp>
        <p:nvSpPr>
          <p:cNvPr id="13" name="Text 11"/>
          <p:cNvSpPr/>
          <p:nvPr/>
        </p:nvSpPr>
        <p:spPr>
          <a:xfrm>
            <a:off x="4502810" y="3236976"/>
            <a:ext cx="3186074" cy="96926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Inside the team: catch each other, cover each other, debrief without blame.</a:t>
            </a:r>
            <a:endParaRPr lang="en-US" sz="1100" dirty="0"/>
          </a:p>
        </p:txBody>
      </p:sp>
      <p:sp>
        <p:nvSpPr>
          <p:cNvPr id="14" name="Shape 12"/>
          <p:cNvSpPr/>
          <p:nvPr/>
        </p:nvSpPr>
        <p:spPr>
          <a:xfrm>
            <a:off x="8072933" y="2523744"/>
            <a:ext cx="3551834" cy="1828800"/>
          </a:xfrm>
          <a:prstGeom prst="roundRect">
            <a:avLst>
              <a:gd name="adj" fmla="val 3000"/>
            </a:avLst>
          </a:prstGeom>
          <a:solidFill>
            <a:srgbClr val="F2E9D8"/>
          </a:solidFill>
          <a:ln w="12700">
            <a:solidFill>
              <a:srgbClr val="E4D8C0"/>
            </a:solidFill>
            <a:prstDash val="solid"/>
          </a:ln>
        </p:spPr>
      </p:sp>
      <p:sp>
        <p:nvSpPr>
          <p:cNvPr id="15" name="Text 13"/>
          <p:cNvSpPr/>
          <p:nvPr/>
        </p:nvSpPr>
        <p:spPr>
          <a:xfrm>
            <a:off x="8255813" y="2670048"/>
            <a:ext cx="3186074" cy="310896"/>
          </a:xfrm>
          <a:prstGeom prst="rect">
            <a:avLst/>
          </a:prstGeom>
          <a:noFill/>
          <a:ln/>
        </p:spPr>
        <p:txBody>
          <a:bodyPr wrap="square" lIns="0" tIns="0" rIns="0" bIns="0" rtlCol="0" anchor="ctr"/>
          <a:lstStyle/>
          <a:p>
            <a:pPr indent="0" marL="0">
              <a:buNone/>
            </a:pPr>
            <a:r>
              <a:rPr lang="en-US" sz="1450" b="1" dirty="0">
                <a:solidFill>
                  <a:srgbClr val="59201C"/>
                </a:solidFill>
                <a:latin typeface="Cambria" pitchFamily="34" charset="0"/>
                <a:ea typeface="Cambria" pitchFamily="34" charset="-122"/>
                <a:cs typeface="Cambria" pitchFamily="34" charset="-120"/>
              </a:rPr>
              <a:t>Hold the standard</a:t>
            </a:r>
            <a:endParaRPr lang="en-US" sz="1450" dirty="0"/>
          </a:p>
        </p:txBody>
      </p:sp>
      <p:sp>
        <p:nvSpPr>
          <p:cNvPr id="16" name="Text 14"/>
          <p:cNvSpPr/>
          <p:nvPr/>
        </p:nvSpPr>
        <p:spPr>
          <a:xfrm>
            <a:off x="8255813" y="2980944"/>
            <a:ext cx="3186074"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not a grudge</a:t>
            </a:r>
            <a:endParaRPr lang="en-US" sz="1100" dirty="0"/>
          </a:p>
        </p:txBody>
      </p:sp>
      <p:sp>
        <p:nvSpPr>
          <p:cNvPr id="17" name="Text 15"/>
          <p:cNvSpPr/>
          <p:nvPr/>
        </p:nvSpPr>
        <p:spPr>
          <a:xfrm>
            <a:off x="8255813" y="3236976"/>
            <a:ext cx="3186074" cy="969264"/>
          </a:xfrm>
          <a:prstGeom prst="rect">
            <a:avLst/>
          </a:prstGeom>
          <a:noFill/>
          <a:ln/>
        </p:spPr>
        <p:txBody>
          <a:bodyPr wrap="square" lIns="0" tIns="0" rIns="0" bIns="0" rtlCol="0" anchor="t"/>
          <a:lstStyle/>
          <a:p>
            <a:pPr indent="0" marL="0">
              <a:lnSpc>
                <a:spcPts val="1400"/>
              </a:lnSpc>
              <a:buNone/>
            </a:pPr>
            <a:r>
              <a:rPr lang="en-US" sz="1100" dirty="0">
                <a:solidFill>
                  <a:srgbClr val="2B2118"/>
                </a:solidFill>
                <a:latin typeface="Calibri" pitchFamily="34" charset="0"/>
                <a:ea typeface="Calibri" pitchFamily="34" charset="-122"/>
                <a:cs typeface="Calibri" pitchFamily="34" charset="-120"/>
              </a:rPr>
              <a:t>Be hard on the standard, not the person. That point does the most work on the hardest nights.</a:t>
            </a:r>
            <a:endParaRPr lang="en-US" sz="1100" dirty="0"/>
          </a:p>
        </p:txBody>
      </p:sp>
      <p:sp>
        <p:nvSpPr>
          <p:cNvPr id="18" name="Text 16"/>
          <p:cNvSpPr/>
          <p:nvPr/>
        </p:nvSpPr>
        <p:spPr>
          <a:xfrm>
            <a:off x="566928" y="4572000"/>
            <a:ext cx="11057839" cy="310896"/>
          </a:xfrm>
          <a:prstGeom prst="rect">
            <a:avLst/>
          </a:prstGeom>
          <a:noFill/>
          <a:ln/>
        </p:spPr>
        <p:txBody>
          <a:bodyPr wrap="square" lIns="0" tIns="0" rIns="0" bIns="0" rtlCol="0" anchor="ctr"/>
          <a:lstStyle/>
          <a:p>
            <a:pPr algn="ctr" indent="0" marL="0">
              <a:buNone/>
            </a:pPr>
            <a:r>
              <a:rPr lang="en-US" sz="1300" dirty="0">
                <a:solidFill>
                  <a:srgbClr val="6B5B4B"/>
                </a:solidFill>
                <a:latin typeface="Calibri" pitchFamily="34" charset="0"/>
                <a:ea typeface="Calibri" pitchFamily="34" charset="-122"/>
                <a:cs typeface="Calibri" pitchFamily="34" charset="-120"/>
              </a:rPr>
              <a:t>Walk out of every shift able to say the sixteenth point out loud:</a:t>
            </a:r>
            <a:endParaRPr lang="en-US" sz="1300" dirty="0"/>
          </a:p>
        </p:txBody>
      </p:sp>
      <p:sp>
        <p:nvSpPr>
          <p:cNvPr id="19" name="Text 17"/>
          <p:cNvSpPr/>
          <p:nvPr/>
        </p:nvSpPr>
        <p:spPr>
          <a:xfrm>
            <a:off x="566928" y="4901184"/>
            <a:ext cx="11057839" cy="566928"/>
          </a:xfrm>
          <a:prstGeom prst="rect">
            <a:avLst/>
          </a:prstGeom>
          <a:noFill/>
          <a:ln/>
        </p:spPr>
        <p:txBody>
          <a:bodyPr wrap="square" lIns="0" tIns="0" rIns="0" bIns="0" rtlCol="0" anchor="ctr"/>
          <a:lstStyle/>
          <a:p>
            <a:pPr algn="ctr" indent="0" marL="0">
              <a:buNone/>
            </a:pPr>
            <a:r>
              <a:rPr lang="en-US" sz="3200" b="1" dirty="0">
                <a:solidFill>
                  <a:srgbClr val="59201C"/>
                </a:solidFill>
                <a:latin typeface="Cambria" pitchFamily="34" charset="0"/>
                <a:ea typeface="Cambria" pitchFamily="34" charset="-122"/>
                <a:cs typeface="Cambria" pitchFamily="34" charset="-120"/>
              </a:rPr>
              <a:t>“They weren't ready for us.”</a:t>
            </a:r>
            <a:endParaRPr lang="en-US" sz="3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400" b="1" dirty="0">
                <a:solidFill>
                  <a:srgbClr val="59201C"/>
                </a:solidFill>
                <a:latin typeface="Cambria" pitchFamily="34" charset="0"/>
                <a:ea typeface="Cambria" pitchFamily="34" charset="-122"/>
                <a:cs typeface="Cambria" pitchFamily="34" charset="-120"/>
              </a:rPr>
              <a:t>The Get List</a:t>
            </a:r>
            <a:endParaRPr lang="en-US" sz="3400" dirty="0"/>
          </a:p>
        </p:txBody>
      </p:sp>
      <p:sp>
        <p:nvSpPr>
          <p:cNvPr id="3" name="Text 1"/>
          <p:cNvSpPr/>
          <p:nvPr/>
        </p:nvSpPr>
        <p:spPr>
          <a:xfrm>
            <a:off x="566928" y="950976"/>
            <a:ext cx="11057839" cy="310896"/>
          </a:xfrm>
          <a:prstGeom prst="rect">
            <a:avLst/>
          </a:prstGeom>
          <a:noFill/>
          <a:ln/>
        </p:spPr>
        <p:txBody>
          <a:bodyPr wrap="square" lIns="0" tIns="0" rIns="0" bIns="0" rtlCol="0" anchor="ctr"/>
          <a:lstStyle/>
          <a:p>
            <a:pPr indent="0" marL="0">
              <a:buNone/>
            </a:pPr>
            <a:r>
              <a:rPr lang="en-US" sz="1350" i="1" dirty="0">
                <a:solidFill>
                  <a:srgbClr val="6B5B4B"/>
                </a:solidFill>
                <a:latin typeface="Calibri" pitchFamily="34" charset="0"/>
                <a:ea typeface="Calibri" pitchFamily="34" charset="-122"/>
                <a:cs typeface="Calibri" pitchFamily="34" charset="-120"/>
              </a:rPr>
              <a:t>Every blank slide in this deck, in one place</a:t>
            </a:r>
            <a:endParaRPr lang="en-US" sz="1350" dirty="0"/>
          </a:p>
        </p:txBody>
      </p:sp>
      <p:sp>
        <p:nvSpPr>
          <p:cNvPr id="4" name="Text 2"/>
          <p:cNvSpPr/>
          <p:nvPr/>
        </p:nvSpPr>
        <p:spPr>
          <a:xfrm>
            <a:off x="566928" y="6400800"/>
            <a:ext cx="6634704" cy="256032"/>
          </a:xfrm>
          <a:prstGeom prst="rect">
            <a:avLst/>
          </a:prstGeom>
          <a:noFill/>
          <a:ln/>
        </p:spPr>
        <p:txBody>
          <a:bodyPr wrap="square" lIns="0" tIns="0" rIns="0" bIns="0" rtlCol="0" anchor="ctr"/>
          <a:lstStyle/>
          <a:p>
            <a:pPr indent="0" marL="0">
              <a:buNone/>
            </a:pPr>
            <a:r>
              <a:rPr lang="en-US" sz="950" dirty="0">
                <a:solidFill>
                  <a:srgbClr val="6B5B4B"/>
                </a:solidFill>
                <a:latin typeface="Calibri" pitchFamily="34" charset="0"/>
                <a:ea typeface="Calibri" pitchFamily="34" charset="-122"/>
                <a:cs typeface="Calibri" pitchFamily="34" charset="-120"/>
              </a:rPr>
              <a:t>Mo's A Place For Steaks</a:t>
            </a:r>
            <a:endParaRPr lang="en-US" sz="950" dirty="0"/>
          </a:p>
        </p:txBody>
      </p:sp>
      <p:sp>
        <p:nvSpPr>
          <p:cNvPr id="5" name="Shape 3"/>
          <p:cNvSpPr/>
          <p:nvPr/>
        </p:nvSpPr>
        <p:spPr>
          <a:xfrm>
            <a:off x="566928" y="1517904"/>
            <a:ext cx="2050633" cy="1060704"/>
          </a:xfrm>
          <a:prstGeom prst="roundRect">
            <a:avLst>
              <a:gd name="adj" fmla="val 5172"/>
            </a:avLst>
          </a:prstGeom>
          <a:solidFill>
            <a:srgbClr val="F2E9D8"/>
          </a:solidFill>
          <a:ln w="12700">
            <a:solidFill>
              <a:srgbClr val="E4D8C0"/>
            </a:solidFill>
            <a:prstDash val="solid"/>
          </a:ln>
        </p:spPr>
      </p:sp>
      <p:sp>
        <p:nvSpPr>
          <p:cNvPr id="6" name="Text 4"/>
          <p:cNvSpPr/>
          <p:nvPr/>
        </p:nvSpPr>
        <p:spPr>
          <a:xfrm>
            <a:off x="749808" y="1664208"/>
            <a:ext cx="1684873" cy="310896"/>
          </a:xfrm>
          <a:prstGeom prst="rect">
            <a:avLst/>
          </a:prstGeom>
          <a:noFill/>
          <a:ln/>
        </p:spPr>
        <p:txBody>
          <a:bodyPr wrap="square" lIns="0" tIns="0" rIns="0" bIns="0" rtlCol="0" anchor="ctr"/>
          <a:lstStyle/>
          <a:p>
            <a:pPr indent="0" marL="0">
              <a:buNone/>
            </a:pPr>
            <a:r>
              <a:rPr lang="en-US" sz="1150" b="1" dirty="0">
                <a:solidFill>
                  <a:srgbClr val="59201C"/>
                </a:solidFill>
                <a:latin typeface="Cambria" pitchFamily="34" charset="0"/>
                <a:ea typeface="Cambria" pitchFamily="34" charset="-122"/>
                <a:cs typeface="Cambria" pitchFamily="34" charset="-120"/>
              </a:rPr>
              <a:t>the printed onboarding packet</a:t>
            </a:r>
            <a:endParaRPr lang="en-US" sz="1150" dirty="0"/>
          </a:p>
        </p:txBody>
      </p:sp>
      <p:sp>
        <p:nvSpPr>
          <p:cNvPr id="7" name="Text 5"/>
          <p:cNvSpPr/>
          <p:nvPr/>
        </p:nvSpPr>
        <p:spPr>
          <a:xfrm>
            <a:off x="749808" y="1975104"/>
            <a:ext cx="1684873"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Day 1</a:t>
            </a:r>
            <a:endParaRPr lang="en-US" sz="1100" dirty="0"/>
          </a:p>
        </p:txBody>
      </p:sp>
      <p:sp>
        <p:nvSpPr>
          <p:cNvPr id="8" name="Shape 6"/>
          <p:cNvSpPr/>
          <p:nvPr/>
        </p:nvSpPr>
        <p:spPr>
          <a:xfrm>
            <a:off x="2818729" y="1517904"/>
            <a:ext cx="2050633" cy="1060704"/>
          </a:xfrm>
          <a:prstGeom prst="roundRect">
            <a:avLst>
              <a:gd name="adj" fmla="val 5172"/>
            </a:avLst>
          </a:prstGeom>
          <a:solidFill>
            <a:srgbClr val="F2E9D8"/>
          </a:solidFill>
          <a:ln w="12700">
            <a:solidFill>
              <a:srgbClr val="E4D8C0"/>
            </a:solidFill>
            <a:prstDash val="solid"/>
          </a:ln>
        </p:spPr>
      </p:sp>
      <p:sp>
        <p:nvSpPr>
          <p:cNvPr id="9" name="Text 7"/>
          <p:cNvSpPr/>
          <p:nvPr/>
        </p:nvSpPr>
        <p:spPr>
          <a:xfrm>
            <a:off x="3001609" y="1664208"/>
            <a:ext cx="1684873" cy="310896"/>
          </a:xfrm>
          <a:prstGeom prst="rect">
            <a:avLst/>
          </a:prstGeom>
          <a:noFill/>
          <a:ln/>
        </p:spPr>
        <p:txBody>
          <a:bodyPr wrap="square" lIns="0" tIns="0" rIns="0" bIns="0" rtlCol="0" anchor="ctr"/>
          <a:lstStyle/>
          <a:p>
            <a:pPr indent="0" marL="0">
              <a:buNone/>
            </a:pPr>
            <a:r>
              <a:rPr lang="en-US" sz="1150" b="1" dirty="0">
                <a:solidFill>
                  <a:srgbClr val="59201C"/>
                </a:solidFill>
                <a:latin typeface="Cambria" pitchFamily="34" charset="0"/>
                <a:ea typeface="Cambria" pitchFamily="34" charset="-122"/>
                <a:cs typeface="Cambria" pitchFamily="34" charset="-120"/>
              </a:rPr>
              <a:t>every starter, plated</a:t>
            </a:r>
            <a:endParaRPr lang="en-US" sz="1150" dirty="0"/>
          </a:p>
        </p:txBody>
      </p:sp>
      <p:sp>
        <p:nvSpPr>
          <p:cNvPr id="10" name="Text 8"/>
          <p:cNvSpPr/>
          <p:nvPr/>
        </p:nvSpPr>
        <p:spPr>
          <a:xfrm>
            <a:off x="3001609" y="1975104"/>
            <a:ext cx="1684873"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Day 2</a:t>
            </a:r>
            <a:endParaRPr lang="en-US" sz="1100" dirty="0"/>
          </a:p>
        </p:txBody>
      </p:sp>
      <p:sp>
        <p:nvSpPr>
          <p:cNvPr id="11" name="Shape 9"/>
          <p:cNvSpPr/>
          <p:nvPr/>
        </p:nvSpPr>
        <p:spPr>
          <a:xfrm>
            <a:off x="5070531" y="1517904"/>
            <a:ext cx="2050633" cy="1060704"/>
          </a:xfrm>
          <a:prstGeom prst="roundRect">
            <a:avLst>
              <a:gd name="adj" fmla="val 5172"/>
            </a:avLst>
          </a:prstGeom>
          <a:solidFill>
            <a:srgbClr val="F2E9D8"/>
          </a:solidFill>
          <a:ln w="12700">
            <a:solidFill>
              <a:srgbClr val="E4D8C0"/>
            </a:solidFill>
            <a:prstDash val="solid"/>
          </a:ln>
        </p:spPr>
      </p:sp>
      <p:sp>
        <p:nvSpPr>
          <p:cNvPr id="12" name="Text 10"/>
          <p:cNvSpPr/>
          <p:nvPr/>
        </p:nvSpPr>
        <p:spPr>
          <a:xfrm>
            <a:off x="5253411" y="1664208"/>
            <a:ext cx="1684873" cy="310896"/>
          </a:xfrm>
          <a:prstGeom prst="rect">
            <a:avLst/>
          </a:prstGeom>
          <a:noFill/>
          <a:ln/>
        </p:spPr>
        <p:txBody>
          <a:bodyPr wrap="square" lIns="0" tIns="0" rIns="0" bIns="0" rtlCol="0" anchor="ctr"/>
          <a:lstStyle/>
          <a:p>
            <a:pPr indent="0" marL="0">
              <a:buNone/>
            </a:pPr>
            <a:r>
              <a:rPr lang="en-US" sz="1150" b="1" dirty="0">
                <a:solidFill>
                  <a:srgbClr val="59201C"/>
                </a:solidFill>
                <a:latin typeface="Cambria" pitchFamily="34" charset="0"/>
                <a:ea typeface="Cambria" pitchFamily="34" charset="-122"/>
                <a:cs typeface="Cambria" pitchFamily="34" charset="-120"/>
              </a:rPr>
              <a:t>both towers, stacked at a table</a:t>
            </a:r>
            <a:endParaRPr lang="en-US" sz="1150" dirty="0"/>
          </a:p>
        </p:txBody>
      </p:sp>
      <p:sp>
        <p:nvSpPr>
          <p:cNvPr id="13" name="Text 11"/>
          <p:cNvSpPr/>
          <p:nvPr/>
        </p:nvSpPr>
        <p:spPr>
          <a:xfrm>
            <a:off x="5253411" y="1975104"/>
            <a:ext cx="1684873"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Day 2</a:t>
            </a:r>
            <a:endParaRPr lang="en-US" sz="1100" dirty="0"/>
          </a:p>
        </p:txBody>
      </p:sp>
      <p:sp>
        <p:nvSpPr>
          <p:cNvPr id="14" name="Shape 12"/>
          <p:cNvSpPr/>
          <p:nvPr/>
        </p:nvSpPr>
        <p:spPr>
          <a:xfrm>
            <a:off x="7322332" y="1517904"/>
            <a:ext cx="2050633" cy="1060704"/>
          </a:xfrm>
          <a:prstGeom prst="roundRect">
            <a:avLst>
              <a:gd name="adj" fmla="val 5172"/>
            </a:avLst>
          </a:prstGeom>
          <a:solidFill>
            <a:srgbClr val="F2E9D8"/>
          </a:solidFill>
          <a:ln w="12700">
            <a:solidFill>
              <a:srgbClr val="E4D8C0"/>
            </a:solidFill>
            <a:prstDash val="solid"/>
          </a:ln>
        </p:spPr>
      </p:sp>
      <p:sp>
        <p:nvSpPr>
          <p:cNvPr id="15" name="Text 13"/>
          <p:cNvSpPr/>
          <p:nvPr/>
        </p:nvSpPr>
        <p:spPr>
          <a:xfrm>
            <a:off x="7505212" y="1664208"/>
            <a:ext cx="1684873" cy="310896"/>
          </a:xfrm>
          <a:prstGeom prst="rect">
            <a:avLst/>
          </a:prstGeom>
          <a:noFill/>
          <a:ln/>
        </p:spPr>
        <p:txBody>
          <a:bodyPr wrap="square" lIns="0" tIns="0" rIns="0" bIns="0" rtlCol="0" anchor="ctr"/>
          <a:lstStyle/>
          <a:p>
            <a:pPr indent="0" marL="0">
              <a:buNone/>
            </a:pPr>
            <a:r>
              <a:rPr lang="en-US" sz="1150" b="1" dirty="0">
                <a:solidFill>
                  <a:srgbClr val="59201C"/>
                </a:solidFill>
                <a:latin typeface="Cambria" pitchFamily="34" charset="0"/>
                <a:ea typeface="Cambria" pitchFamily="34" charset="-122"/>
                <a:cs typeface="Cambria" pitchFamily="34" charset="-120"/>
              </a:rPr>
              <a:t>each temperature, cut open</a:t>
            </a:r>
            <a:endParaRPr lang="en-US" sz="1150" dirty="0"/>
          </a:p>
        </p:txBody>
      </p:sp>
      <p:sp>
        <p:nvSpPr>
          <p:cNvPr id="16" name="Text 14"/>
          <p:cNvSpPr/>
          <p:nvPr/>
        </p:nvSpPr>
        <p:spPr>
          <a:xfrm>
            <a:off x="7505212" y="1975104"/>
            <a:ext cx="1684873"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Day 3</a:t>
            </a:r>
            <a:endParaRPr lang="en-US" sz="1100" dirty="0"/>
          </a:p>
        </p:txBody>
      </p:sp>
      <p:sp>
        <p:nvSpPr>
          <p:cNvPr id="17" name="Shape 15"/>
          <p:cNvSpPr/>
          <p:nvPr/>
        </p:nvSpPr>
        <p:spPr>
          <a:xfrm>
            <a:off x="9574134" y="1517904"/>
            <a:ext cx="2050633" cy="1060704"/>
          </a:xfrm>
          <a:prstGeom prst="roundRect">
            <a:avLst>
              <a:gd name="adj" fmla="val 5172"/>
            </a:avLst>
          </a:prstGeom>
          <a:solidFill>
            <a:srgbClr val="F2E9D8"/>
          </a:solidFill>
          <a:ln w="12700">
            <a:solidFill>
              <a:srgbClr val="E4D8C0"/>
            </a:solidFill>
            <a:prstDash val="solid"/>
          </a:ln>
        </p:spPr>
      </p:sp>
      <p:sp>
        <p:nvSpPr>
          <p:cNvPr id="18" name="Text 16"/>
          <p:cNvSpPr/>
          <p:nvPr/>
        </p:nvSpPr>
        <p:spPr>
          <a:xfrm>
            <a:off x="9757014" y="1664208"/>
            <a:ext cx="1684873" cy="310896"/>
          </a:xfrm>
          <a:prstGeom prst="rect">
            <a:avLst/>
          </a:prstGeom>
          <a:noFill/>
          <a:ln/>
        </p:spPr>
        <p:txBody>
          <a:bodyPr wrap="square" lIns="0" tIns="0" rIns="0" bIns="0" rtlCol="0" anchor="ctr"/>
          <a:lstStyle/>
          <a:p>
            <a:pPr indent="0" marL="0">
              <a:buNone/>
            </a:pPr>
            <a:r>
              <a:rPr lang="en-US" sz="1150" b="1" dirty="0">
                <a:solidFill>
                  <a:srgbClr val="59201C"/>
                </a:solidFill>
                <a:latin typeface="Cambria" pitchFamily="34" charset="0"/>
                <a:ea typeface="Cambria" pitchFamily="34" charset="-122"/>
                <a:cs typeface="Cambria" pitchFamily="34" charset="-120"/>
              </a:rPr>
              <a:t>every tableside setup, tray by tray</a:t>
            </a:r>
            <a:endParaRPr lang="en-US" sz="1150" dirty="0"/>
          </a:p>
        </p:txBody>
      </p:sp>
      <p:sp>
        <p:nvSpPr>
          <p:cNvPr id="19" name="Text 17"/>
          <p:cNvSpPr/>
          <p:nvPr/>
        </p:nvSpPr>
        <p:spPr>
          <a:xfrm>
            <a:off x="9757014" y="1975104"/>
            <a:ext cx="1684873"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Day 3</a:t>
            </a:r>
            <a:endParaRPr lang="en-US" sz="1100" dirty="0"/>
          </a:p>
        </p:txBody>
      </p:sp>
      <p:sp>
        <p:nvSpPr>
          <p:cNvPr id="20" name="Shape 18"/>
          <p:cNvSpPr/>
          <p:nvPr/>
        </p:nvSpPr>
        <p:spPr>
          <a:xfrm>
            <a:off x="566928" y="2779776"/>
            <a:ext cx="2050633" cy="1060704"/>
          </a:xfrm>
          <a:prstGeom prst="roundRect">
            <a:avLst>
              <a:gd name="adj" fmla="val 5172"/>
            </a:avLst>
          </a:prstGeom>
          <a:solidFill>
            <a:srgbClr val="F2E9D8"/>
          </a:solidFill>
          <a:ln w="12700">
            <a:solidFill>
              <a:srgbClr val="E4D8C0"/>
            </a:solidFill>
            <a:prstDash val="solid"/>
          </a:ln>
        </p:spPr>
      </p:sp>
      <p:sp>
        <p:nvSpPr>
          <p:cNvPr id="21" name="Text 19"/>
          <p:cNvSpPr/>
          <p:nvPr/>
        </p:nvSpPr>
        <p:spPr>
          <a:xfrm>
            <a:off x="749808" y="2926080"/>
            <a:ext cx="1684873" cy="310896"/>
          </a:xfrm>
          <a:prstGeom prst="rect">
            <a:avLst/>
          </a:prstGeom>
          <a:noFill/>
          <a:ln/>
        </p:spPr>
        <p:txBody>
          <a:bodyPr wrap="square" lIns="0" tIns="0" rIns="0" bIns="0" rtlCol="0" anchor="ctr"/>
          <a:lstStyle/>
          <a:p>
            <a:pPr indent="0" marL="0">
              <a:buNone/>
            </a:pPr>
            <a:r>
              <a:rPr lang="en-US" sz="1150" b="1" dirty="0">
                <a:solidFill>
                  <a:srgbClr val="59201C"/>
                </a:solidFill>
                <a:latin typeface="Cambria" pitchFamily="34" charset="0"/>
                <a:ea typeface="Cambria" pitchFamily="34" charset="-122"/>
                <a:cs typeface="Cambria" pitchFamily="34" charset="-120"/>
              </a:rPr>
              <a:t>tonight's cut board</a:t>
            </a:r>
            <a:endParaRPr lang="en-US" sz="1150" dirty="0"/>
          </a:p>
        </p:txBody>
      </p:sp>
      <p:sp>
        <p:nvSpPr>
          <p:cNvPr id="22" name="Text 20"/>
          <p:cNvSpPr/>
          <p:nvPr/>
        </p:nvSpPr>
        <p:spPr>
          <a:xfrm>
            <a:off x="749808" y="3236976"/>
            <a:ext cx="1684873"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Day 3</a:t>
            </a:r>
            <a:endParaRPr lang="en-US" sz="1100" dirty="0"/>
          </a:p>
        </p:txBody>
      </p:sp>
      <p:sp>
        <p:nvSpPr>
          <p:cNvPr id="23" name="Shape 21"/>
          <p:cNvSpPr/>
          <p:nvPr/>
        </p:nvSpPr>
        <p:spPr>
          <a:xfrm>
            <a:off x="2818729" y="2779776"/>
            <a:ext cx="2050633" cy="1060704"/>
          </a:xfrm>
          <a:prstGeom prst="roundRect">
            <a:avLst>
              <a:gd name="adj" fmla="val 5172"/>
            </a:avLst>
          </a:prstGeom>
          <a:solidFill>
            <a:srgbClr val="F2E9D8"/>
          </a:solidFill>
          <a:ln w="12700">
            <a:solidFill>
              <a:srgbClr val="E4D8C0"/>
            </a:solidFill>
            <a:prstDash val="solid"/>
          </a:ln>
        </p:spPr>
      </p:sp>
      <p:sp>
        <p:nvSpPr>
          <p:cNvPr id="24" name="Text 22"/>
          <p:cNvSpPr/>
          <p:nvPr/>
        </p:nvSpPr>
        <p:spPr>
          <a:xfrm>
            <a:off x="3001609" y="2926080"/>
            <a:ext cx="1684873" cy="310896"/>
          </a:xfrm>
          <a:prstGeom prst="rect">
            <a:avLst/>
          </a:prstGeom>
          <a:noFill/>
          <a:ln/>
        </p:spPr>
        <p:txBody>
          <a:bodyPr wrap="square" lIns="0" tIns="0" rIns="0" bIns="0" rtlCol="0" anchor="ctr"/>
          <a:lstStyle/>
          <a:p>
            <a:pPr indent="0" marL="0">
              <a:buNone/>
            </a:pPr>
            <a:r>
              <a:rPr lang="en-US" sz="1150" b="1" dirty="0">
                <a:solidFill>
                  <a:srgbClr val="59201C"/>
                </a:solidFill>
                <a:latin typeface="Cambria" pitchFamily="34" charset="0"/>
                <a:ea typeface="Cambria" pitchFamily="34" charset="-122"/>
                <a:cs typeface="Cambria" pitchFamily="34" charset="-120"/>
              </a:rPr>
              <a:t>every dessert and every show</a:t>
            </a:r>
            <a:endParaRPr lang="en-US" sz="1150" dirty="0"/>
          </a:p>
        </p:txBody>
      </p:sp>
      <p:sp>
        <p:nvSpPr>
          <p:cNvPr id="25" name="Text 23"/>
          <p:cNvSpPr/>
          <p:nvPr/>
        </p:nvSpPr>
        <p:spPr>
          <a:xfrm>
            <a:off x="3001609" y="3236976"/>
            <a:ext cx="1684873"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Day 4</a:t>
            </a:r>
            <a:endParaRPr lang="en-US" sz="1100" dirty="0"/>
          </a:p>
        </p:txBody>
      </p:sp>
      <p:sp>
        <p:nvSpPr>
          <p:cNvPr id="26" name="Shape 24"/>
          <p:cNvSpPr/>
          <p:nvPr/>
        </p:nvSpPr>
        <p:spPr>
          <a:xfrm>
            <a:off x="5070531" y="2779776"/>
            <a:ext cx="2050633" cy="1060704"/>
          </a:xfrm>
          <a:prstGeom prst="roundRect">
            <a:avLst>
              <a:gd name="adj" fmla="val 5172"/>
            </a:avLst>
          </a:prstGeom>
          <a:solidFill>
            <a:srgbClr val="F2E9D8"/>
          </a:solidFill>
          <a:ln w="12700">
            <a:solidFill>
              <a:srgbClr val="E4D8C0"/>
            </a:solidFill>
            <a:prstDash val="solid"/>
          </a:ln>
        </p:spPr>
      </p:sp>
      <p:sp>
        <p:nvSpPr>
          <p:cNvPr id="27" name="Text 25"/>
          <p:cNvSpPr/>
          <p:nvPr/>
        </p:nvSpPr>
        <p:spPr>
          <a:xfrm>
            <a:off x="5253411" y="2926080"/>
            <a:ext cx="1684873" cy="310896"/>
          </a:xfrm>
          <a:prstGeom prst="rect">
            <a:avLst/>
          </a:prstGeom>
          <a:noFill/>
          <a:ln/>
        </p:spPr>
        <p:txBody>
          <a:bodyPr wrap="square" lIns="0" tIns="0" rIns="0" bIns="0" rtlCol="0" anchor="ctr"/>
          <a:lstStyle/>
          <a:p>
            <a:pPr indent="0" marL="0">
              <a:buNone/>
            </a:pPr>
            <a:r>
              <a:rPr lang="en-US" sz="1150" b="1" dirty="0">
                <a:solidFill>
                  <a:srgbClr val="59201C"/>
                </a:solidFill>
                <a:latin typeface="Cambria" pitchFamily="34" charset="0"/>
                <a:ea typeface="Cambria" pitchFamily="34" charset="-122"/>
                <a:cs typeface="Cambria" pitchFamily="34" charset="-120"/>
              </a:rPr>
              <a:t>the original steps-of-service handout</a:t>
            </a:r>
            <a:endParaRPr lang="en-US" sz="1150" dirty="0"/>
          </a:p>
        </p:txBody>
      </p:sp>
      <p:sp>
        <p:nvSpPr>
          <p:cNvPr id="28" name="Text 26"/>
          <p:cNvSpPr/>
          <p:nvPr/>
        </p:nvSpPr>
        <p:spPr>
          <a:xfrm>
            <a:off x="5253411" y="3236976"/>
            <a:ext cx="1684873"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Day 6</a:t>
            </a:r>
            <a:endParaRPr lang="en-US" sz="1100" dirty="0"/>
          </a:p>
        </p:txBody>
      </p:sp>
      <p:sp>
        <p:nvSpPr>
          <p:cNvPr id="29" name="Shape 27"/>
          <p:cNvSpPr/>
          <p:nvPr/>
        </p:nvSpPr>
        <p:spPr>
          <a:xfrm>
            <a:off x="7322332" y="2779776"/>
            <a:ext cx="2050633" cy="1060704"/>
          </a:xfrm>
          <a:prstGeom prst="roundRect">
            <a:avLst>
              <a:gd name="adj" fmla="val 5172"/>
            </a:avLst>
          </a:prstGeom>
          <a:solidFill>
            <a:srgbClr val="F2E9D8"/>
          </a:solidFill>
          <a:ln w="12700">
            <a:solidFill>
              <a:srgbClr val="E4D8C0"/>
            </a:solidFill>
            <a:prstDash val="solid"/>
          </a:ln>
        </p:spPr>
      </p:sp>
      <p:sp>
        <p:nvSpPr>
          <p:cNvPr id="30" name="Text 28"/>
          <p:cNvSpPr/>
          <p:nvPr/>
        </p:nvSpPr>
        <p:spPr>
          <a:xfrm>
            <a:off x="7505212" y="2926080"/>
            <a:ext cx="1684873" cy="310896"/>
          </a:xfrm>
          <a:prstGeom prst="rect">
            <a:avLst/>
          </a:prstGeom>
          <a:noFill/>
          <a:ln/>
        </p:spPr>
        <p:txBody>
          <a:bodyPr wrap="square" lIns="0" tIns="0" rIns="0" bIns="0" rtlCol="0" anchor="ctr"/>
          <a:lstStyle/>
          <a:p>
            <a:pPr indent="0" marL="0">
              <a:buNone/>
            </a:pPr>
            <a:r>
              <a:rPr lang="en-US" sz="1150" b="1" dirty="0">
                <a:solidFill>
                  <a:srgbClr val="59201C"/>
                </a:solidFill>
                <a:latin typeface="Cambria" pitchFamily="34" charset="0"/>
                <a:ea typeface="Cambria" pitchFamily="34" charset="-122"/>
                <a:cs typeface="Cambria" pitchFamily="34" charset="-120"/>
              </a:rPr>
              <a:t>the server and busser opening handouts</a:t>
            </a:r>
            <a:endParaRPr lang="en-US" sz="1150" dirty="0"/>
          </a:p>
        </p:txBody>
      </p:sp>
      <p:sp>
        <p:nvSpPr>
          <p:cNvPr id="31" name="Text 29"/>
          <p:cNvSpPr/>
          <p:nvPr/>
        </p:nvSpPr>
        <p:spPr>
          <a:xfrm>
            <a:off x="7505212" y="3236976"/>
            <a:ext cx="1684873"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Day 7</a:t>
            </a:r>
            <a:endParaRPr lang="en-US" sz="1100" dirty="0"/>
          </a:p>
        </p:txBody>
      </p:sp>
      <p:sp>
        <p:nvSpPr>
          <p:cNvPr id="32" name="Shape 30"/>
          <p:cNvSpPr/>
          <p:nvPr/>
        </p:nvSpPr>
        <p:spPr>
          <a:xfrm>
            <a:off x="9574134" y="2779776"/>
            <a:ext cx="2050633" cy="1060704"/>
          </a:xfrm>
          <a:prstGeom prst="roundRect">
            <a:avLst>
              <a:gd name="adj" fmla="val 5172"/>
            </a:avLst>
          </a:prstGeom>
          <a:solidFill>
            <a:srgbClr val="F2E9D8"/>
          </a:solidFill>
          <a:ln w="12700">
            <a:solidFill>
              <a:srgbClr val="E4D8C0"/>
            </a:solidFill>
            <a:prstDash val="solid"/>
          </a:ln>
        </p:spPr>
      </p:sp>
      <p:sp>
        <p:nvSpPr>
          <p:cNvPr id="33" name="Text 31"/>
          <p:cNvSpPr/>
          <p:nvPr/>
        </p:nvSpPr>
        <p:spPr>
          <a:xfrm>
            <a:off x="9757014" y="2926080"/>
            <a:ext cx="1684873" cy="310896"/>
          </a:xfrm>
          <a:prstGeom prst="rect">
            <a:avLst/>
          </a:prstGeom>
          <a:noFill/>
          <a:ln/>
        </p:spPr>
        <p:txBody>
          <a:bodyPr wrap="square" lIns="0" tIns="0" rIns="0" bIns="0" rtlCol="0" anchor="ctr"/>
          <a:lstStyle/>
          <a:p>
            <a:pPr indent="0" marL="0">
              <a:buNone/>
            </a:pPr>
            <a:r>
              <a:rPr lang="en-US" sz="1150" b="1" dirty="0">
                <a:solidFill>
                  <a:srgbClr val="59201C"/>
                </a:solidFill>
                <a:latin typeface="Cambria" pitchFamily="34" charset="0"/>
                <a:ea typeface="Cambria" pitchFamily="34" charset="-122"/>
                <a:cs typeface="Cambria" pitchFamily="34" charset="-120"/>
              </a:rPr>
              <a:t>the gift card, promo tab and banquet sheets</a:t>
            </a:r>
            <a:endParaRPr lang="en-US" sz="1150" dirty="0"/>
          </a:p>
        </p:txBody>
      </p:sp>
      <p:sp>
        <p:nvSpPr>
          <p:cNvPr id="34" name="Text 32"/>
          <p:cNvSpPr/>
          <p:nvPr/>
        </p:nvSpPr>
        <p:spPr>
          <a:xfrm>
            <a:off x="9757014" y="3236976"/>
            <a:ext cx="1684873"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Day 7</a:t>
            </a:r>
            <a:endParaRPr lang="en-US" sz="1100" dirty="0"/>
          </a:p>
        </p:txBody>
      </p:sp>
      <p:sp>
        <p:nvSpPr>
          <p:cNvPr id="35" name="Shape 33"/>
          <p:cNvSpPr/>
          <p:nvPr/>
        </p:nvSpPr>
        <p:spPr>
          <a:xfrm>
            <a:off x="566928" y="4041648"/>
            <a:ext cx="2050633" cy="1060704"/>
          </a:xfrm>
          <a:prstGeom prst="roundRect">
            <a:avLst>
              <a:gd name="adj" fmla="val 5172"/>
            </a:avLst>
          </a:prstGeom>
          <a:solidFill>
            <a:srgbClr val="F2E9D8"/>
          </a:solidFill>
          <a:ln w="12700">
            <a:solidFill>
              <a:srgbClr val="E4D8C0"/>
            </a:solidFill>
            <a:prstDash val="solid"/>
          </a:ln>
        </p:spPr>
      </p:sp>
      <p:sp>
        <p:nvSpPr>
          <p:cNvPr id="36" name="Text 34"/>
          <p:cNvSpPr/>
          <p:nvPr/>
        </p:nvSpPr>
        <p:spPr>
          <a:xfrm>
            <a:off x="749808" y="4187952"/>
            <a:ext cx="1684873" cy="310896"/>
          </a:xfrm>
          <a:prstGeom prst="rect">
            <a:avLst/>
          </a:prstGeom>
          <a:noFill/>
          <a:ln/>
        </p:spPr>
        <p:txBody>
          <a:bodyPr wrap="square" lIns="0" tIns="0" rIns="0" bIns="0" rtlCol="0" anchor="ctr"/>
          <a:lstStyle/>
          <a:p>
            <a:pPr indent="0" marL="0">
              <a:buNone/>
            </a:pPr>
            <a:r>
              <a:rPr lang="en-US" sz="1150" b="1" dirty="0">
                <a:solidFill>
                  <a:srgbClr val="59201C"/>
                </a:solidFill>
                <a:latin typeface="Cambria" pitchFamily="34" charset="0"/>
                <a:ea typeface="Cambria" pitchFamily="34" charset="-122"/>
                <a:cs typeface="Cambria" pitchFamily="34" charset="-120"/>
              </a:rPr>
              <a:t>the floor plan with table and seat numbers</a:t>
            </a:r>
            <a:endParaRPr lang="en-US" sz="1150" dirty="0"/>
          </a:p>
        </p:txBody>
      </p:sp>
      <p:sp>
        <p:nvSpPr>
          <p:cNvPr id="37" name="Text 35"/>
          <p:cNvSpPr/>
          <p:nvPr/>
        </p:nvSpPr>
        <p:spPr>
          <a:xfrm>
            <a:off x="749808" y="4498848"/>
            <a:ext cx="1684873"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Day 7</a:t>
            </a:r>
            <a:endParaRPr lang="en-US" sz="1100" dirty="0"/>
          </a:p>
        </p:txBody>
      </p:sp>
      <p:sp>
        <p:nvSpPr>
          <p:cNvPr id="38" name="Shape 36"/>
          <p:cNvSpPr/>
          <p:nvPr/>
        </p:nvSpPr>
        <p:spPr>
          <a:xfrm>
            <a:off x="2818729" y="4041648"/>
            <a:ext cx="2050633" cy="1060704"/>
          </a:xfrm>
          <a:prstGeom prst="roundRect">
            <a:avLst>
              <a:gd name="adj" fmla="val 5172"/>
            </a:avLst>
          </a:prstGeom>
          <a:solidFill>
            <a:srgbClr val="F2E9D8"/>
          </a:solidFill>
          <a:ln w="12700">
            <a:solidFill>
              <a:srgbClr val="E4D8C0"/>
            </a:solidFill>
            <a:prstDash val="solid"/>
          </a:ln>
        </p:spPr>
      </p:sp>
      <p:sp>
        <p:nvSpPr>
          <p:cNvPr id="39" name="Text 37"/>
          <p:cNvSpPr/>
          <p:nvPr/>
        </p:nvSpPr>
        <p:spPr>
          <a:xfrm>
            <a:off x="3001609" y="4187952"/>
            <a:ext cx="1684873" cy="310896"/>
          </a:xfrm>
          <a:prstGeom prst="rect">
            <a:avLst/>
          </a:prstGeom>
          <a:noFill/>
          <a:ln/>
        </p:spPr>
        <p:txBody>
          <a:bodyPr wrap="square" lIns="0" tIns="0" rIns="0" bIns="0" rtlCol="0" anchor="ctr"/>
          <a:lstStyle/>
          <a:p>
            <a:pPr indent="0" marL="0">
              <a:buNone/>
            </a:pPr>
            <a:r>
              <a:rPr lang="en-US" sz="1150" b="1" dirty="0">
                <a:solidFill>
                  <a:srgbClr val="59201C"/>
                </a:solidFill>
                <a:latin typeface="Cambria" pitchFamily="34" charset="0"/>
                <a:ea typeface="Cambria" pitchFamily="34" charset="-122"/>
                <a:cs typeface="Cambria" pitchFamily="34" charset="-120"/>
              </a:rPr>
              <a:t>the official mock-serve checklist</a:t>
            </a:r>
            <a:endParaRPr lang="en-US" sz="1150" dirty="0"/>
          </a:p>
        </p:txBody>
      </p:sp>
      <p:sp>
        <p:nvSpPr>
          <p:cNvPr id="40" name="Text 38"/>
          <p:cNvSpPr/>
          <p:nvPr/>
        </p:nvSpPr>
        <p:spPr>
          <a:xfrm>
            <a:off x="3001609" y="4498848"/>
            <a:ext cx="1684873"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Day 8</a:t>
            </a:r>
            <a:endParaRPr lang="en-US" sz="1100" dirty="0"/>
          </a:p>
        </p:txBody>
      </p:sp>
      <p:sp>
        <p:nvSpPr>
          <p:cNvPr id="41" name="Shape 39"/>
          <p:cNvSpPr/>
          <p:nvPr/>
        </p:nvSpPr>
        <p:spPr>
          <a:xfrm>
            <a:off x="5070531" y="4041648"/>
            <a:ext cx="2050633" cy="1060704"/>
          </a:xfrm>
          <a:prstGeom prst="roundRect">
            <a:avLst>
              <a:gd name="adj" fmla="val 5172"/>
            </a:avLst>
          </a:prstGeom>
          <a:solidFill>
            <a:srgbClr val="F2E9D8"/>
          </a:solidFill>
          <a:ln w="12700">
            <a:solidFill>
              <a:srgbClr val="E4D8C0"/>
            </a:solidFill>
            <a:prstDash val="solid"/>
          </a:ln>
        </p:spPr>
      </p:sp>
      <p:sp>
        <p:nvSpPr>
          <p:cNvPr id="42" name="Text 40"/>
          <p:cNvSpPr/>
          <p:nvPr/>
        </p:nvSpPr>
        <p:spPr>
          <a:xfrm>
            <a:off x="5253411" y="4187952"/>
            <a:ext cx="1684873" cy="310896"/>
          </a:xfrm>
          <a:prstGeom prst="rect">
            <a:avLst/>
          </a:prstGeom>
          <a:noFill/>
          <a:ln/>
        </p:spPr>
        <p:txBody>
          <a:bodyPr wrap="square" lIns="0" tIns="0" rIns="0" bIns="0" rtlCol="0" anchor="ctr"/>
          <a:lstStyle/>
          <a:p>
            <a:pPr indent="0" marL="0">
              <a:buNone/>
            </a:pPr>
            <a:r>
              <a:rPr lang="en-US" sz="1150" b="1" dirty="0">
                <a:solidFill>
                  <a:srgbClr val="59201C"/>
                </a:solidFill>
                <a:latin typeface="Cambria" pitchFamily="34" charset="0"/>
                <a:ea typeface="Cambria" pitchFamily="34" charset="-122"/>
                <a:cs typeface="Cambria" pitchFamily="34" charset="-120"/>
              </a:rPr>
              <a:t>the straight tequila page from Toast</a:t>
            </a:r>
            <a:endParaRPr lang="en-US" sz="1150" dirty="0"/>
          </a:p>
        </p:txBody>
      </p:sp>
      <p:sp>
        <p:nvSpPr>
          <p:cNvPr id="43" name="Text 41"/>
          <p:cNvSpPr/>
          <p:nvPr/>
        </p:nvSpPr>
        <p:spPr>
          <a:xfrm>
            <a:off x="5253411" y="4498848"/>
            <a:ext cx="1684873" cy="237744"/>
          </a:xfrm>
          <a:prstGeom prst="rect">
            <a:avLst/>
          </a:prstGeom>
          <a:noFill/>
          <a:ln/>
        </p:spPr>
        <p:txBody>
          <a:bodyPr wrap="square" lIns="0" tIns="0" rIns="0" bIns="0" rtlCol="0" anchor="ctr"/>
          <a:lstStyle/>
          <a:p>
            <a:pPr indent="0" marL="0">
              <a:buNone/>
            </a:pPr>
            <a:r>
              <a:rPr lang="en-US" sz="1100" b="1" dirty="0">
                <a:solidFill>
                  <a:srgbClr val="B0812F"/>
                </a:solidFill>
                <a:latin typeface="Calibri" pitchFamily="34" charset="0"/>
                <a:ea typeface="Calibri" pitchFamily="34" charset="-122"/>
                <a:cs typeface="Calibri" pitchFamily="34" charset="-120"/>
              </a:rPr>
              <a:t>Day 9</a:t>
            </a:r>
            <a:endParaRPr lang="en-US" sz="1100" dirty="0"/>
          </a:p>
        </p:txBody>
      </p:sp>
      <p:sp>
        <p:nvSpPr>
          <p:cNvPr id="44" name="Shape 42"/>
          <p:cNvSpPr/>
          <p:nvPr/>
        </p:nvSpPr>
        <p:spPr>
          <a:xfrm>
            <a:off x="566928" y="5413248"/>
            <a:ext cx="11057839" cy="658368"/>
          </a:xfrm>
          <a:prstGeom prst="roundRect">
            <a:avLst>
              <a:gd name="adj" fmla="val 8333"/>
            </a:avLst>
          </a:prstGeom>
          <a:solidFill>
            <a:srgbClr val="F3E7E4"/>
          </a:solidFill>
          <a:ln w="12700">
            <a:solidFill>
              <a:srgbClr val="E2CCC7"/>
            </a:solidFill>
            <a:prstDash val="solid"/>
          </a:ln>
        </p:spPr>
      </p:sp>
      <p:sp>
        <p:nvSpPr>
          <p:cNvPr id="45" name="Text 43"/>
          <p:cNvSpPr/>
          <p:nvPr/>
        </p:nvSpPr>
        <p:spPr>
          <a:xfrm>
            <a:off x="768096" y="5486400"/>
            <a:ext cx="10655503" cy="512064"/>
          </a:xfrm>
          <a:prstGeom prst="rect">
            <a:avLst/>
          </a:prstGeom>
          <a:noFill/>
          <a:ln/>
        </p:spPr>
        <p:txBody>
          <a:bodyPr wrap="square" lIns="0" tIns="0" rIns="0" bIns="0" rtlCol="0" anchor="ctr"/>
          <a:lstStyle/>
          <a:p>
            <a:pPr indent="0" marL="0">
              <a:lnSpc>
                <a:spcPts val="1600"/>
              </a:lnSpc>
              <a:buNone/>
            </a:pPr>
            <a:r>
              <a:rPr lang="en-US" sz="1250" b="1" dirty="0">
                <a:solidFill>
                  <a:srgbClr val="59201C"/>
                </a:solidFill>
                <a:latin typeface="Calibri" pitchFamily="34" charset="0"/>
                <a:ea typeface="Calibri" pitchFamily="34" charset="-122"/>
                <a:cs typeface="Calibri" pitchFamily="34" charset="-120"/>
              </a:rPr>
              <a:t>When any of these lands — a photo is enough —  </a:t>
            </a:r>
            <a:pPr indent="0" marL="0">
              <a:lnSpc>
                <a:spcPts val="1600"/>
              </a:lnSpc>
              <a:buNone/>
            </a:pPr>
            <a:r>
              <a:rPr lang="en-US" sz="1250" dirty="0">
                <a:solidFill>
                  <a:srgbClr val="2B2118"/>
                </a:solidFill>
                <a:latin typeface="Calibri" pitchFamily="34" charset="0"/>
                <a:ea typeface="Calibri" pitchFamily="34" charset="-122"/>
                <a:cs typeface="Calibri" pitchFamily="34" charset="-120"/>
              </a:rPr>
              <a:t>it goes into the deck, the book and the app the same day. That is the whole system.</a:t>
            </a:r>
            <a:endParaRPr lang="en-US" sz="12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59201C"/>
        </a:solidFill>
      </p:bgPr>
    </p:bg>
    <p:spTree>
      <p:nvGrpSpPr>
        <p:cNvPr id="1" name=""/>
        <p:cNvGrpSpPr/>
        <p:nvPr/>
      </p:nvGrpSpPr>
      <p:grpSpPr>
        <a:xfrm>
          <a:off x="0" y="0"/>
          <a:ext cx="0" cy="0"/>
          <a:chOff x="0" y="0"/>
          <a:chExt cx="0" cy="0"/>
        </a:xfrm>
      </p:grpSpPr>
      <p:sp>
        <p:nvSpPr>
          <p:cNvPr id="2" name="Text 0"/>
          <p:cNvSpPr/>
          <p:nvPr/>
        </p:nvSpPr>
        <p:spPr>
          <a:xfrm>
            <a:off x="566928" y="2121408"/>
            <a:ext cx="11057839" cy="822960"/>
          </a:xfrm>
          <a:prstGeom prst="rect">
            <a:avLst/>
          </a:prstGeom>
          <a:noFill/>
          <a:ln/>
        </p:spPr>
        <p:txBody>
          <a:bodyPr wrap="square" lIns="0" tIns="0" rIns="0" bIns="0" rtlCol="0" anchor="ctr"/>
          <a:lstStyle/>
          <a:p>
            <a:pPr algn="ctr" indent="0" marL="0">
              <a:buNone/>
            </a:pPr>
            <a:r>
              <a:rPr lang="en-US" sz="5000" dirty="0">
                <a:solidFill>
                  <a:srgbClr val="E8D6C8"/>
                </a:solidFill>
                <a:latin typeface="Cambria" pitchFamily="34" charset="0"/>
                <a:ea typeface="Cambria" pitchFamily="34" charset="-122"/>
                <a:cs typeface="Cambria" pitchFamily="34" charset="-120"/>
              </a:rPr>
              <a:t>Leave people better</a:t>
            </a:r>
            <a:endParaRPr lang="en-US" sz="5000" dirty="0"/>
          </a:p>
        </p:txBody>
      </p:sp>
      <p:sp>
        <p:nvSpPr>
          <p:cNvPr id="3" name="Text 1"/>
          <p:cNvSpPr/>
          <p:nvPr/>
        </p:nvSpPr>
        <p:spPr>
          <a:xfrm>
            <a:off x="566928" y="2871216"/>
            <a:ext cx="11057839" cy="822960"/>
          </a:xfrm>
          <a:prstGeom prst="rect">
            <a:avLst/>
          </a:prstGeom>
          <a:noFill/>
          <a:ln/>
        </p:spPr>
        <p:txBody>
          <a:bodyPr wrap="square" lIns="0" tIns="0" rIns="0" bIns="0" rtlCol="0" anchor="ctr"/>
          <a:lstStyle/>
          <a:p>
            <a:pPr algn="ctr" indent="0" marL="0">
              <a:buNone/>
            </a:pPr>
            <a:r>
              <a:rPr lang="en-US" sz="5000" b="1" dirty="0">
                <a:solidFill>
                  <a:srgbClr val="F7EFE4"/>
                </a:solidFill>
                <a:latin typeface="Cambria" pitchFamily="34" charset="0"/>
                <a:ea typeface="Cambria" pitchFamily="34" charset="-122"/>
                <a:cs typeface="Cambria" pitchFamily="34" charset="-120"/>
              </a:rPr>
              <a:t>than you found them.</a:t>
            </a:r>
            <a:endParaRPr lang="en-US" sz="5000" dirty="0"/>
          </a:p>
        </p:txBody>
      </p:sp>
      <p:sp>
        <p:nvSpPr>
          <p:cNvPr id="4" name="Text 2"/>
          <p:cNvSpPr/>
          <p:nvPr/>
        </p:nvSpPr>
        <p:spPr>
          <a:xfrm>
            <a:off x="566928" y="4114800"/>
            <a:ext cx="11057839" cy="310896"/>
          </a:xfrm>
          <a:prstGeom prst="rect">
            <a:avLst/>
          </a:prstGeom>
          <a:noFill/>
          <a:ln/>
        </p:spPr>
        <p:txBody>
          <a:bodyPr wrap="square" lIns="0" tIns="0" rIns="0" bIns="0" rtlCol="0" anchor="ctr"/>
          <a:lstStyle/>
          <a:p>
            <a:pPr algn="ctr" indent="0" marL="0">
              <a:buNone/>
            </a:pPr>
            <a:r>
              <a:rPr lang="en-US" sz="1250" dirty="0">
                <a:solidFill>
                  <a:srgbClr val="C9A99A"/>
                </a:solidFill>
                <a:latin typeface="Calibri" pitchFamily="34" charset="0"/>
                <a:ea typeface="Calibri" pitchFamily="34" charset="-122"/>
                <a:cs typeface="Calibri" pitchFamily="34" charset="-120"/>
              </a:rPr>
              <a:t>Mo's A Place For Steaks  ·  Greenwood, Indiana</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79</Slides>
  <Notes>79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79</vt:i4>
      </vt:variant>
    </vt:vector>
  </HeadingPairs>
  <TitlesOfParts>
    <vt:vector size="8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vector>
  </TitlesOfParts>
  <Company>Mo's A Place For Steaks · Greenwood, Indiana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Mo's Training Regiment</dc:title>
  <dc:subject>PptxGenJS Presentation</dc:subject>
  <dc:creator>Mo's A Place For Steaks</dc:creator>
  <cp:lastModifiedBy>Mo's A Place For Steaks</cp:lastModifiedBy>
  <cp:revision>1</cp:revision>
  <dcterms:created xsi:type="dcterms:W3CDTF">2026-09-07T17:04:56Z</dcterms:created>
  <dcterms:modified xsi:type="dcterms:W3CDTF">2026-09-07T17:04:56Z</dcterms:modified>
</cp:coreProperties>
</file>